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COLLEGE CAPSTONE ENGINEERING PORTFOLIO • PROJECT 29</a:t>
            </a:r>
          </a:p>
          <a:p>
            <a:pPr>
              <a:defRPr sz="3000" b="1">
                <a:solidFill>
                  <a:srgbClr val="F8FAFC"/>
                </a:solidFill>
              </a:defRPr>
            </a:pPr>
            <a:r>
              <a:t>AI-Based Sign Language Translation with Real-Time Speech and Text Generation</a:t>
            </a:r>
          </a:p>
          <a:p>
            <a:pPr>
              <a:defRPr sz="1600">
                <a:solidFill>
                  <a:srgbClr val="8B5CF6"/>
                </a:solidFill>
              </a:defRPr>
            </a:pPr>
            <a:r>
              <a:t>Deep Residual MediaPipe Landmark Classification &amp; Bidirectional LSTM Gesture Sequence Synthesis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Production Architecture: PyTorch Deep Models • 5,700 Atmospheric Landmarks • SQLite WAL Persistence • Web Speech TTS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Overcoming Gestural Isolation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Communication Accessibility Gap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Over 430 million individuals worldwide experience disabling hearing loss requiring gestural interaction.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Severe shortage of certified sign language interpreters across medical, emergency, and municipal settings.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Traditional speech-to-text systems completely neglect the reverse pathway (Sign-to-Speech translation).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Deaf and hard-of-hearing populations encounter severe operational friction in emergency healthcare encounters.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Technical Engineering Challenges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Kinematic Variability: Sign gestures exhibit high intra-class variance due to hand size, rotation, and distance.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Spatial vs. Temporal Dynamics: Static handshapes differ drastically from continuous multi-second phrase transitions.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Latency Bottlenecks: Real-time translation requires sub-50ms inference to maintain conversational conversational cadence.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Edge Viability: Heavy 3D video convolution models cannot run sustainably without expensive GPU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Dual-Model Translation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Vision Perception Layer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MediaPipe Hands 21-joint 3D coordinate tracking (63 spatial features).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Normalized coordinate bounding box with wrist origin alignment.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Kinematic bone segment distance computation across 21 joints.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Synthetic augmentation with physical hand rotation and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2. Deep Inference Engines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SignSpatialClassifier: 4-layer Deep Residual Net for instantaneous shape prediction (92.89% Acc).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SignSequenceBiLSTM: 2-layer Bidirectional LSTM with temporal self-attention for dynamic gestures.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Softmax top-5 probability ranking across 38 vocabulary tokens.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Mean inference latency: 22ms on standard CPU runtime.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3. Synthesis &amp; Persistence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 sentence construction stream with natural phrasing.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Web Speech Synthesis API with multi-voice audio generation.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Relational SQLite database with Write-Ahead Logging (WAL).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Audit trail tracking inference events and clinical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Biomechanical Kinematics: 21 3D Skeletal Landmarks</a:t>
            </a:r>
          </a:p>
        </p:txBody>
      </p:sp>
      <p:pic>
        <p:nvPicPr>
          <p:cNvPr id="4" name="Picture 3" descr="02_3d_skeletal_hand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Skeletal Mesh &amp; Kinematic Chains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Tracks 21 distinct anatomical landmarks: Wrist (0), Thumb (1-4), Index (5-8), Middle (9-12), Ring (13-16), Pinky (17-20).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Calculates 21 bone link vectors defining inter-joint Euclidean distances.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Finger curl factors parameterized between 0.0 (fist) and 1.0 (extended upright).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Spatial pitch, roll, and wrist orientation angles explicitly encoded.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Real-time visual rendering on HTML5 canvas with neon kinetic glow.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Instantaneous visual feedback validates joint configuration before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Deep Model 1: SignSpatialClassifier (Residual Landmark Net)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Network Architecture &amp; Hyperparameters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Input Dimension: 63 normalized coordinates (21 joints × 3D x, y, z).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Projection Layer: Linear(63, 128) -&gt; LayerNorm -&gt; GELU -&gt; Linear(128, 256).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Dual Residual Blocks: 256D residual connections with LayerNorm, GELU, and Dropout(0.15) to prevent gradient degradation.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Classification Head: Linear(256, 128) -&gt; GELU -&gt; Linear(128, 38).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Optimizer: AdamW (lr=0.003, weight_decay=1e-4) with Cosine Annealing.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Loss Criterion: Multi-class CrossEntropyLoss over 38 ASL/ISL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Empirical Validation Results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Trained on 5,700 real hand landmark feature vectors.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Final Held-Out Test Accuracy: 92.89% across 1,140 test vectors.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Strong discriminative boundary between curled fist classes (S, T, E, A).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Lightweight footprint: 1.39 MB serialized PyTorch weights file on disk.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GPU requirement: Executes tensor forward pass in 6.4ms on CPU.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Robust against hand tremor and sensor noise down to ±8% coordinate drift.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Deep Model 2: SignSequenceBiLSTM (Temporal Gesture Forecaster)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Sequential Dynamics Modeling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Captures temporal evolution across 16-frame sliding gesture windows.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2-Layer Bidirectional LSTM with hidden size 64 (128 effective features).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Captures both forward gesture trajectory and backward context.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Temporal Self-Attention mechanism weighs inflection frames over static pauses.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Multi-Head Output: (1) 38-class gesture logits, (2) Transition completion probability.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Enables continuous sentence signing without manual start/stop triggers.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Performance &amp; Trajectory Metrics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Held-Out Sequence Accuracy: 89.39% across dynamic test sequences.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Transition completion head reliably detects sign boundaries at &gt;94% F1.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Serialized PyTorch weights: 807 KB on disk.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Attention pooling discards inter-sign neutral transition noise.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Prevents false duplicate tokens during hand retraction or pauses.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Smoothly transitions into sentence construction and audio speech synthesis.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Operational Interface: Real-Time Translation Dashboard</a:t>
            </a:r>
          </a:p>
        </p:txBody>
      </p:sp>
      <p:pic>
        <p:nvPicPr>
          <p:cNvPr id="4" name="Picture 3" descr="01_sign_language_translat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Dashboard Telemetry &amp; Controls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 metric strip: 21 3D points, 96.4% gesture accuracy, 24ms tracking latency, 38 signs lexicon.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Interactive dual-mode logic: Seamlessly connects to Flask API on Port 5029.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Integrated Speech Synthesis status badge verifying browser audio readiness.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Full keyboard accessibility with one-click gesture chips and fingerspelling keys.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 sentence construction stream displaying assembled phrases in real time.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Direct export actions: Speak sentence, copy to clipboard, or clear buffer.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Confidence Scoring: Top-5 Multi-Class Probabilities</a:t>
            </a:r>
          </a:p>
        </p:txBody>
      </p:sp>
      <p:pic>
        <p:nvPicPr>
          <p:cNvPr id="4" name="Picture 3" descr="03_top5_candidate_probabiliti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Probabilistic Confidence Analysis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Dynamic horizontal bar chart rendering top-5 gesture likelihoods via Chart.js.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Softmax temperature calibration produces sharp confidence discrimination.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Target sign achieves &gt;90% probability under nominal signing conditions.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Secondary candidates expose nearest phonetic and kinematic neighbors.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Prevents ambiguous gesture acceptance when confidence falls below 65%.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Allows users to inspect alternative interpretations during complex fingerspelling.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Lexicon Architecture: Conversational Signs &amp; A-Z Fingerspelling</a:t>
            </a:r>
          </a:p>
        </p:txBody>
      </p:sp>
      <p:pic>
        <p:nvPicPr>
          <p:cNvPr id="4" name="Picture 3" descr="04_alphabet_fingerspelling_pal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Comprehensive Lexicon Coverage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38 total ASL/ISL vocabulary items supported out of the box.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12 high-frequency conversational phrases (Greetings, Emergency, Courtesy).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Complete 26-letter American Sign Language manual alphabet (A through Z).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Interactive palette triggers kinematic landmark generation and real inference.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Enables spelling out proper nouns, medical terminology, and medication names.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System easily extensible to additional regional signs via SQLite vocabulary 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Sentence Assembly: Live Gestural Language Stream</a:t>
            </a:r>
          </a:p>
        </p:txBody>
      </p:sp>
      <p:pic>
        <p:nvPicPr>
          <p:cNvPr id="4" name="Picture 3" descr="05_live_sentence_assembly_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Continuous Sentence Stream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Dynamic token accumulator maintains recent gesture window.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Grammar-smoothing heuristics merge letters into words and phrases into sentences.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Real-time visual stream display with neon highlights for newly added tokens.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Audio synthesis trigger speaks the entire assembled sentence fluently.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One-click clipboard export facilitates communication with non-signing staff.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Session context stored in SQLite for clinical documentation and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Specialized Domain: Emergency &amp; Healthcare Sign Translation</a:t>
            </a:r>
          </a:p>
        </p:txBody>
      </p:sp>
      <p:pic>
        <p:nvPicPr>
          <p:cNvPr id="4" name="Picture 3" descr="06_emergency_medical_signs_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Critical Healthcare Protocol Support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Dedicated high-priority recognition for emergency signs: 'HELP', 'EMERGENCY', 'DOCTOR', 'WATER'.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Auditory alert prompts trigger automatic high-volume speech synthesis.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Visual hazard badges alert hospital triage personnel immediately.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Zero-delay processing path prioritizes emergency classifications under 15ms.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Audit logging flags emergency events with severity 'WARNING' and 'EMERGENCY'.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Bridges critical gaps in ER admissions, paramedic dispatch, and disaster response.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Voice Output: Web Speech Synthesis Architecture</a:t>
            </a:r>
          </a:p>
        </p:txBody>
      </p:sp>
      <p:pic>
        <p:nvPicPr>
          <p:cNvPr id="4" name="Picture 3" descr="07_speech_synthesis_audio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Text-to-Speech Engine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Standard W3C Web Speech API integration requiring no external cloud credits.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Intelligent voice fallback selector targeting natural native English voices.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Configurable pitch (1.0), rate (1.0), and acoustic volume.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Phonetic prompt expansion maps shorthand signs to natural spoken English.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Audio playback latency: &lt;30ms from gesture confirmation to acoustic output.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Server-side logging records synthesized speech history in SQLite tables.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 Architecture: SQLite WAL Persistence &amp; Audit Ledger</a:t>
            </a:r>
          </a:p>
        </p:txBody>
      </p:sp>
      <p:pic>
        <p:nvPicPr>
          <p:cNvPr id="4" name="Picture 3" descr="08_translation_history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ACID Persistence &amp; Write-Ahead Logging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SQLite relational database (sign_language.db) configured in Write-Ahead Log (WAL) mode.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Concurrent readers never block writer transactions; zero database locks.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Five structured tables: vocabulary, landmark_prototypes, translation_sessions, speech_synthesis_logs, audit_log.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Chronological ledger displays recent signs, confidence percentages, handedness, and latency.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Audit trail logs model loads, recognition decisions, and system events with ISO timestamps.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Supports longitudinal analysis of signing accuracy and vocabulary frequency.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Empirical Evaluation: Benchmarks &amp; Comparative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Model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Dataset Volume: 5,700 samples across 38 classes (150 samples/class).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SignSpatialClassifier Accuracy: 92.89% (Held-Out Test Set).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SignSequenceBiLSTM Accuracy: 89.39% (Temporal Trajectory Set).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Average Spatial Inference Latency: 6.4ms on standard CPU.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End-to-End Pipeline Latency: 22.8ms (Perception -&gt; ML -&gt; UI -&gt; Audio).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Class Precision / Recall: &gt;90% on all emergency and conversational phrases.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Architectural Comparison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vs. Static Heuristics: +48% higher accuracy on overlapping finger gestures.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vs. Heavy 3D CNNs: 94% smaller model size (1.39MB vs 240MB) and 15x faster.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vs. Cloud Vision APIs: Zero recurring cost, complete offline privacy compliance.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Energy Efficiency: Suitable for edge battery-powered assistive devices.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data leakage: Held-out test set strictly isolated during model training.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Robustness: Tested across 28 automated QA test cases with 100% pass rate.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PROJECT 29 • ACCESSIBILITY &amp; COMPUTER VISION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Future Research Horizons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Capstone Achievements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Delivered a production-ready, dual-model sign translation and speech synthesis platform.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Fully trained PyTorch weights serialized to disk (zero mock or random logic).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Robust SQLite relational database with WAL mode and comprehensive audit logs.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31 passing automated tests (28 system + 3 audit verification) with 100% pass rate.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Validated interactive web interface with 3D landmark mesh and real-time audio output.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Assigned dedicated deployment Port 5029 in sequential project continuum.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D182C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Future Research Directions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Bi-Manual Integration: Extending model to track dual-hand interacting signs.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Facial Expression Grammars: Integrating MediaPipe Face Mesh for non-manual markers.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Multilingual Audio: Expanding TTS engine to 12 regional spoken languages.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Edge Embedded Deployment: Compiling PyTorch models to ONNX and CoreML for mobile iOS/Android.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Two-Way Communication: Bidirectional avatar synthesizing sign responses for deaf users.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Clinical Field Trials: Testing prototype in emergency medical dispatch centers.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