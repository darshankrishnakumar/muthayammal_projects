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284C7"/>
                </a:solidFill>
              </a:rPr>
              <a:t>MESOSCALE CONVECTIVE METEOROLOGY &amp; EXTREME WEATHER EARLY WARNING</a:t>
            </a:r>
          </a:p>
          <a:p>
            <a:pPr>
              <a:spcAft>
                <a:spcPts val="1400"/>
              </a:spcAft>
            </a:pPr>
            <a:r>
              <a:rPr b="1" sz="2800">
                <a:solidFill>
                  <a:srgbClr val="0F172A"/>
                </a:solidFill>
              </a:rPr>
              <a:t>PROJECT 54: AI WEATHER EVENT CLASSIFICATION &amp; NOWCASTING</a:t>
            </a:r>
          </a:p>
          <a:p>
            <a:r>
              <a:rPr sz="1300">
                <a:solidFill>
                  <a:srgbClr val="64748B"/>
                </a:solidFill>
              </a:rPr>
              <a:t>Bidirectional GRU Temporal Attention Sequence Forecasting, Multi-Task Doppler Radar Precipitation Regression, SQLite WAL Mode, and SHA-256 Cryptographic Audit Ledger on Port 5054.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STRATEGIC OVERVIEW • PROJECT-054</a:t>
            </a:r>
          </a:p>
          <a:p>
            <a:r>
              <a:rPr b="1" sz="2000">
                <a:solidFill>
                  <a:srgbClr val="0F172A"/>
                </a:solidFill>
              </a:rPr>
              <a:t>Executive Summary: Mesoscale Extreme Weather Nowcasting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The Meteorological Challenge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Rapidly intensifying mesoscale convective supercells trigger destructive flash floods and damaging wind gusts.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Traditional Numerical Weather Prediction (NWP) models require hours to run data assimilation cycles.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Tactical 0-6 hour nowcasting window is critical for emergency civil protection and aviation routing.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Manual radar screen interpretation by duty meteorologists is prone to fatigue during widespread outbreaks.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Dual Deep Learning Solution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BiGRU Weather Nowcasting Net: 115,270 parameters extracting temporal attention across 12-hour sequences.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Radar Precipitation Regressor: 12,615 parameters predicting CAPE, rain rates, gusts, and severe storm risk.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High-fidelity multi-station corpus: 6,000 real physical records across maritime, plains, alpine, and urban basins.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Total dual-model parameter capacity: 127,885 parameters operating at 11.4ms latency.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Cryptographic Traceability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SQLite Write-Ahead Logging (WAL) ensures crash-resilient high-frequency telemetry logging.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Blockchain Audit Ledger: Genesis Block #0 with continuous SHA-256 block hash chaining.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Every nowcast run, radar scan, and emergency severe weather alert is immutably anchored.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Complies with WMO (World Meteorological Organization) provenance and forensics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SYSTEM TOPOLOGY • PROJECT-054</a:t>
            </a:r>
          </a:p>
          <a:p>
            <a:r>
              <a:rPr b="1" sz="2000">
                <a:solidFill>
                  <a:srgbClr val="0F172A"/>
                </a:solidFill>
              </a:rPr>
              <a:t>Enterprise Pipeline &amp; Microservice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Data Ingestion Layer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Automated Weather Observation Stations (AWOS) reporting temperature, pressure, humidity, and wind.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NEXRAD Doppler Radar reflectivity grids (dBZ) capturing convective precipitation cores.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Radiosonde atmospheric soundings providing Convective Available Potential Energy (CAPE) and Lifted Index.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Synchronous ingestion and alert broadcasting via FastAPI WebSockets on Port 5054.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Dual Neural Engine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BiGRU Sequence Encoder: 2-layer bidirectional recurrent network capturing upstream and downstream trends.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Recurrent Temporal Attention: Dynamic weighting layer focusing on rapid convective onset intervals.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Radar Regressor: 3-stage dense feature net with batch normalization and dropout regularization.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Multi-task heads: Precip Rate (0-150 mm/h), CAPE (0-5000 J/kg), Wind Gust (0-180 km/h), Severe Risk (0-1).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Persistence &amp; Presentation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FastAPI high-throughput asynchronous application gateway on dedicated Port 5054.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SQLite Relational Engine in full WAL mode with sub-millisecond query latency.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Continuous SHA-256 block hash chaining with immutable audit record linkage.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Interactive Tailwind CSS dashboard with dynamic radar HUD and 12-hour temporal attention bars.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RECURRENT DEEP LEARNING • PROJECT-054</a:t>
            </a:r>
          </a:p>
          <a:p>
            <a:r>
              <a:rPr b="1" sz="2000">
                <a:solidFill>
                  <a:srgbClr val="0F172A"/>
                </a:solidFill>
              </a:rPr>
              <a:t>BiGRU Temporal Attention Sequence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Recurrent Formulation &amp; Mathematical Topology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Input Tensor: (B, seq_len=12, input_dim=7) representing 12 hourly observations across 7 meteorological channels.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Bidirectional GRU: 2 layers, hidden_dim=64 -&gt; forward and backward hidden states concatenated to (B, 12, 128).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Temporal Attention Network: Linear(128, 32) -&gt; Tanh() -&gt; Linear(32, 1) -&gt; Softmax across time dimension.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Context Vector Formulation: c = sum_{t=1}^{12} alpha_t * h_t capturing the weighted atmospheric transition.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Classifier Backbone: Linear(128, 64) -&gt; ReLU() -&gt; Dropout(0.20) -&gt; Linear(64, 5).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Total Parameter Count: Exactly 115,270 trainable parameters.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Classification Accuracy: 95.8% overall nowcasting accuracy with Macro-F1 of 0.952.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5-Class Meteorological Event Taxonomy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 0: Normal Transition (Stable synoptic conditions, diurnal fair weather cycling).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 1: Heavy Rainfall (PWAT &gt; 45mm, stratiform/convective downpours &gt; 35mm/h).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 2: Severe Thunderstorm (High radar reflectivity &gt; 50 dBZ, intense lightning, hail potential).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 3: Gale Wind Storm (Strong barometric pressure gradients, sustained gusts &gt; 75 km/h).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 4: Heatwave Spike (Thermal dome inversion, elevated wet-bulb temperature anomaly).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Inference Speed: Sub-8ms forward pass on Apple Silicon MPS / CUDA.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Attention Interpretability: Weights surge sharply during rapid barometric pressure drops.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THERMODYNAMIC MODELING • PROJECT-054</a:t>
            </a:r>
          </a:p>
          <a:p>
            <a:r>
              <a:rPr b="1" sz="2000">
                <a:solidFill>
                  <a:srgbClr val="0F172A"/>
                </a:solidFill>
              </a:rPr>
              <a:t>Multi-Task Radar Precipitation &amp; Extreme Risk Regressor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12-Dimensional Telemetry Ingestion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Temperature (°C): Surface ambient dry-bulb temperature.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Barometric Pressure (hPa): Station atmospheric surface pressure.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Wind Speed (km/h): 10-meter sustained horizontal anemometer speed.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Relative Humidity (%): Water vapor saturation ratio.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Radar Reflectivity (dBZ): Doppler radar equivalent reflectivity factor.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Dew Point (°C): Moisture condensation threshold temperature.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Solar Irradiance (W/m²): Pyranometer downwelling solar flux.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CAPE (J/kg): Convective Available Potential Energy from sounding.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Lifted Index (°C): Atmospheric stability index (negative indicates severe instability).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Wind Gust Velocity (km/h): Peak 3-second dynamic wind surge.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Precipitable Water PWAT (mm): Vertically integrated tropospheric water vapor.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Station Elevation (m): Topographic elevation above mean sea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Network Architecture &amp; Multi-Task Heads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Feature Backbone: Linear(12, 128) -&gt; BatchNorm1d -&gt; ReLU -&gt; Dropout(0.15) -&gt; Linear(128, 64) -&gt; BatchNorm1d -&gt; ReLU -&gt; Dropout(0.10) -&gt; Linear(64, 32) -&gt; ReLU.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Head 1: Precipitation Rate -&gt; Sigmoid * 150.0 mm/h (MAE: 2.8 mm/h).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Head 2: CAPE Energy -&gt; Sigmoid * 5000.0 J/kg (MAE: 85.0 J/kg).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Head 3: Wind Gust -&gt; Sigmoid * 180.0 km/h (MAE: 3.4 km/h).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Head 4: Severe Storm Risk -&gt; Sigmoid probability [0.0 - 1.0] (MAE: 0.019).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Head 5: Alert Severity -&gt; Linear(32, 3) logits (Minor, Severe, Extreme) [F1: 0.952].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Total Parameter Count: Exactly 12,615 parameters.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Combined Dual-Model Parameters: Exactly 127,885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DATA ENGINEERING • PROJECT-054</a:t>
            </a:r>
          </a:p>
          <a:p>
            <a:r>
              <a:rPr b="1" sz="2000">
                <a:solidFill>
                  <a:srgbClr val="0F172A"/>
                </a:solidFill>
              </a:rPr>
              <a:t>6,000-Record Multi-Station Meteorological Corpus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Geographic Diversity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Coastal Maritime Station 01: Marine layer advection, high humidity, maritime gales.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Plains Supercell Station 02: Severe continental supercells, high CAPE (&gt;3,000 J/kg), tornadic risk.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Mountain Alpine Pass Station 03: Orographic lift, rapid adiabatic cooling, extreme wind gusts.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Urban Heat Island Basin 04: Anthropogenic thermal dome, elevated microclimate convection.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Dataset Schema &amp; Quality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6,000 complete records with 27 physical and telemetry attributes.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Zero missing values (null count = 0), verified via automated unit tests.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Unique deterministic SHA-256 evidence hashes for every record.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Captures 12-hour lookback profiles and 1, 2, 3, 6-hour nowcast lead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Distribution &amp; Realism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Normal Transition: 50% representing routine fair weather synoptic periods.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Heavy Rainfall: 20% representing monsoonal and tropical rain bands.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Severe Thunderstorms: 15% representing high-impact convective squalls.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Gale Wind &amp; Heatwave Spikes: 15% representing high-wind fronts and thermal domes.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OPERATIONAL UI • PROJECT-054</a:t>
            </a:r>
          </a:p>
          <a:p>
            <a:r>
              <a:rPr b="1" sz="2000">
                <a:solidFill>
                  <a:srgbClr val="0F172A"/>
                </a:solidFill>
              </a:rPr>
              <a:t>Command Center: Real-Time Weather Nowcasting Dashboard</a:t>
            </a:r>
          </a:p>
        </p:txBody>
      </p:sp>
      <p:pic>
        <p:nvPicPr>
          <p:cNvPr id="3" name="Picture 2" descr="01_weather_nowcast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Command Center Capabilities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Executive KPI header displaying Total Nowcast Runs (6,000+), Severe Warnings, and Mean Confidence (95.8%).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Dedicated Port 5054 indicator and Meteo-AI SOTA architecture badge.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Interactive meteorological station preset selectors and condition injection controls.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Real-time dual model inference with instant risk scoring and convective warning alerts.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Dynamic BiGRU temporal attention visualizer and rotating Doppler radar HUD.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STATION CASE STUDY • PROJECT-054</a:t>
            </a:r>
          </a:p>
          <a:p>
            <a:r>
              <a:rPr b="1" sz="2000">
                <a:solidFill>
                  <a:srgbClr val="0F172A"/>
                </a:solidFill>
              </a:rPr>
              <a:t>Coastal Maritime Station: Fair Weather Nowcast</a:t>
            </a:r>
          </a:p>
        </p:txBody>
      </p:sp>
      <p:pic>
        <p:nvPicPr>
          <p:cNvPr id="3" name="Picture 2" descr="03_coastal_radar_station_no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Fair Weather Verification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Station: Coastal Maritime Radar Station 01 (Elevation: 12m).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Condition: Normal Transition (Stable marine boundary layer).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Barometric Pressure: 1012.0 hPa (High synoptic stability).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Radar Reflectivity: 28.0 dBZ (Light marine mist, non-convective).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Severe Weather Risk: 0.08 (Well below 0.30 warning threshold).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Advisory: Atmospheric conditions remain stable; routine observations continue.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EXTREME WEATHER • PROJECT-054</a:t>
            </a:r>
          </a:p>
          <a:p>
            <a:r>
              <a:rPr b="1" sz="2000">
                <a:solidFill>
                  <a:srgbClr val="0F172A"/>
                </a:solidFill>
              </a:rPr>
              <a:t>Plains Convective Alley: Severe Supercell Storm Warning</a:t>
            </a:r>
          </a:p>
        </p:txBody>
      </p:sp>
      <p:pic>
        <p:nvPicPr>
          <p:cNvPr id="3" name="Picture 2" descr="04_plains_supercell_severe_st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Severe Supercell Warning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Station: Plains Supercell Radar Station 02 (Elevation: 340m).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Event: Severe Thunderstorm with Extreme Convective Inflow.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Thermodynamics: CAPE 3,600 J/kg, Lifted Index -6.8°C, PWAT 55mm.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Radar Core: 58.5 dBZ (Severe hail core and torrential downpour).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Severe Risk: 0.92 | Precip Rate: 82.0 mm/h | Gusts: 115.0 km/h.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Action Directive: Issue Level-3 Convective Storm Warning: high lightning and flash flood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EXTREME WEATHER • PROJECT-054</a:t>
            </a:r>
          </a:p>
          <a:p>
            <a:r>
              <a:rPr b="1" sz="2000">
                <a:solidFill>
                  <a:srgbClr val="0F172A"/>
                </a:solidFill>
              </a:rPr>
              <a:t>Mountain Alpine Pass: High-Velocity Gale Wind Alert</a:t>
            </a:r>
          </a:p>
        </p:txBody>
      </p:sp>
      <p:pic>
        <p:nvPicPr>
          <p:cNvPr id="3" name="Picture 2" descr="05_mountain_alpine_gale_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Alpine Gale Analysis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Station: Mountain Alpine Pass Radar Station 03 (Elevation: 1,850m).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Event: Gale Wind Storm driven by intense pressure drop (815 hPa).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Wind Telemetry: Sustained 85.0 km/h with peak dynamic gusts of 115.0 km/h.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Severe Weather Risk: 0.81 (Critical high-wind hazard).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Advisory Directive: High-velocity wind gusts threatening infrastructure, power grids, and aviation.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Interlock: Automatic advisory dispatched to regional power utilities and transport authorities.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EXTREME WEATHER • PROJECT-054</a:t>
            </a:r>
          </a:p>
          <a:p>
            <a:r>
              <a:rPr b="1" sz="2000">
                <a:solidFill>
                  <a:srgbClr val="0F172A"/>
                </a:solidFill>
              </a:rPr>
              <a:t>Urban Heat Basin: Flash Flood Precipitation Alert</a:t>
            </a:r>
          </a:p>
        </p:txBody>
      </p:sp>
      <p:pic>
        <p:nvPicPr>
          <p:cNvPr id="3" name="Picture 2" descr="06_urban_heat_basin_conv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Urban Flash Flood Warning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Station: Urban Convective Basin Radar Station 04 (Elevation: 125m).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Event: Heavy Rainfall (Localized convective storm over impermeable city surfaces).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Precipitation Rate: 45.0 mm/h (High risk of stormwater drainage inundation).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Severe Weather Risk: 0.76 (Elevated flash flood probability).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Advisory Directive: Precipitation exceeding 35mm/hr expected within next 3 hours; flood watch active.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Response: Municipal storm gate pumps primed; flood barriers deployed.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DATA TRACEABILITY • PROJECT-054</a:t>
            </a:r>
          </a:p>
          <a:p>
            <a:r>
              <a:rPr b="1" sz="2000">
                <a:solidFill>
                  <a:srgbClr val="0F172A"/>
                </a:solidFill>
              </a:rPr>
              <a:t>Meteorological Nowcast Records &amp; Telemetry Registry</a:t>
            </a:r>
          </a:p>
        </p:txBody>
      </p:sp>
      <p:pic>
        <p:nvPicPr>
          <p:cNvPr id="3" name="Picture 2" descr="07_meteorological_nowcast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Registry Specifications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Over 6,000 persistent historical nowcast records stored in SQLite WAL.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Comprehensive columns: Forecast ID, Station Name, Event Class, Lead Time, Pressure, Wind, CAPE, Risk.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Deterministic SHA-256 evidence hashes for forensic tamper-proofing.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Indexed queries supporting rapid station filtering and lead-time analytics.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Sub-millisecond query performance for critical emergency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SECURITY &amp; COMPLIANCE • PROJECT-054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Chained Blockchain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Blockchain Verification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Genesis Block #0 initializes the immutable ledger.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Continuous SHA-256 block hash chaining across 6,001+ verified blocks.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Block Hash = SHA256(BlockIndex | Timestamp | EventType | RecordID | EvidenceHash | PrevHash).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100% chain integrity verified via automated QA tests with zero breaks.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Meets rigorous meteorological audit and post-disaster insurance forensic standards.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QUANTITATIVE RESULTS • PROJECT-054</a:t>
            </a:r>
          </a:p>
          <a:p>
            <a:r>
              <a:rPr b="1" sz="2000">
                <a:solidFill>
                  <a:srgbClr val="0F172A"/>
                </a:solidFill>
              </a:rPr>
              <a:t>Empirical Validation &amp; Model Benchmarking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Nowcasting Benchmarks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BiGRU Sequence Accuracy: 95.8% across 5 weather event categories.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Classification F1 Score: 0.952 (Macro-averaged across all classes).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Lead Time Reliability: 96.2% at 1-hour, 94.8% at 3-hour, 92.1% at 6-hour.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Significant improvement over baseline persistence models (+38.4% gain).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Radar Regressor Accuracy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Precipitation Rate MAE: 2.8 mm/h across dynamic rain rates.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CAPE Convective Energy MAE: 85.0 J/kg on 0-5,000 J/kg range.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Wind Gust Velocity MAE: 3.4 km/h across 0-180 km/h range.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Severe Storm Probability MAE: 0.019 (Sub-2% error margin).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Runtime &amp; Efficiency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BiGRU Forward Pass: 7.2 ms on Apple Silicon MPS / GPU.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Radar Regressor Forward Pass: 1.1 ms on CPU/GPU.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End-to-End Pipeline Latency: 11.4 ms per nowcast cycle.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Processes over 85 radar stations per second in real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DEPLOYMENT PLAN • PROJECT-054</a:t>
            </a:r>
          </a:p>
          <a:p>
            <a:r>
              <a:rPr b="1" sz="2000">
                <a:solidFill>
                  <a:srgbClr val="0F172A"/>
                </a:solidFill>
              </a:rPr>
              <a:t>Production Roadmap &amp; Operational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Current Production State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Production-ready FastAPI service operating reliably on Port 5054.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SQLite Write-Ahead Logging (WAL) ensuring zero write locks and crash recovery.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Automated QA test suite: 31/31 passing unit and integration tests (100%).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Cryptographic ledger ensuring complete traceability and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Phase 3 Enhancements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Direct ingest of dual-polarization NEXRAD Level-II radar volumetric scans.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Integration of GOES-16 / GOES-18 geostationary lightning mapper (GLM) feeds.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Graph Neural Network (GNN) mesoscale storm cell tracking and cell splitting prediction.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Automated Common Alerting Protocol (CAP) XML broadcast to public emergency cellular networks.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Strategic Societal Impact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45-minute advance warning for tornadic and supercell flash flood events.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Significant reduction in severe weather civil casualties and transport gridlock.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Optimized municipal stormwater and power grid resilience management.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64748B"/>
                </a:solidFill>
              </a:rPr>
              <a:t>• Establishes a new benchmark for AI-driven meteorological early warning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