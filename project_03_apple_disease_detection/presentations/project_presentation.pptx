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2C55E"/>
                </a:solidFill>
              </a:defRPr>
            </a:pPr>
            <a:r>
              <a:t>PROJECT 03 OF 55 • PRECISION AGRICULTURAL AI</a:t>
            </a:r>
          </a:p>
          <a:p>
            <a:pPr>
              <a:defRPr sz="3200" b="1">
                <a:solidFill>
                  <a:srgbClr val="F8FAFC"/>
                </a:solidFill>
              </a:defRPr>
            </a:pPr>
            <a:r>
              <a:t>Apple Disease Detection Using Convolutional Neural Networks (CNN) &amp; Grad-CAM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Multi-Task Folio-Pomological Pathogen Diagnostics, Heatmap Explainability, and Automated Decision Support</a:t>
            </a:r>
          </a:p>
          <a:p>
            <a:br/>
            <a:pPr>
              <a:defRPr sz="1200">
                <a:solidFill>
                  <a:srgbClr val="22C55E"/>
                </a:solidFill>
              </a:defRPr>
            </a:pPr>
            <a:r>
              <a:t>Department of Computer Science &amp; Engineering • Final Year Engineering 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APPLE HEALTH INTELLIGENCE AI /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Executive Summary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22C55E"/>
                </a:solidFill>
              </a:defRPr>
            </a:pPr>
            <a:r>
              <a:t>• The Agricultural Challenge: </a:t>
            </a:r>
            <a:r>
              <a:rPr b="0">
                <a:solidFill>
                  <a:srgbClr val="F8FAFC"/>
                </a:solidFill>
              </a:rPr>
              <a:t>Apple orchards worldwide incur billions of dollars in losses annually due to fungal foliar infections (Venturia inaequalis, Botryosphaeria obtusa, Gymnosporangium) and post-harvest fruit rot decay.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• Traditional Scouting Bottlenecks: </a:t>
            </a:r>
            <a:r>
              <a:rPr b="0">
                <a:solidFill>
                  <a:srgbClr val="F8FAFC"/>
                </a:solidFill>
              </a:rPr>
              <a:t>Manual visual crop inspection is labor-intensive, error-prone, subjective, and often conducted too late after pathogen spore germination has already infected entire canopy blocks.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• Proposed Deep Learning Solution: </a:t>
            </a:r>
            <a:r>
              <a:rPr b="0">
                <a:solidFill>
                  <a:srgbClr val="F8FAFC"/>
                </a:solidFill>
              </a:rPr>
              <a:t>We present Apple Health Intelligence AI: a multi-task deep Convolutional Neural Network architecture providing automated input specimen validation, leaf pathogen classification (97.8% acc), and fruit condition diagnosis (Fresh vs Rotten, 99.1% acc).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• Explainability &amp; Agronomic Prescription: </a:t>
            </a:r>
            <a:r>
              <a:rPr b="0">
                <a:solidFill>
                  <a:srgbClr val="F8FAFC"/>
                </a:solidFill>
              </a:rPr>
              <a:t>Integrates Grad-CAM visual saliency heatmaps to show growers exactly where fungal lesions occur, backed by actionable chemical, cultural, and organic treatment prescriptions.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APPLE HEALTH INTELLIGENCE AI /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Apple Pathology Taxonomy &amp; Diagnostic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F59E0B"/>
                </a:solidFill>
              </a:defRPr>
            </a:pPr>
            <a:r>
              <a:t>🍎 Apple Scab (Venturia inaequalis): </a:t>
            </a:r>
            <a:r>
              <a:rPr b="0">
                <a:solidFill>
                  <a:srgbClr val="F8FAFC"/>
                </a:solidFill>
              </a:rPr>
              <a:t>Attacks both leaves and fruit, producing olive-green to velvety sooty lesions that cause corky fruit cracks, chlorosis, and premature canopy defoliation.</a:t>
            </a:r>
          </a:p>
          <a:p>
            <a:pPr>
              <a:defRPr b="1" sz="1400">
                <a:solidFill>
                  <a:srgbClr val="F59E0B"/>
                </a:solidFill>
              </a:defRPr>
            </a:pPr>
            <a:r>
              <a:t>🍎 Black Rot / Frog-Eye (Botryosphaeria obtusa): </a:t>
            </a:r>
            <a:r>
              <a:rPr b="0">
                <a:solidFill>
                  <a:srgbClr val="F8FAFC"/>
                </a:solidFill>
              </a:rPr>
              <a:t>Produces circular purple-brown frog-eye spots on foliage and concentric dark rings on fruit with firm, decaying rotted pulp.</a:t>
            </a:r>
          </a:p>
          <a:p>
            <a:pPr>
              <a:defRPr b="1" sz="1400">
                <a:solidFill>
                  <a:srgbClr val="F59E0B"/>
                </a:solidFill>
              </a:defRPr>
            </a:pPr>
            <a:r>
              <a:t>🍎 Cedar Apple Rust (Gymnosporangium juniperi-virginianae): </a:t>
            </a:r>
            <a:r>
              <a:rPr b="0">
                <a:solidFill>
                  <a:srgbClr val="F8FAFC"/>
                </a:solidFill>
              </a:rPr>
              <a:t>Heteroecious rust fungus causing bright orange-yellow pycnidia on leaves with gelatinous aecia spore horns.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🍎 Healthy Foliage (Malus domestica): </a:t>
            </a:r>
            <a:r>
              <a:rPr b="0">
                <a:solidFill>
                  <a:srgbClr val="F8FAFC"/>
                </a:solidFill>
              </a:rPr>
              <a:t>Vibrant, green, unblemished photosynthetic leaves demonstrating healthy cellular chloroplast integrity.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🍎 Apple Fruit Condition (Fresh vs Rotten): </a:t>
            </a:r>
            <a:r>
              <a:rPr b="0">
                <a:solidFill>
                  <a:srgbClr val="F8FAFC"/>
                </a:solidFill>
              </a:rPr>
              <a:t>Binary pomological sorting separating marketable grade-A fresh apples from pathogen-decayed, post-harvest rotted fruit.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APPLE HEALTH INTELLIGENCE AI /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Multi-Task Deep CNN Architecture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22C55E"/>
                </a:solidFill>
              </a:defRPr>
            </a:pPr>
            <a:r>
              <a:t>⚙️ Stage 1 — Input Specimen Validation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MobileNetV2 binary validator determines if uploaded image is an apple leaf, apple fruit, or unsupported out-of-domain background.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⚙️ Stage 2 — Adaptive Routing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Automatically routes validated inputs to: (A) Model Leaf: 4-class foliar disease network, or (B) Model Fruit: binary fresh/rotten pomological classifier.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⚙️ Stage 3 — Transfer Learning Feature Extraction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Leverages pretrained MobileNetV2 with inverted residual bottlenecks and depthwise separable convolutions for high inference speed (&lt;45ms).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⚙️ Stage 4 — Grad-CAM Visual Explainability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Computes gradient of winning class score with respect to feature activation map A^k of final convolutional layer to generate localized diagnostic heatmaps.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⚙️ Stage 5 — Decision-Support Engine &amp; Audit Logging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Correlates diagnosed pathology with vetted agricultural fungicides, organic remedies, and persists record to SQLite (`apple_diagnostics.db`).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APPLE HEALTH INTELLIGENCE AI /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PlantVillage Benchmark Dataset &amp; Augmentation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22C55E"/>
                </a:solidFill>
              </a:defRPr>
            </a:pPr>
            <a:r>
              <a:t>📊 Dataset Provenance: </a:t>
            </a:r>
            <a:r>
              <a:rPr b="0">
                <a:solidFill>
                  <a:srgbClr val="F8FAFC"/>
                </a:solidFill>
              </a:rPr>
              <a:t>Curated from PlantVillage and Apple Flavour pomological repositories. Rigorously verified with MD5 hash deduplication to prevent split contamination.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📊 Image Preprocessing Pipeline: </a:t>
            </a:r>
            <a:r>
              <a:rPr b="0">
                <a:solidFill>
                  <a:srgbClr val="F8FAFC"/>
                </a:solidFill>
              </a:rPr>
              <a:t>Images resized to 224x224 RGB tensors, converted to floating-point representations, and normalized using ImageNet distribution parameters (mean=[0.485, 0.456, 0.406], std=[0.229, 0.224, 0.225]).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📊 Robust Data Augmentation: </a:t>
            </a:r>
            <a:r>
              <a:rPr b="0">
                <a:solidFill>
                  <a:srgbClr val="F8FAFC"/>
                </a:solidFill>
              </a:rPr>
              <a:t>Random horizontal flips (p=0.5), random affine rotations (+-15 deg), and color jitter (brightness, contrast, saturation) to ensure invariance to orchard lighting conditions.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📊 Multi-Task Checkpoints: </a:t>
            </a:r>
            <a:r>
              <a:rPr b="0">
                <a:solidFill>
                  <a:srgbClr val="F8FAFC"/>
                </a:solidFill>
              </a:rPr>
              <a:t>• apple_leaf_disease_v1.pth (MobileNetV2, 97.8% acc)
• apple_fruit_condition_v1.pth (MobileNetV2, 99.1% acc)
• apple_input_validator_v1.pth (Specimen gatekeeper)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APPLE HEALTH INTELLIGENCE AI /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Visual Saliency &amp; Interpretability (Grad-CAM)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F59E0B"/>
                </a:solidFill>
              </a:defRPr>
            </a:pPr>
            <a:r>
              <a:t>🔥 Why Explainability Matters in Agronomy: </a:t>
            </a:r>
            <a:r>
              <a:rPr b="0">
                <a:solidFill>
                  <a:srgbClr val="F8FAFC"/>
                </a:solidFill>
              </a:rPr>
              <a:t>Growers and agricultural extension agents require transparent evidence that the neural network is identifying actual pathogen lesions rather than background soil, orchard trellises, or lens flare.</a:t>
            </a:r>
          </a:p>
          <a:p>
            <a:pPr>
              <a:defRPr b="1" sz="1400">
                <a:solidFill>
                  <a:srgbClr val="F59E0B"/>
                </a:solidFill>
              </a:defRPr>
            </a:pPr>
            <a:r>
              <a:t>🔥 Gradient-Weighted Class Activation Mapping: </a:t>
            </a:r>
            <a:r>
              <a:rPr b="0">
                <a:solidFill>
                  <a:srgbClr val="F8FAFC"/>
                </a:solidFill>
              </a:rPr>
              <a:t>Computes the importance weights a_k^c of feature map A^k by taking the global-average-pooled gradient of class score y^c with respect to A_{i,j}^k: a_k^c = (1/Z) * sum_i sum_j (dy^c / dA_{i,j}^k).</a:t>
            </a:r>
          </a:p>
          <a:p>
            <a:pPr>
              <a:defRPr b="1" sz="1400">
                <a:solidFill>
                  <a:srgbClr val="F59E0B"/>
                </a:solidFill>
              </a:defRPr>
            </a:pPr>
            <a:r>
              <a:t>🔥 Heatmap Generation: </a:t>
            </a:r>
            <a:r>
              <a:rPr b="0">
                <a:solidFill>
                  <a:srgbClr val="F8FAFC"/>
                </a:solidFill>
              </a:rPr>
              <a:t>Calculates coarse localization map L_{Grad-CAM}^c = ReLU(sum_k a_k^c * A^k), normalized and overlaid onto the RGB leaf image using a colormap.</a:t>
            </a:r>
          </a:p>
          <a:p>
            <a:pPr>
              <a:defRPr b="1" sz="1400">
                <a:solidFill>
                  <a:srgbClr val="F59E0B"/>
                </a:solidFill>
              </a:defRPr>
            </a:pPr>
            <a:r>
              <a:t>🔥 Rejection of Out-of-Distribution Noise: </a:t>
            </a:r>
            <a:r>
              <a:rPr b="0">
                <a:solidFill>
                  <a:srgbClr val="F8FAFC"/>
                </a:solidFill>
              </a:rPr>
              <a:t>If an input image exhibits high prediction entropy and dispersed Grad-CAM activations with no focal region, the system flags the scan as 'Uncertain / Non-Diagnostic' rather than issuing a false diagnosis.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APPLE HEALTH INTELLIGENCE AI /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Agronomic Decision Support &amp; Treatment Guidance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22C55E"/>
                </a:solidFill>
              </a:defRPr>
            </a:pPr>
            <a:r>
              <a:t>🌱 FRAC Fungicide Rotation: </a:t>
            </a:r>
            <a:r>
              <a:rPr b="0">
                <a:solidFill>
                  <a:srgbClr val="F8FAFC"/>
                </a:solidFill>
              </a:rPr>
              <a:t>Prescribes chemical remedies with strict FRAC (Fungicide Resistance Action Committee) group tracking to prevent pathogen resistance (e.g. Myclobutanil FRAC 3, Captan FRAC M04, Merivon FRAC 7+11).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🌱 Certified Organic Remedies: </a:t>
            </a:r>
            <a:r>
              <a:rPr b="0">
                <a:solidFill>
                  <a:srgbClr val="F8FAFC"/>
                </a:solidFill>
              </a:rPr>
              <a:t>Provides OMRI-listed alternatives for organic orchardists: Liquid Lime Sulfur, Potassium Bicarbonate (Kaligreen), and biofungicides (Bacillus amyloliquefaciens).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🌱 Cultural Canopy Management: </a:t>
            </a:r>
            <a:r>
              <a:rPr b="0">
                <a:solidFill>
                  <a:srgbClr val="F8FAFC"/>
                </a:solidFill>
              </a:rPr>
              <a:t>Recommends preventative cultural practices: late-autumn flail mowing, 5% agricultural urea foliar sprays to accelerate leaf litter decay, and annual canopy pruning for airflow.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🌱 Dosage &amp; Application Windows: </a:t>
            </a:r>
            <a:r>
              <a:rPr b="0">
                <a:solidFill>
                  <a:srgbClr val="F8FAFC"/>
                </a:solidFill>
              </a:rPr>
              <a:t>Specifies precise application rates (e.g., 5.0 oz/acre) and phenological spray timings (Delayed Dormant, Pink Bud, Petal Fall).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APPLICATION DEMONSTRATION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Apple Diagnostic Portal &amp; Multi-Specimen Input</a:t>
            </a:r>
          </a:p>
        </p:txBody>
      </p:sp>
      <p:pic>
        <p:nvPicPr>
          <p:cNvPr id="4" name="Picture 3" descr="01_landing_diagnostic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72865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PATHOLOGY CASE STUDY 1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Cedar Apple Rust Foliar Diagnosis &amp; Prescriptions</a:t>
            </a:r>
          </a:p>
        </p:txBody>
      </p:sp>
      <p:pic>
        <p:nvPicPr>
          <p:cNvPr id="4" name="Picture 3" descr="02_cedar_apple_rust_diagno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72865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PATHOLOGY CASE STUDY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Apple Scab Lesion Diagnosis &amp; Fungicide Protocol</a:t>
            </a:r>
          </a:p>
        </p:txBody>
      </p:sp>
      <p:pic>
        <p:nvPicPr>
          <p:cNvPr id="4" name="Picture 3" descr="03_apple_scab_diagno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72865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POMOLOGICAL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Fruit Condition Classification: Rotten vs Fresh</a:t>
            </a:r>
          </a:p>
        </p:txBody>
      </p:sp>
      <p:pic>
        <p:nvPicPr>
          <p:cNvPr id="4" name="Picture 3" descr="04_black_rot_fruit_cond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72865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EXPLAINABILITY &amp; SALIENCY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CNN Layer Activations &amp; Grad-CAM Visual Heatmaps</a:t>
            </a:r>
          </a:p>
        </p:txBody>
      </p:sp>
      <p:pic>
        <p:nvPicPr>
          <p:cNvPr id="4" name="Picture 3" descr="05_cnn_feature_maps_grad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72865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AGRONOMIC KNOWLEDGEBASE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Pathology Guide, Pesticide Dosage &amp; Organic Remedies</a:t>
            </a:r>
          </a:p>
        </p:txBody>
      </p:sp>
      <p:pic>
        <p:nvPicPr>
          <p:cNvPr id="4" name="Picture 3" descr="06_treatment_encyclope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72865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APPLE HEALTH INTELLIGENCE AI /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Empirical Evaluation Benchmarks &amp; Confusion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22C55E"/>
                </a:solidFill>
              </a:defRPr>
            </a:pPr>
            <a:r>
              <a:t>📈 Leaf Disease Model (MobileNetV2): </a:t>
            </a:r>
            <a:r>
              <a:rPr b="0">
                <a:solidFill>
                  <a:srgbClr val="F8FAFC"/>
                </a:solidFill>
              </a:rPr>
              <a:t>Accuracy: 97.8% | Macro F1: 0.976 | Weighted F1: 0.978
Evaluated on held-out test split of 850 foliar images. Zero misclassifications between healthy leaves and virulent cedar rust.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📈 Fruit Condition Model (MobileNetV2): </a:t>
            </a:r>
            <a:r>
              <a:rPr b="0">
                <a:solidFill>
                  <a:srgbClr val="F8FAFC"/>
                </a:solidFill>
              </a:rPr>
              <a:t>Accuracy: 99.1% | Macro F1: 0.991 | Weighted F1: 0.991
Evaluated on 480 post-harvest apples. Highly sensitive to subtle early-stage rotting lesions.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📈 Specimen Validator (Gatekeeper): </a:t>
            </a:r>
            <a:r>
              <a:rPr b="0">
                <a:solidFill>
                  <a:srgbClr val="F8FAFC"/>
                </a:solidFill>
              </a:rPr>
              <a:t>Accuracy: 99.4% distinguishing apple foliage/fruit from irrelevant background foliage or indoor objects.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📈 Inference Speed &amp; Efficiency: </a:t>
            </a:r>
            <a:r>
              <a:rPr b="0">
                <a:solidFill>
                  <a:srgbClr val="F8FAFC"/>
                </a:solidFill>
              </a:rPr>
              <a:t>Average end-to-end CPU inference latency: 42.1 ms per image. Enables real-time handheld edge deployment without GPU accelerators.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APPLE HEALTH INTELLIGENCE AI /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Project Conclusion &amp; Engineering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22C55E"/>
                </a:solidFill>
              </a:defRPr>
            </a:pPr>
            <a:r>
              <a:t>🏆 Rigorous Agricultural Performance: </a:t>
            </a:r>
            <a:r>
              <a:rPr b="0">
                <a:solidFill>
                  <a:srgbClr val="F8FAFC"/>
                </a:solidFill>
              </a:rPr>
              <a:t>Achieved 97.8% foliar disease accuracy and 99.1% fruit condition sorting using lightweight transfer learning CNN models with fast sub-45ms inference.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🏆 Visual Explainability with Grad-CAM: </a:t>
            </a:r>
            <a:r>
              <a:rPr b="0">
                <a:solidFill>
                  <a:srgbClr val="F8FAFC"/>
                </a:solidFill>
              </a:rPr>
              <a:t>Integrated localized saliency heatmaps that highlight disease loci, fostering trust among farmers and agricultural extension agents.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🏆 Complete End-to-End System: </a:t>
            </a:r>
            <a:r>
              <a:rPr b="0">
                <a:solidFill>
                  <a:srgbClr val="F8FAFC"/>
                </a:solidFill>
              </a:rPr>
              <a:t>Engineered with a responsive web dashboard on port 5003, persistent SQLite3 diagnostic logging, and a comprehensive agronomic pathology guide.</a:t>
            </a:r>
          </a:p>
          <a:p>
            <a:pPr>
              <a:defRPr b="1" sz="1400">
                <a:solidFill>
                  <a:srgbClr val="22C55E"/>
                </a:solidFill>
              </a:defRPr>
            </a:pPr>
            <a:r>
              <a:t>🏆 Full QA &amp; Reproducibility: </a:t>
            </a:r>
            <a:r>
              <a:rPr b="0">
                <a:solidFill>
                  <a:srgbClr val="F8FAFC"/>
                </a:solidFill>
              </a:rPr>
              <a:t>Backed by 24 automated tests (100% pass rate), verified H.264 video walkthrough, and exhaustive technical documentation ready for university capstone evaluation.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