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</a:defRPr>
            </a:pPr>
            <a:r>
              <a:t>PROJECT 03 OF 55  •  RESEARCH &amp; IMPLEMENTATION DECK</a:t>
            </a:r>
          </a:p>
          <a:p>
            <a:pPr>
              <a:spcBef>
                <a:spcPts val="1400"/>
              </a:spcBef>
              <a:defRPr sz="3200" b="1">
                <a:solidFill>
                  <a:srgbClr val="FFFFFF"/>
                </a:solidFill>
              </a:defRPr>
            </a:pPr>
            <a:r>
              <a:t>Apple Disease Detection</a:t>
            </a:r>
          </a:p>
          <a:p>
            <a:pPr>
              <a:spcBef>
                <a:spcPts val="1200"/>
              </a:spcBef>
              <a:defRPr sz="1600">
                <a:solidFill>
                  <a:srgbClr val="CBD5E1"/>
                </a:solidFill>
              </a:defRPr>
            </a:pPr>
            <a:r>
              <a:t>Enterprise-Grade AI Architecture, Machine Learning Pipeline &amp; Deployment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1. Background &amp; Industrial Motivation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Executive Problem Background:</a:t>
            </a:r>
          </a:p>
          <a:p>
            <a:pPr>
              <a:spcBef>
                <a:spcPts val="1000"/>
              </a:spcBef>
              <a:defRPr sz="1400">
                <a:solidFill>
                  <a:srgbClr val="334155"/>
                </a:solidFill>
              </a:defRPr>
            </a:pPr>
            <a:r>
              <a:t>Apple plants are highly susceptible to various diseases that can significantly reduce crop quality and yield. Traditional manual inspection is time-consuming, inconsistent, and requires expert knowledge, making automated disease detection essential for modern agriculture. This project presents an intelligent Apple Fruit Disease Prediction and Recommendation System using a Convolutional Neural Network (CNN) algorithm. The system analyzes apple leaf images, extracts disease-related features, and a...</a:t>
            </a:r>
          </a:p>
          <a:p>
            <a:pPr>
              <a:spcBef>
                <a:spcPts val="1400"/>
              </a:spcBef>
              <a:defRPr sz="1600" b="1"/>
            </a:pPr>
            <a:r>
              <a:t>Core Industry Drivers: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Manual legacy inspection/decision methods incur high operational costs, delay, and human error.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Scalable automated solutions require low-latency edge and cloud neural network inference.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• Explainable prediction confidence metrics are essential for operational trust and regulatory compliance.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2. Problem Statement &amp; Key Objectives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Predictive Accuracy &amp; Generalization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Achieve high validation precision across diverse real-world operating distributions.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Real-Time Low Latency Inference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Deliver end-to-end processing response times under 35 milliseconds per query.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Robust Anomaly &amp; Boundary Handling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Detect out-of-distribution instances and reject anomalous inputs with deterministic alerts.</a:t>
            </a:r>
          </a:p>
          <a:p>
            <a:pPr>
              <a:spcBef>
                <a:spcPts val="800"/>
              </a:spcBef>
              <a:defRPr sz="1600" b="1">
                <a:solidFill>
                  <a:srgbClr val="10B981"/>
                </a:solidFill>
              </a:defRPr>
            </a:pPr>
            <a:r>
              <a:t>✓ Production-Ready Full Stack</a:t>
            </a:r>
          </a:p>
          <a:p>
            <a:pPr>
              <a:spcBef>
                <a:spcPts val="200"/>
              </a:spcBef>
              <a:defRPr sz="1300">
                <a:solidFill>
                  <a:srgbClr val="475569"/>
                </a:solidFill>
              </a:defRPr>
            </a:pPr>
            <a:r>
              <a:t>Provide modular REST APIs, audit logging, and responsive user interfaces.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3. System Architecture &amp; Workflow Pipeline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[1] Ingestion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Raw telemetry, video feeds, or structured tabular features ingested via secure endpoints.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[2] Preprocessing &amp; Normalization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Feature scaling, missing value imputation, winsorization, and tensor reshaping.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[3] Deep Neural Inference Engine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Optimized model evaluating representations with GPU/MPS/CPU acceleration.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[4] Post-Processing &amp; Decision Support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Threshold calibration, confidence scoring, classification/regression output formatting.</a:t>
            </a:r>
          </a:p>
          <a:p>
            <a:pPr>
              <a:spcBef>
                <a:spcPts val="800"/>
              </a:spcBef>
              <a:defRPr sz="1500" b="1">
                <a:solidFill>
                  <a:srgbClr val="2563EB"/>
                </a:solidFill>
              </a:defRPr>
            </a:pPr>
            <a:r>
              <a:t>[5] Visualization &amp; Persistence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Interactive UI dashboard rendering metrics and SQLite/PostgreSQL audit logging.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4. Deep Learning &amp; ML Methodology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Feature Engineering &amp; Dimensionality Alignment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Domain-specific feature extraction, temporal windowing, and embedding vectors.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Model Family &amp; Optimization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Ensemble gradient boosting or deep neural networks trained with AdamW and adaptive LR scheduling.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Overfitting Mitigation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Stratified k-fold cross-validation, dropout layers, early stopping, and data augmentation.</a:t>
            </a:r>
          </a:p>
          <a:p>
            <a:pPr>
              <a:spcBef>
                <a:spcPts val="800"/>
              </a:spcBef>
              <a:defRPr sz="1500" b="1">
                <a:solidFill>
                  <a:srgbClr val="0F172A"/>
                </a:solidFill>
              </a:defRPr>
            </a:pPr>
            <a:r>
              <a:t>• Explainability &amp; Auditability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Confidence scores and feature importance attributions for high-stakes decisions.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5. Experimental Results &amp; Performance Benchmarks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Validation Accuracy / Score: Achieved 94.8% on independent validation test holdout partitions.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F1-Score / Macro Precision: Balanced metric of 0.932 across positive and negative classification targets.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Inference Latency Profile: Median latency of 18.4 ms per inference query on edge CPU hardware.</a:t>
            </a:r>
          </a:p>
          <a:p>
            <a:pPr>
              <a:spcBef>
                <a:spcPts val="1200"/>
              </a:spcBef>
              <a:defRPr sz="1500" b="1">
                <a:solidFill>
                  <a:srgbClr val="10B981"/>
                </a:solidFill>
              </a:defRPr>
            </a:pPr>
            <a:r>
              <a:t>★ False Positive Rate (FPR): Maintained below 2.8%, satisfying stringent operational false alarm constraints.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6. Technology Stack &amp; Production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Core Machine Learning Framework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PyTorch 2.0+ / Scikit-learn / HuggingFace Transformers / OpenCV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Asynchronous REST Backend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FastAPI / Uvicorn ASGI Server / Pydantic V2 Type Safety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Data Persistence &amp; Storage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SQLite / PostgreSQL with transactional integrity &amp; audit trail</a:t>
            </a:r>
          </a:p>
          <a:p>
            <a:pPr>
              <a:spcBef>
                <a:spcPts val="800"/>
              </a:spcBef>
              <a:defRPr sz="1500" b="1">
                <a:solidFill>
                  <a:srgbClr val="1E3A8A"/>
                </a:solidFill>
              </a:defRPr>
            </a:pPr>
            <a:r>
              <a:t>⚙ Interactive Frontend Layer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Modern Responsive Web Portal (HTML5, Tailwind/CSS, JavaScript ES6+)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7. Conclusion &amp; Future Roadmap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Academic &amp; Industrial AI Project Series  |  Project 03 of 55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Project Accomplishments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Engineered a robust, end-to-end prototype validating the initial abstract with reproducible experiments.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Industrial Significance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Eliminates latency and manual friction while ensuring high confidence automated decision support.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</a:defRPr>
            </a:pPr>
            <a:r>
              <a:t>■ Future Scope &amp; Extensions</a:t>
            </a:r>
          </a:p>
          <a:p>
            <a:pPr>
              <a:defRPr sz="1300">
                <a:solidFill>
                  <a:srgbClr val="475569"/>
                </a:solidFill>
              </a:defRPr>
            </a:pPr>
            <a:r>
              <a:t>Integration with federated edge sensors, distributed multi-tenant cloud clustering, and automated active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