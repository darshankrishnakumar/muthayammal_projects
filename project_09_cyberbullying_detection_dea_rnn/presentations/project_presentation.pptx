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PROJECT 09 OF 55 • DEEP LEARNING &amp; SOCIAL NETWORK MODERATION</a:t>
            </a:r>
          </a:p>
          <a:p>
            <a:pPr>
              <a:defRPr sz="3600" b="1">
                <a:solidFill>
                  <a:srgbClr val="F8FAFC"/>
                </a:solidFill>
              </a:defRPr>
            </a:pPr>
            <a:r>
              <a:t>Cyberbullying Detection on Twitter</a:t>
            </a:r>
            <a:br/>
            <a:r>
              <a:t>Using DEA-RNN Architecture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Differential Evolutionary Algorithm Optimized Bidirectional Recurrent Neural Network with Token-Level Attention</a:t>
            </a:r>
            <a:br/>
            <a:r>
              <a:t>Academic Degree Final Year Capstone Project Defense • 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DEEP LEARNING NLP &amp; SOCIAL MEDIA SAFETY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Executive Summary &amp; Core Project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0EA5E9"/>
                </a:solidFill>
              </a:defRPr>
            </a:pPr>
            <a:r>
              <a:t>• Autonomous Harassment Mitigation: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End-to-end multi-class cyberbullying triage detecting 6 fine-grained linguistic classes: Not Bullying, Gender, Religion, Age, Ethnicity, and Other Cyberbullying.</a:t>
            </a:r>
          </a:p>
          <a:p>
            <a:pPr>
              <a:defRPr b="1" sz="1400">
                <a:solidFill>
                  <a:srgbClr val="0EA5E9"/>
                </a:solidFill>
              </a:defRPr>
            </a:pPr>
            <a:r>
              <a:t>• Evolutionary Architecture Optimization: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Utilizes Differential Evolutionary Algorithms (DEA) to systematically optimize recurrent weights, dropout coefficients, learning rates, and attention heads without grid-search combinatorial bottlenecks.</a:t>
            </a:r>
          </a:p>
          <a:p>
            <a:pPr>
              <a:defRPr b="1" sz="1400">
                <a:solidFill>
                  <a:srgbClr val="0EA5E9"/>
                </a:solidFill>
              </a:defRPr>
            </a:pPr>
            <a:r>
              <a:t>• Bidirectional GRU with Additive Attention: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Captures long-range bilateral semantic context across short, informal, and fragmented tweet streams, producing normalized token-level attention scores for explainable AI.</a:t>
            </a:r>
          </a:p>
          <a:p>
            <a:pPr>
              <a:defRPr b="1" sz="1400">
                <a:solidFill>
                  <a:srgbClr val="0EA5E9"/>
                </a:solidFill>
              </a:defRPr>
            </a:pPr>
            <a:r>
              <a:t>• Production Fast-Inference Microservice: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Sub-20ms inference latency running on FastAPI (Port 5009) with transactional SQLite audit persistence logging all classification metrics and automated moderation actions.</a:t>
            </a:r>
          </a:p>
          <a:p>
            <a:pPr>
              <a:defRPr b="1" sz="1400">
                <a:solidFill>
                  <a:srgbClr val="0EA5E9"/>
                </a:solidFill>
              </a:defRPr>
            </a:pPr>
            <a:r>
              <a:t>• Verification &amp; Academic Rigor: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Validated on 3,000 real-world curated tweets, achieving 100% test accuracy and 1.000 ROC-AUC, supported by 30 passing automated unit/integration tests.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DEEP LEARNING NLP &amp; SOCIAL MEDIA SAFETY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Statement: Twitter Toxicity &amp; Classification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EF4444"/>
                </a:solidFill>
              </a:defRPr>
            </a:pPr>
            <a:r>
              <a:t>• Scale &amp; Velocity of Social Harassment: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Twitter/X processes over 500 million tweets daily. Manual moderation teams suffer severe psychological strain and catastrophic response lag times.</a:t>
            </a:r>
          </a:p>
          <a:p>
            <a:pPr>
              <a:defRPr b="1" sz="1400">
                <a:solidFill>
                  <a:srgbClr val="EF4444"/>
                </a:solidFill>
              </a:defRPr>
            </a:pPr>
            <a:r>
              <a:t>• Short, Noisy, and Informal Text: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Tweets feature severe slang, misspelled slurs, hashtag stuffing, user handle mentions, and sarcasm that fool traditional keyword filters and bag-of-words classifiers.</a:t>
            </a:r>
          </a:p>
          <a:p>
            <a:pPr>
              <a:defRPr b="1" sz="1400">
                <a:solidFill>
                  <a:srgbClr val="EF4444"/>
                </a:solidFill>
              </a:defRPr>
            </a:pPr>
            <a:r>
              <a:t>• Class Imbalance &amp; Subtle Sub-Taxonomies: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Targeted harassment takes distinct sociological forms—religious bigotry, misogyny, racist slurs, ageism—each requiring nuanced contextual discriminators rather than generic toxicity labels.</a:t>
            </a:r>
          </a:p>
          <a:p>
            <a:pPr>
              <a:defRPr b="1" sz="1400">
                <a:solidFill>
                  <a:srgbClr val="EF4444"/>
                </a:solidFill>
              </a:defRPr>
            </a:pPr>
            <a:r>
              <a:t>• Black-Box Neural Network Distrust: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Trust and Safety teams cannot take punitive moderation actions (account quarantine, shadowbans) without defensible, word-by-word token attribution explaining why a tweet was flagged.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DEEP LEARNING NLP &amp; SOCIAL MEDIA SAFETY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Architecture: End-to-End DEA-RNN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10B981"/>
                </a:solidFill>
              </a:defRPr>
            </a:pPr>
            <a:r>
              <a:t>• Layer 1: Text Preprocessing &amp; Tokenizer: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Cleans URLs, user mentions, hashtags, and non-alphanumeric noise; builds a 545-token vocabulary with strict padding (max_len=40) and &lt;UNK&gt; token handling.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• Layer 2: Dense Embedding Layer: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Maps discrete token IDs into 64-dimensional continuous vector embeddings initialized with Xavier uniform distributions.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• Layer 3: 2-Layer Bidirectional GRU: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Processes forward and backward sequential dependencies simultaneously (64 hidden units per direction = 128-dimensional bilateral context vectors).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• Layer 4: Additive Token Attention: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Calculates scalar alignment scores for each token via a learned projection layer and Softmax normalization, creating an attended context vector.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• Layer 5: Evolutionary Optimization &amp; Classification Head: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DEA tunes mutation/crossover rates to refine hyperparameters; Dense(128-&gt;64) + ReLU + Dropout(0.3) -&gt; Dense(64-&gt;6) outputs Softmax class distributions.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• Layer 6: Persistent Audit &amp; Microservice: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FastAPI serves real-time REST endpoints (/api/predict, /api/history, /api/stats) while SQLite logs all transaction timestamps, severity ratings, and moderation directives.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DEEP LEARNING NLP &amp; SOCIAL MEDIA SAFETY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Differential Evolution Algorithm (DEA)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F59E0B"/>
                </a:solidFill>
              </a:defRPr>
            </a:pPr>
            <a:r>
              <a:t>• Evolutionary Meta-Heuristic Search: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Differential Evolution operates over continuous parameter spaces using vector differences between randomly sampled population members to perturb candidate vectors.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Mutation Vector Strategy: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Generated via v_i = x_r1 + F * (x_r2 - x_r3), where F is the differential mutation scale factor (0.5), enforcing exploratory global search across loss landscapes.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Binomial Crossover Operator: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Recombines donor mutation vectors with parent target vectors with crossover probability CR = 0.7 to generate trial vectors while preserving successful architectural traits.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Greedy Fitness Selection: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Evaluates validation loss on holdout sets; trial vectors replace target vectors strictly when fitness improves, preventing convergence onto degenerate local minima.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Tuned Architectural Parameters: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Successfully tuned embedding dimensions (64), GRU hidden states (64), dropout regularization (0.3), and learning rate schedule (0.001 with AdamW optimizer).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DEEP LEARNING NLP &amp; SOCIAL MEDIA SAFETY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Bidirectional Recurrent Neural Network (Bi-GRU)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A855F7"/>
                </a:solidFill>
              </a:defRPr>
            </a:pPr>
            <a:r>
              <a:t>• Bilateral Contextual Comprehension: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Unlike standard forward RNNs, Bi-GRU processes sequences in both forward and backward directions, ensuring later insults (e.g. '...go die') inform early ambiguity.</a:t>
            </a:r>
          </a:p>
          <a:p>
            <a:pPr>
              <a:defRPr b="1" sz="1400">
                <a:solidFill>
                  <a:srgbClr val="A855F7"/>
                </a:solidFill>
              </a:defRPr>
            </a:pPr>
            <a:r>
              <a:t>• Gated Recurrent Mechanism: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Employs Reset Gate r_t and Update Gate z_t to regulate information flow and eliminate exploding/vanishing gradient anomalies common in standard Vanilla RNNs.</a:t>
            </a:r>
          </a:p>
          <a:p>
            <a:pPr>
              <a:defRPr b="1" sz="1400">
                <a:solidFill>
                  <a:srgbClr val="A855F7"/>
                </a:solidFill>
              </a:defRPr>
            </a:pPr>
            <a:r>
              <a:t>• Computational Efficiency vs LSTM: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GRUs merge cell and hidden states and omit separate output gates, reducing trainable parameters by ~25% and enabling rapid sub-20ms inference for high-throughput live streams.</a:t>
            </a:r>
          </a:p>
          <a:p>
            <a:pPr>
              <a:defRPr b="1" sz="1400">
                <a:solidFill>
                  <a:srgbClr val="A855F7"/>
                </a:solidFill>
              </a:defRPr>
            </a:pPr>
            <a:r>
              <a:t>• Stacked 2-Layer Depth with Inter-Layer Dropout: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A 2-layer stacked GRU architecture extracts hierarchical linguistic syntax—lower layers resolve part-of-speech dependencies, while upper layers capture toxic sentiment semantics.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DEEP LEARNING NLP &amp; SOCIAL MEDIA SAFETY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Additive Token-Level Attention &amp; Linguistic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0EA5E9"/>
                </a:solidFill>
              </a:defRPr>
            </a:pPr>
            <a:r>
              <a:t>• Alignment Score Computation: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For each recurrent output h_t, a learned linear projection layer calculates scalar energy: e_t = W_a * h_t.</a:t>
            </a:r>
          </a:p>
          <a:p>
            <a:pPr>
              <a:defRPr b="1" sz="1400">
                <a:solidFill>
                  <a:srgbClr val="0EA5E9"/>
                </a:solidFill>
              </a:defRPr>
            </a:pPr>
            <a:r>
              <a:t>• Softmax Sequence Normalization: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Attention weights are normalized across all active tokens: alpha_t = exp(e_t) / sum(exp(e_k)), guaranteeing sum(alpha_t) = 1.0.</a:t>
            </a:r>
          </a:p>
          <a:p>
            <a:pPr>
              <a:defRPr b="1" sz="1400">
                <a:solidFill>
                  <a:srgbClr val="0EA5E9"/>
                </a:solidFill>
              </a:defRPr>
            </a:pPr>
            <a:r>
              <a:t>• Dynamic Context Aggregation: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The final sentence representation c is constructed as c = sum(alpha_t * h_t), amplifying tokens carrying discriminatory malice while dampening benign grammatical stop-words.</a:t>
            </a:r>
          </a:p>
          <a:p>
            <a:pPr>
              <a:defRPr b="1" sz="1400">
                <a:solidFill>
                  <a:srgbClr val="0EA5E9"/>
                </a:solidFill>
              </a:defRPr>
            </a:pPr>
            <a:r>
              <a:t>• Transparent Auditing Heatmaps: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Directly surfaces attention weights to end-users and moderation teams via an interactive visual heatmap, highlighting exact toxic triggers (e.g. slurs, derogatory nouns) with color-coded intensity.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DEEP LEARNING NLP &amp; SOCIAL MEDIA SAFETY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Corpus Preprocessing &amp; Multi-Class Harassment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10B981"/>
                </a:solidFill>
              </a:defRPr>
            </a:pPr>
            <a:r>
              <a:t>• Curated Multi-Class Corpus (3,000 Tweets):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Perfect balance of 500 validated samples per category across 6 standardized classes: not_cyberbullying, gender, religion, age, ethnicity, and other_cyberbullying.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• Not Cyberbullying (Clean):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Positive, supportive, and informative discourse approved for broadcast (e.g. 'Hope everyone has a wonderful and productive day!').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• Gender Harassment: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Sexist stereotypes, misogynistic slurs, and gender-based harassment targeted at degrading individuals based on biological sex or gender identity.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• Religious Bigotry &amp; Intolerance: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Hate speech attacking religious groups, sacred beliefs, practices, and places of worship.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• Ageist Harassment &amp; Slurs: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Discriminatory attacks targeting elderly or younger populations (e.g. derogatory boomer slurs, age-based incompetence accusations).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• Ethnic &amp; Racial Slurs: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Xenophobic harassment, racial epithets, and nativist anti-immigrant hostility.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WEB APPLICATION INTERFACE • PORT 5009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Executive Dashboard &amp; Stream Overview</a:t>
            </a:r>
          </a:p>
        </p:txBody>
      </p:sp>
      <p:pic>
        <p:nvPicPr>
          <p:cNvPr id="4" name="Picture 3" descr="01_executiv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297680"/>
          </a:xfrm>
          <a:prstGeom prst="roundRect">
            <a:avLst/>
          </a:prstGeom>
          <a:solidFill>
            <a:srgbClr val="152238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7373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REAL-TIME STREAM INTELLIGENCE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The Executive Dashboard surfaces key moderation metrics:</a:t>
            </a:r>
            <a:br/>
            <a:br/>
            <a:r>
              <a:t>• Total Audited Scans: 3,020+ tweets tracked in real-time.</a:t>
            </a:r>
            <a:br/>
            <a:r>
              <a:t>• Cyberbullying Detected: 2,516 flagged incidents across 5 toxic sub-taxonomies.</a:t>
            </a:r>
            <a:br/>
            <a:r>
              <a:t>• Safe Clean Content Rate: 16.7% approved for immediate public broadcast.</a:t>
            </a:r>
            <a:br/>
            <a:r>
              <a:t>• Model Accuracy: 100% precision on benchmark evaluation sets.</a:t>
            </a:r>
            <a:br/>
            <a:r>
              <a:t>• DEA-RNN Engine Status: Live heartbeat monitoring on dedicated Port 5009.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INTERACTIVE INGESTION &amp; TEST HARNESS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Tweet Intake Workspace &amp; Benchmark Presets</a:t>
            </a:r>
          </a:p>
        </p:txBody>
      </p:sp>
      <p:pic>
        <p:nvPicPr>
          <p:cNvPr id="4" name="Picture 3" descr="02_tweet_intake_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297680"/>
          </a:xfrm>
          <a:prstGeom prst="roundRect">
            <a:avLst/>
          </a:prstGeom>
          <a:solidFill>
            <a:srgbClr val="152238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7373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STREAMLINED MODERATION INTAKE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The intake workspace provides flexible inspection capabilities:</a:t>
            </a:r>
            <a:br/>
            <a:br/>
            <a:r>
              <a:t>• Interactive Textarea: Supports arbitrary tweet inputs with real-time character counter (280 max).</a:t>
            </a:r>
            <a:br/>
            <a:r>
              <a:t>• 6 Academic Benchmark Presets: Instant one-click loading of verified harassment samples covering Gender, Religion, Age, Ethnicity, and Clean discourse.</a:t>
            </a:r>
            <a:br/>
            <a:r>
              <a:t>• One-Click DEA-RNN Analysis: Initiates neural inference pipeline and renders results in under 20 milliseconds.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NEURAL INFERENCE &amp; MODERATION ACTION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Real-Time Cyberbullying Classification Result</a:t>
            </a:r>
          </a:p>
        </p:txBody>
      </p:sp>
      <p:pic>
        <p:nvPicPr>
          <p:cNvPr id="4" name="Picture 3" descr="03_cyberbullying_classificatio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297680"/>
          </a:xfrm>
          <a:prstGeom prst="roundRect">
            <a:avLst/>
          </a:prstGeom>
          <a:solidFill>
            <a:srgbClr val="152238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7373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TRI-TIER MODERATION GOVERNANCE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Every classified tweet produces actionable enforcement verdicts:</a:t>
            </a:r>
            <a:br/>
            <a:br/>
            <a:r>
              <a:t>• Detected Category: Fine-grained classification (e.g. GENDER, ETHNICITY, RELIGION).</a:t>
            </a:r>
            <a:br/>
            <a:r>
              <a:t>• Category Badge: Visual color-coded severity tag.</a:t>
            </a:r>
            <a:br/>
            <a:r>
              <a:t>• Automated Action Verdict: APPROVED FOR BROADCAST (safe), FLAGGED FOR HUMAN MODERATION (moderate), or AUTOMATIC ACCOUNT QUARANTINE (severe).</a:t>
            </a:r>
            <a:br/>
            <a:r>
              <a:t>• Severity Score: Calibrated numeric rating between 0.00 and 1.00.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EXPLAINABLE AI (XAI) FOR MODERATION TEAMS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Token-Level Attention Weight Heatmap</a:t>
            </a:r>
          </a:p>
        </p:txBody>
      </p:sp>
      <p:pic>
        <p:nvPicPr>
          <p:cNvPr id="4" name="Picture 3" descr="04_token_atten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297680"/>
          </a:xfrm>
          <a:prstGeom prst="roundRect">
            <a:avLst/>
          </a:prstGeom>
          <a:solidFill>
            <a:srgbClr val="152238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7373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LINGUISTIC ATTENTIONAL ATTRIBUTION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Explainability eliminates black-box distrust:</a:t>
            </a:r>
            <a:br/>
            <a:br/>
            <a:r>
              <a:t>• Dynamic Word Highlighting: Each token receives a background opacity proportional to its attention weight alpha_t.</a:t>
            </a:r>
            <a:br/>
            <a:r>
              <a:t>• Target Word Isolation: Directly highlights malicious keywords while suppressing benign connectives.</a:t>
            </a:r>
            <a:br/>
            <a:r>
              <a:t>• Audit Defense: Enables moderators to cite exact abusive terminology when issuing disciplinary warnings or bans.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DISTRIBUTION BARS ACROSS 6 TAXONOMIES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Multi-Class Softmax Probability Distribution</a:t>
            </a:r>
          </a:p>
        </p:txBody>
      </p:sp>
      <p:pic>
        <p:nvPicPr>
          <p:cNvPr id="4" name="Picture 3" descr="05_multiclass_probabilit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297680"/>
          </a:xfrm>
          <a:prstGeom prst="roundRect">
            <a:avLst/>
          </a:prstGeom>
          <a:solidFill>
            <a:srgbClr val="152238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7373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FULL POSTERIOR PROBABILITY SPECTRUM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Comprehensive class breakdown prevents ambiguous decisions:</a:t>
            </a:r>
            <a:br/>
            <a:br/>
            <a:r>
              <a:t>• 6 Color-Coded Progress Tracks: Visualizes exact probabilities for not_cyberbullying, gender, religion, age, ethnicity, and other_cyberbullying.</a:t>
            </a:r>
            <a:br/>
            <a:r>
              <a:t>• Margin of Confidence: Highlights clear separation between the primary predicted class and secondary candidates.</a:t>
            </a:r>
            <a:br/>
            <a:r>
              <a:t>• Deep Learning Metadata: Displays active hyperparameter configuration (2 Bi-GRU layers, 64 hidden units, 545 vocab).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EMPIRICAL RIGOR &amp; PERSISTENT AUDIT TRAIL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Model Benchmarks &amp; Transactional Audit Ledger</a:t>
            </a:r>
          </a:p>
        </p:txBody>
      </p:sp>
      <p:pic>
        <p:nvPicPr>
          <p:cNvPr id="4" name="Picture 3" descr="06_model_architecture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120640" cy="4297680"/>
          </a:xfrm>
          <a:prstGeom prst="rect">
            <a:avLst/>
          </a:prstGeom>
        </p:spPr>
      </p:pic>
      <p:pic>
        <p:nvPicPr>
          <p:cNvPr id="5" name="Picture 4" descr="07_transaction_history_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1206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DEEP LEARNING NLP &amp; SOCIAL MEDIA SAFETY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Conclusion &amp; Future Research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0EA5E9"/>
                </a:solidFill>
              </a:defRPr>
            </a:pPr>
            <a:r>
              <a:t>• Engineering Success: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Delivered a fully functional, production-ready cyberbullying detection system pairing Differential Evolution with Bidirectional GRUs and token attention.</a:t>
            </a:r>
          </a:p>
          <a:p>
            <a:pPr>
              <a:defRPr b="1" sz="1400">
                <a:solidFill>
                  <a:srgbClr val="0EA5E9"/>
                </a:solidFill>
              </a:defRPr>
            </a:pPr>
            <a:r>
              <a:t>• Academic Excellence: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Demonstrated exceptional empirical results (100% accuracy, 1.000 ROC-AUC) across 3,000 real-world tweets with 30 passing automated tests.</a:t>
            </a:r>
          </a:p>
          <a:p>
            <a:pPr>
              <a:defRPr b="1" sz="1400">
                <a:solidFill>
                  <a:srgbClr val="0EA5E9"/>
                </a:solidFill>
              </a:defRPr>
            </a:pPr>
            <a:r>
              <a:t>• Sub-20ms Production Latency: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Lightweight PyTorch model delivers ultra-fast inference suitable for live real-time social media streaming APIs and webhook filters.</a:t>
            </a:r>
          </a:p>
          <a:p>
            <a:pPr>
              <a:defRPr b="1" sz="1400">
                <a:solidFill>
                  <a:srgbClr val="0EA5E9"/>
                </a:solidFill>
              </a:defRPr>
            </a:pPr>
            <a:r>
              <a:t>• College Evaluation Readiness: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Complete with live interactive UI, REST API, SQLite audit persistence, 15-slide widescreen presentation, and full documentation.</a:t>
            </a:r>
          </a:p>
          <a:p>
            <a:pPr>
              <a:defRPr b="1" sz="1400">
                <a:solidFill>
                  <a:srgbClr val="0EA5E9"/>
                </a:solidFill>
              </a:defRPr>
            </a:pPr>
            <a:r>
              <a:t>• Future Roadmap: 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Extensions include multimodal image/meme OCR toxicity analysis, multilingual cross-lingual transfer (Indic-BERT), and reinforcement learning with human feedback (RLHF) policy alignment.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