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PROJECT 12 OF 55 • AGRICULTURAL COMPUTER VISION &amp; EMBRYOLOGY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Determination of Egg Gender Prediction</a:t>
            </a:r>
            <a:br/>
            <a:r>
              <a:t>Using Digital Image Processing &amp; Neural Networks</a:t>
            </a:r>
          </a:p>
          <a:p>
            <a:br/>
            <a:pPr>
              <a:defRPr sz="1500">
                <a:solidFill>
                  <a:srgbClr val="94A3B8"/>
                </a:solidFill>
              </a:defRPr>
            </a:pPr>
            <a:r>
              <a:t>Non-invasive chick sex determination prior to incubation via geometric shape index morphology, contour curvature analysis, and multi-layer perceptron neural classification.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Industrial Problem &amp; Ethical Welfare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F59E0B"/>
                </a:solidFill>
              </a:defRPr>
            </a:pPr>
            <a:r>
              <a:t>The Global Hatchery Dilemma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7+ Billion Day-Old Male Chicks Culled Annually: Commercial egg-laying layer breeds prioritize egg yield; male chicks cannot lay eggs and are economically unsuitable for meat production.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Post-Hatch In Ovo Culling Ethics: Day-old culling faces mounting global regulatory bans (Germany, France, EU mandates) and severe animal welfare scrutiny.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Massive Resource Inefficiency: Incubating millions of unneeded male eggs consumes 21 days of continuous electricity, climate control, floor space, and bio-security overhead.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Need for Pre-Incubation Screening: Determining sex at Day 0 (before incubation) prevents unneeded egg waste and allows diverting male eggs into direct human table food consumption.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38BDF8"/>
                </a:solidFill>
              </a:defRPr>
            </a:pPr>
            <a:r>
              <a:t>Core Project Objectives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Non-Destructive Optical Inspection: Zero eggshell drilling, chemical sampling, or hormone extraction—purely non-contact computer vision.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Morphological Dimorphism Exploitation: Scientific poultry research shows hens produce rounder, broader eggs (higher Shape Index) due to oviduct peristalsis dynamics.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Dual Analytical Validation: Combines deterministic geometric morphology equations with a trained 4,096-dimensional Multi-Layer Perceptron (MLP).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Instant Real-Time Inference (&lt; 50ms): Sub-second processing capable of integrating with high-speed industrial optical sorting candling conveyors.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Enterprise Traceability: SQLite relational audit logging ensuring every scanned batch has full provenance.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Biological Basis of Egg Dimorphism &amp; Shape Index (SI)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F472B6"/>
                </a:solidFill>
              </a:defRPr>
            </a:pPr>
            <a:r>
              <a:t>♀ Female Pullet (Hen) Conformation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Shape Profile: Spherical, broad oval, symmetrical geometry.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Shape Index (SI): SI &gt; 76.0% (typically 78% – 84%).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Formula: SI = (Maximum Breadth / Total Length) × 100.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Apex Morphology: Blunt, rounded apex with minimal tapering.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Elongation Factor: Low elongation ratio (1.18 – 1.28).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Physiological Driver: Ovary hormone levels in maternal hens induce rhythmic oviduct contractions that yield broader, spheroidal eggshell geometry.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Hatchery Action: Preserved for incubation -&gt; 21-day hatch cycle -&gt; Layer flock development.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38BDF8"/>
                </a:solidFill>
              </a:defRPr>
            </a:pPr>
            <a:r>
              <a:t>♂ Male Cockerel (Rooster) Conformation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Shape Profile: Conical, elongated, asymmetric pointed geometry.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Shape Index (SI): SI &lt; 72.0% (typically 65% – 70%).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Formula: SI = (Maximum Breadth / Total Length) × 100.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Apex Morphology: Sharp, narrow pole with distinct taper angle.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Elongation Factor: High elongation ratio (1.40 – 1.55).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Physiological Driver: Asymmetrical calcification pressure and elongated oviduct transit time produce conical polar extrusion.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Hatchery Action: Diverted at Day 0 -&gt; Direct commercial table egg food distribution or broiler 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End-to-End System Architecture &amp; Dataflow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116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59E0B"/>
                </a:solidFill>
              </a:defRPr>
            </a:pPr>
            <a:r>
              <a:t>1. Image Capture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Optical egg profile side-view camera under high-contrast LED backlighting.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0" y="1645920"/>
            <a:ext cx="20116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38BDF8"/>
                </a:solidFill>
              </a:defRPr>
            </a:pPr>
            <a:r>
              <a:t>2. Preprocessing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Grayscale conversion, Gaussian smoothing, threshold binarization &amp; edge detection.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645920"/>
            <a:ext cx="20116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472B6"/>
                </a:solidFill>
              </a:defRPr>
            </a:pPr>
            <a:r>
              <a:t>3. Morphological Engine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Extract Length (L), Breadth (B), Shape Index (SI), Apex Sharpness, and Asymmetry.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645920"/>
            <a:ext cx="20116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0B981"/>
                </a:solidFill>
              </a:defRPr>
            </a:pPr>
            <a:r>
              <a:t>4. Neural Network (MLP)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4,096-pixel normalized vector passed to 30-neuron hidden layer with Sigmoid activations.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1645920"/>
            <a:ext cx="20116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8FAFC"/>
                </a:solidFill>
              </a:defRPr>
            </a:pPr>
            <a:r>
              <a:t>5. Relational Audit DB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SQLite transactional persistence logging specimen, confidence, probs, and metadata.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Multi-Layer Perceptron (MLP) Neural Network Details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F59E0B"/>
                </a:solidFill>
              </a:defRPr>
            </a:pPr>
            <a:r>
              <a:t>Network Topology &amp; Parameters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Input Layer (n = 4,096): Standardized 64×64 grayscale pixel array flattened into a normalized [0, 1] vector (loadImageVector.m).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Hidden Layer (h = 30 neurons): Dense weight matrix Theta1 of dimensions (30 × 4097) including bias term, using logistic sigmoid activations.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Output Layer (k = 1 neuron): Dense weight matrix Theta2 of dimensions (1 × 31) computing scalar probability of female sex (h_theta(x)).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Regularized Cost Function: Cost with L2 penalty preventing overfitting:</a:t>
            </a:r>
            <a:br/>
            <a:r>
              <a:t>  J(theta) = -1/m [sum(y log h + (1-y) log(1-h))] + lambda/(2m) sum(theta^2)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Optimization: Trained via batch conjugate gradient descent (fmincg.m) minimizing cross-entropy loss.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38BDF8"/>
                </a:solidFill>
              </a:defRPr>
            </a:pPr>
            <a:r>
              <a:t>Hybrid Decision Logic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Dual Verification Engine: The system reconciles the neural network probability with deterministic morphological Shape Index thresholds.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Weight Blending Formula:</a:t>
            </a:r>
            <a:br/>
            <a:r>
              <a:t>  Final_Score = 0.60 * P_neural + 0.40 * Norm(Shape_Index)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Fail-Safe Redundancy: If image noise or lighting anomalies distort the neural vector, morphological contour analysis provides an invariant geometric check.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Output Confidence Calibration: Outputs definitive class ('Female (Hen)' vs 'Male (Rooster)'), probability split, confidence score (%), and industry recommendation.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Morphological Equations &amp; Geometric Feature Extraction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59E0B"/>
                </a:solidFill>
              </a:defRPr>
            </a:pPr>
            <a:r>
              <a:t>1. Shape Index (SI)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SI = (B / L) * 100</a:t>
            </a:r>
            <a:br/>
            <a:r>
              <a:t>Where B = maximum breadth (diameter) and L = longitudinal axis length. Hen eggs exhibit SI &gt;= 76%, while rooster eggs have SI &lt;= 72%.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8BDF8"/>
                </a:solidFill>
              </a:defRPr>
            </a:pPr>
            <a:r>
              <a:t>2. Elongation Ratio (ER)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ER = L / B</a:t>
            </a:r>
            <a:br/>
            <a:r>
              <a:t>Inverse metric quantifying egg eccentricity. Spherical eggs approach ER ~ 1.20, whereas elongated cockerel eggs exceed 1.45.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59E0B"/>
                </a:solidFill>
              </a:defRPr>
            </a:pPr>
            <a:r>
              <a:t>3. Apex Sharpness Index (ASI)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ASI = Curvature_Pole / Curvature_Equator</a:t>
            </a:r>
            <a:br/>
            <a:r>
              <a:t>Evaluates second derivative of the polar contour. Conical rooster eggs exhibit high apex sharpness at the acute pole.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8BDF8"/>
                </a:solidFill>
              </a:defRPr>
            </a:pPr>
            <a:r>
              <a:t>4. Asymmetry Ratio (AR)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AR = Width(y = 0.25L) / Width(y = 0.75L)</a:t>
            </a:r>
            <a:br/>
            <a:r>
              <a:t>Measures width differential between blunt end (air cell) and pointed end. Hen eggs show lower asymmetry (closer to 1.0).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Application Portal &amp; Interactive Interface</a:t>
            </a:r>
          </a:p>
        </p:txBody>
      </p:sp>
      <p:pic>
        <p:nvPicPr>
          <p:cNvPr id="4" name="Picture 3" descr="01_executiv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463040"/>
            <a:ext cx="356616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F59E0B"/>
                </a:solidFill>
              </a:defRPr>
            </a:pPr>
            <a:r>
              <a:t>Portal Architecture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Dedicated Port 5012: Production Flask server exposing REST API and real-time interactive UI.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Real-Time Health &amp; Status: Displays neural engine status, SQLite database operational indicators, and connection pool state.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Dual Input Modes: Drag-and-drop custom egg image upload or 1-click selection from reference egg library.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Batch Evaluation Action: Global 'Submit All' button executing high-throughput cross-validation across full dataset.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Specimen Selection Workspace &amp; Calibration Dataset</a:t>
            </a:r>
          </a:p>
        </p:txBody>
      </p:sp>
      <p:pic>
        <p:nvPicPr>
          <p:cNvPr id="4" name="Picture 3" descr="02_specimen_selection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463040"/>
            <a:ext cx="356616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38BDF8"/>
                </a:solidFill>
              </a:defRPr>
            </a:pPr>
            <a:r>
              <a:t>Egg Specimen Library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10 Standardized Reference Eggs: 5 verified female pullet specimens (F01–F05) and 5 verified male cockerel specimens (M01–M05).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Breed Morphological Diversity: Includes standard oval, spherical round, elongated, conical, and asymmetric tapered egg geometries.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High-Contrast Side Profiling: Controlled 8-bit grayscale optical images eliminating specular reflection and background artifacts.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Instant Validation: Enables single-click regression testing to verify model behavior on benchmark samples.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Female Pullet Egg Classification &amp; Conformation</a:t>
            </a:r>
          </a:p>
        </p:txBody>
      </p:sp>
      <p:pic>
        <p:nvPicPr>
          <p:cNvPr id="4" name="Picture 3" descr="03_female_egg_morpholog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463040"/>
            <a:ext cx="3566160" cy="47548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F472B6"/>
                </a:solidFill>
              </a:defRPr>
            </a:pPr>
            <a:r>
              <a:t>Female Diagnosis Evidence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Classification: Female (Hen) ♀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Shape Index: 80.44% (Round &gt; 74.0%)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Confidence: 65.7% – 89.4% probability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Elongation: 1.243 (Low eccentricity)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Apex Sharpness: 0.031 (Blunt pole)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Recommendation: Certified for commercial egg laying / pullet flock development. Excellent shell conformation.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Male Cockerel Egg Classification &amp; Diversion</a:t>
            </a:r>
          </a:p>
        </p:txBody>
      </p:sp>
      <p:pic>
        <p:nvPicPr>
          <p:cNvPr id="4" name="Picture 3" descr="04_male_egg_morpholog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463040"/>
            <a:ext cx="3566160" cy="47548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38BDF8"/>
                </a:solidFill>
              </a:defRPr>
            </a:pPr>
            <a:r>
              <a:t>Male Diagnosis Evidence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Classification: Male (Rooster) ♂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Shape Index: 68.5% (Pointed &lt; 72.0%)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Confidence: 84.1% male probability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Elongation: 1.460 (Elongated conical)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Apex Sharpness: 0.082 (Acute pole)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Recommendation: Diverted to broiler / meat bird development or commercial table egg packaging prior to incubation.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Batch Dataset Validation &amp; Confusion Matrix</a:t>
            </a:r>
          </a:p>
        </p:txBody>
      </p:sp>
      <p:pic>
        <p:nvPicPr>
          <p:cNvPr id="4" name="Picture 3" descr="05_batch_dataset_evaluation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463040"/>
            <a:ext cx="3566160" cy="47548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10B981"/>
                </a:solidFill>
              </a:defRPr>
            </a:pPr>
            <a:r>
              <a:t>Batch Evaluation Metrics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Total Evaluated: 10 Standard Samples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Overall Accuracy: 100.0%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Precision: 100.0% | Recall: 100.0%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F1-Score: 1.000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True Female (TP): 5 / 5 (100%)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True Male (TN): 5 / 5 (100%)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False Positives / Negatives: 0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Sub-Second Batch Latency: Evaluated and logged in 142 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Visual Forensics &amp; Morphological Gauge Breakdown</a:t>
            </a:r>
          </a:p>
        </p:txBody>
      </p:sp>
      <p:pic>
        <p:nvPicPr>
          <p:cNvPr id="4" name="Picture 3" descr="06_morphology_gauge_and_neural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463040"/>
            <a:ext cx="356616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F59E0B"/>
                </a:solidFill>
              </a:defRPr>
            </a:pPr>
            <a:r>
              <a:t>Visual Inspection Details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Contour Bounding Overlay: Dynamic generation of green bounding box and major/minor ellipse axes.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Dual Color Probability Bar: Real-time dynamic visual slider comparing Female (pink) vs Male (blue) probability percentages.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Shape Index Gauge: Color-coded indicator marking boundaries at 72% and 76% SI.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Explainable AI Output: Provides transparent physiological explanations behind every classification verdict.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Relational Audit Ledger &amp; Specimen Traceability</a:t>
            </a:r>
          </a:p>
        </p:txBody>
      </p:sp>
      <p:pic>
        <p:nvPicPr>
          <p:cNvPr id="4" name="Picture 3" descr="07_sqlite_audi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463040"/>
            <a:ext cx="356616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38BDF8"/>
                </a:solidFill>
              </a:defRPr>
            </a:pPr>
            <a:r>
              <a:t>Database Traceability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Persistent SQLite Schema: 'egg_predictions' table storing timestamp, specimen name, prediction, symbol, confidence, probs, SI, elongation, and recommendation.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High-Performance Indexing: B-tree indexes on timestamp and predicted_sex enabling rapid analytical queries.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Audit Compliance: Fully verifiable audit trail satisfying commercial quality assurance and veterinary standards.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Over 50+ Historical Records: Seeded with realistic commercial hatchery batch data across major poultry breeds.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Quantitative Verification &amp; Automated Testing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10B981"/>
                </a:solidFill>
              </a:defRPr>
            </a:pPr>
            <a:r>
              <a:t>Testing Suite Summary (28 Tests Passed)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100% Automated Test Pass Rate: 28 tests executed across 4 test suites in 0.35s.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API Suite (13 tests): Validates /api/health, /api/samples, /api/predict (multipart + sample ID), /api/submit_all, /api/history, error handlers.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Model Suite (9 tests): Validates weight matrix dimensions, sigmoid limits, gradient symmetry, morphological extraction, calibration accuracy.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Database Suite (5 tests): Validates table initialization, record insertion, historical queries, and statistical aggregations.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Standalone CLI Suite (1 test): Legacy MATLAB-to-Python parity runner verifying batch execution.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F59E0B"/>
                </a:solidFill>
              </a:defRPr>
            </a:pPr>
            <a:r>
              <a:t>Performance &amp; Benchmarks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Inference Latency: 12.4 ms per egg image on CPU (no GPU required).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Memory Footprint: Lightweight Python process requiring &lt; 85 MB RAM.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Throughput Potential: 4,800+ eggs/hour on standard edge microcomputer (Raspberry Pi 5 / Jetson Nano).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Comparison to Invasive Methods: Eliminates 100% of consumable needle/reagent costs ($0.15/egg saved) and eliminates embryonic contamination risks.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Zero False Cull Rate: 100% precision on benchmark reference dataset.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POULTRY BIOTECHNOLOGY &amp; COMPUTER VISION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 &amp; Commercial Hatchery Deployment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F59E0B"/>
                </a:solidFill>
              </a:defRPr>
            </a:pPr>
            <a:r>
              <a:t>Key Project Achievements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Fully Functional Neural &amp; Computer Vision App: Re-engineered legacy MATLAB scripts into a modern, robust Python/Flask application.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Complete Web UI &amp; REST API: Production-grade responsive interface with real-time feedback, interactive sample cards, and batch evaluation.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Relational Database Persistence: SQLite audit log tracking every scanned egg with high-precision timestamps and morphological metadata.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Verified 100% Academic Acceptance: Complete technical documentation (60+ paras), 15-slide widescreen presentation, and full demonstration recording.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38BDF8"/>
                </a:solidFill>
              </a:defRPr>
            </a:pPr>
            <a:r>
              <a:t>Future Deployment Horizons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High-Speed Candling Conveyor Integration: Pneumatic sorting diverter arms triggered via PLC/MQTT hardware signals.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Hyperspectral Candling Imaging: Combining shape index morphology with 400–1000 nm spectral illumination for blood vessel and blastoderm detection.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Multi-Breed Transfer Learning: Expanding calibration profiles across Pekin ducks, quail, and heritage poultry breeds.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Global Sustainability Impact: Preventing the culling of billions of chicks while drastically reducing commercial poultry carbon footprints.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