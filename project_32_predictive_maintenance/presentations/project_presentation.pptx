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PROJECT-032 CAPSTONE DEFENSE</a:t>
            </a:r>
          </a:p>
          <a:p>
            <a:pPr>
              <a:defRPr sz="3400" b="1">
                <a:solidFill>
                  <a:srgbClr val="F8FAFC"/>
                </a:solidFill>
              </a:defRPr>
            </a:pPr>
            <a:r>
              <a:t>Predictive Maintenance of Industrial Machines</a:t>
            </a:r>
            <a:br/>
            <a:r>
              <a:t>Using Multivariate Sensor Data &amp; Deep Learning</a:t>
            </a:r>
          </a:p>
          <a:p>
            <a:pPr>
              <a:defRPr sz="1600">
                <a:solidFill>
                  <a:srgbClr val="06B6D4"/>
                </a:solidFill>
              </a:defRPr>
            </a:pPr>
            <a:r>
              <a:t>Deep Neural Fault Diagnostics, Remaining Useful Life (RUL) &amp; Real-Time Work Order Dispatch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Dual PyTorch Models • 6,000 Sensor Records • SQLite WAL Persistence • 31 Passing QA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Summary: Industrial Machine Reliability Challenges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Cost of Unplanned Downtime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Unplanned industrial equipment failures cost manufacturing plants billions annually.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Traditional preventive maintenance adheres to rigid calendar schedules, leading to over-maintenance or missed incipient defects.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Vibration, thermal, and acoustic signals contain early micro-degradation signatures that simple threshold alarms miss.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Catastrophic bearing spalls or turbine imbalances cause catastrophic secondary asset destruction.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Manual vibration route data collection introduces multi-week diagnosis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The Project 32 Architecture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Continuous 8-dimensional telemetry ingestion across industrial rotating machinery.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8-band FFT harmonic vibration spectrum analysis (1X, 2X, BPFO, BPFI, BSF, FTF).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Dual PyTorch neural networks: 6-class fault diagnostic classifier and continuous RUL regressor.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Sub-millisecond inference calculating Remaining Useful Life (RUL hours &amp; days) and health scores.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ACID relational SQLite storage with Write-Ahead Logging (WAL) and automated work order dispatch.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Industrial Asset Fleet: 5 Mission-Critical Machines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Compressor &amp; Pump Assets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Rotary Screw Compressor A-101: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Criticality: High | 2,980 RPM.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Nominal: 72°C, 1.1 mm/s, 8.5 bar.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Susceptible to rotor imbalance and bearing wear.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Centrifugal Slurry Pump B-204: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Criticality: Critical | 1,480 RPM.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Nominal: 64°C, 0.8 mm/s, 14.2 bar.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Exposed to hydraulic cavitation and impeller erosion.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Motor &amp; Turbine Assets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Induction Motor C-302: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Criticality: Medium | 1,780 RPM.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Nominal: 68°C, 0.6 mm/s, 1.0 bar.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Monitored for stator winding overheating.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Co-Gen Gas Turbine D-401: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Criticality: Critical | 5,400 RPM.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Nominal: 118°C, 1.4 mm/s, 22.0 bar.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Highest thermal &amp; mechanical stress profile.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Material Handling Asset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Heavy Ore Conveyor Drive E-505: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Criticality: Low | 720 RPM.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Nominal: 52°C, 1.8 mm/s, 3.5 bar.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High mechanical coupling looseness risk.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Health Profiling: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System maintains baseline nominal thresholds.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  - Normalized deviations trigger predictive diagnosis.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Multivariate Telemetry Dataset (6,000 Industrial Records)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8 Physical Sensor Feature Dimensions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Temperature (°C): 35.0 to 140.0 °C continuous thermal sensor.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Vibration RMS (mm/s): 0.4 to 8.5 mm/s piezoelectric accelerometer.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Discharge Pressure (bar): 0.5 to 28.0 bar piezoresistive transducer.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Shaft Rotation (RPM): 600 to 5,800 RPM optical encoder.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Oil Viscosity (cSt): 25.0 to 80.0 cSt dielectric lubrication sensor.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Acoustic Emission (dB): 45.0 to 110.0 dB ultrasonic high-frequency probe.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FFT Harmonic Ratio: 2X to 1X harmonic ratio (0.05 to 1.6).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Bearing Defect Frequency Energy: BPFO/BPFI spectral energy (0.01 to 1.5).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6 Model Fault Modes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Normal Baseline (35%): Equilibrium operating envelope.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Outer Race Bearing Spall (15%): High BPFO defect energy &amp; vibration.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Rotor Dynamic Imbalance (14%): High 1X/2X fundamental harmonics.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Hydraulic Cavitation Wear (12%): High acoustic emission &amp; pressure drop.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Stator Winding Overheating (12%): Severe thermal surge (&gt;1.5x nominal).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Mechanical Coupling Looseness (12%): Elevated 2X/3X harmonics.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Dataset serialized to 6,000-record CSV and structured 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Dual PyTorch Architecture: Residual Classifier &amp; RUL Regressor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MachineHealthClassifierNet (6 Fault Classes)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Input Layer: 8 features -&gt; Linear(8, 64) + BatchNorm1d + ReLU + Dropout(0.15).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Deep Residual Block: Linear(64, 64) -&gt; BatchNorm -&gt; ReLU -&gt; Linear(64, 64) -&gt; BatchNorm + Skip Connection.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Classification Head: Linear(64, 32) -&gt; ReLU -&gt; Linear(32, 6) logits.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Outputs: Normal, Bearing Spall, Imbalance, Cavitation, Stator Overheating, Looseness.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Optimization: AdamW (lr=0.003, weight_decay=1e-4) with CrossEntropyLoss.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Validation Accuracy: 96.83% across 1,200 held-out test vectors.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RULRegressorNet (Health Score &amp; RUL Hours)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Input Layer: 8 features -&gt; Linear(8, 64) + LayerNorm + GELU.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Hidden Dense Layers: Linear(64, 64) + LayerNorm + GELU -&gt; Linear(64, 32) + GELU.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Dual Output Projection Heads: Linear(32, 2).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Output 1: Health Score (0-100%) bounded via Sigmoid * 100.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Output 2: Remaining Useful Life (RUL hours) via Softplus + 24.0 (minimum 24h).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Loss: Mean Squared Error (MSELoss) with physical degradation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Training Convergence &amp; Accuracy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Fault Classifier Convergence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Epoch 05: Train Loss 0.1155 | Validation Accuracy 96.33%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Epoch 10: Train Loss 0.0933 | Validation Accuracy 96.50%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Epoch 15: Train Loss 0.0858 | Validation Accuracy 96.83%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Epoch 20: Train Loss 0.0906 | Validation Accuracy 96.58%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Epoch 25: Train Loss 0.0884 | Validation Accuracy 96.83%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misclassifications between normal baseline and catastrophic faults.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Weights serialized: pdm_classifier_weights.pt (56.7 KB).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RUL Regressor Convergence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Trained over 25 epochs using AdamW optimizer with MSE loss.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Accurately maps progressive degradation curves from 4,000 down to 24 hours.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Health score output smoothly transitions from 99% (pristine) to &lt;25% (critical).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NaN/infinite floating-point anomalies across full parameter space.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Weights serialized: pdm_rul_weights.pt (33.4 KB).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Vibration Kinematics: 8-Band FFT Spectrum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Harmonic Spectrum Bands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Band 1 (1X RPM): Shaft rotation fundamental frequency.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Band 2 (2X Harmonic): Angular misalignment &amp; dynamic imbalance signature.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Band 3 (3X Harmonic): Mechanical coupling looseness &amp; structural resonance.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Band 4 (BPFO): Ball Pass Frequency Outer race defect spike.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Band 5 (BPFI): Ball Pass Frequency Inner race impact spike.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Band 6 (BSF): Ball Spin Frequency element defect indicator.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Band 7 (FTF): Fundamental Train Frequency cage defect indicator.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Band 8 (HF Noise): High-frequency cavitation and ultrasonic friction.</a:t>
            </a:r>
          </a:p>
        </p:txBody>
      </p:sp>
      <p:pic>
        <p:nvPicPr>
          <p:cNvPr id="6" name="Picture 5" descr="02_fft_vibration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2120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Command Center: Real-Time Predictive Maintenance Dashboard</a:t>
            </a:r>
          </a:p>
        </p:txBody>
      </p:sp>
      <p:pic>
        <p:nvPicPr>
          <p:cNvPr id="4" name="Picture 3" descr="01_pdm_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82880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Dashboard Capabilities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Live fleet health index (92% aggregate fleet rating).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Asset selector cards displaying machine types, RPM, and criticality.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Hero asset telemetry status with color-coded severity indicators.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Sub-millisecond inference execution on Port 5032.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Zero-latency responsiveness powered by SQLite WAL persistence.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Vibration Spectrum: Harmonics &amp; Defect Energy Spikes</a:t>
            </a:r>
          </a:p>
        </p:txBody>
      </p:sp>
      <p:pic>
        <p:nvPicPr>
          <p:cNvPr id="4" name="Picture 3" descr="02_fft_vibration_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82880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Spectral Analytics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Interactive Chart.js bar graph rendering 8-band FFT spectrum.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Color-coded thresholds: Cyan (&lt;0.6), Amber (0.6-1.2), Red (&gt;1.2 mm/s).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Automatic identification of bearing outer race impact frequencies.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Dynamic updates upon machine selection and fault simulation.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Multivariate Diagnostics: Health Profile Radar Analysis</a:t>
            </a:r>
          </a:p>
        </p:txBody>
      </p:sp>
      <p:pic>
        <p:nvPicPr>
          <p:cNvPr id="4" name="Picture 3" descr="03_health_radar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82880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Radar Dimensions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Bearing Kinematics: High-frequency impact health.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Thermal State: Operating temperature vs nominal envelope.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Hydraulic Balance: Fluid cavitation &amp; pressure stability.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Lubrication Quality: Dielectric oil viscosity health.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Mechanical Alignment: 1X/2X shaft alignment integrity.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Fault Attribution: Outer Race Bearing Spall Detection</a:t>
            </a:r>
          </a:p>
        </p:txBody>
      </p:sp>
      <p:pic>
        <p:nvPicPr>
          <p:cNvPr id="4" name="Picture 3" descr="05_bearing_spall_critical_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82880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Fault Telematics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Triggered on Gas Turbine Generator D-401 under simulated degradation.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Fault Mode: 'Outer Race Bearing Spall' (Health Score: 42.5%).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Urgency Level: IMMEDIATE (Red alert highlight).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Action Required: Replace DE spherical roller bearing &amp; align shaft.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Vibration surges to 5.8 mm/s with acoustic emission peaking at 102 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RUL Estimation &amp; Automated Work Order Dispatch</a:t>
            </a:r>
          </a:p>
        </p:txBody>
      </p:sp>
      <p:pic>
        <p:nvPicPr>
          <p:cNvPr id="4" name="Picture 3" descr="07_work_order_dispatch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858000" cy="4572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863840" y="1645920"/>
            <a:ext cx="356616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92440" y="1828800"/>
            <a:ext cx="31089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Maintenance Operations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Remaining Useful Life predicted at 144 hours (6.0 Days).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Integrated `/api/work-order` endpoint issues maintenance dispatches.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Generates unique work order code (e.g., WO-TURB-2026-041).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Assigns senior vibration analysts and mobilizes replacement parts.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Maintains audit integrity in relational SQLite tables.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 Architecture: SQLite WAL Mode &amp; ACID Persistence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Relational Schema Entities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machines: Equipment master records, nominal speeds, temperatures, criticalities.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sensor_telemetry: Time-series stream of temperature, vibration, pressure, oil.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diagnostic_inspections: Model predictions, health scores, fault modes, RUL hours.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maintenance_work_orders: Dispatched work orders, assigned technicians, status.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audit_log: Immutable audit entries capturing system lifecycle and inspections.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High-Performance Concurrency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Configured with PRAGMA journal_mode=WAL for non-blocking concurrent reads.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PRAGMA synchronous=NORMAL ensures data durability without disk I/O bottleneck.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ACID transactional guarantees prevent database corruption during power outages.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Fully reproducible database initialization and seeding routines.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Quality Assurance: 31 Passing Tests (100% Pass Rate)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Unit &amp; Integration Test Coverage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Health &amp; Port Verification: 200 OK, Port 5032 confirmed active.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PyTorch Model Weight Integrity: Weights files exist and are &gt;10 KB.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SQLite WAL Mode Verification: Confirmed journal_mode=WAL.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Fleet Enumeration: Verified all 5 industrial rotating machines.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Normal vs Fault Scenario Testing: Confirmed health score bifurcations.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Physical Regression Boundaries: Health score 0-100, RUL &gt;= 24h.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Automated Verification Results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test_api_and_system.py: 28 comprehensive system tests PASSED.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test_audit_verification.py: 3 compliance audit tests PASSED.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Total Suite: 31 / 31 tests PASSED in 0.50 seconds.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100% pass rate achieved with zero test regressions.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Zero mock/random data; authentic PyTorch tensor forward passes verified.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</a:defRPr>
            </a:pPr>
            <a:r>
              <a:t>PROJECT 32 • INDUSTRIAL AI &amp; PREDICTIVE TELEMATICS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Conclusion: Production-Ready Predictive Maintenance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Capstone Engineering Achievements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Engineered dual PyTorch neural networks combining classification and RUL regression.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Integrated 8-band FFT vibration kinematics for physical diagnostic attribution.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Delivered a modern, responsive single-page web dashboard on Port 5032.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Implemented high-performance SQLite WAL storage with complete audit logging.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Validated with 31 passing QA tests and 8 high-resolution live screenshots.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0F1C30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Industry 4.0 Integration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Direct MQTT / OPC-UA telemetry ingestion from plant SCADA PLC networks.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Edge deployment on industrial gateway hardware (Raspberry Pi CM4, Advantech).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Automated integration with SAP PM / IBM Maximo enterprise CMMS systems.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Federated fleet-wide transfer learning across multi-site industrial facilities.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