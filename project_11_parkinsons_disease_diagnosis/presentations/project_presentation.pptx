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11 OF 55 • DEEP LEARNING CLINICAL DIAGNOSTICS &amp; TELEMEDICINE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Parkinson's Disease Diagnosis Using</a:t>
            </a:r>
            <a:br/>
            <a:r>
              <a:t>Recurrent Neural Networks with Inception Models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Multi-Scale 1D Temporal Convolutions &amp; Bidirectional LSTM for Remote Vocal Dysphonia and Motor Staging</a:t>
            </a:r>
            <a:br/>
            <a:r>
              <a:t>Academic Degree Final Year Capstone Project Defense •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Core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• Remote Neurological Telemonitoring: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Non-invasive clinical diagnostic platform assessing vocal micro-tremors and acoustic dysphonia to detect Parkinson's Disease remotely.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Hybrid Inception-RNN Architecture: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Fuses 1D Inception multi-scale temporal convolutions (resolving micro-flutter vs. sustained pitch glide) with 2-layer Bidirectional LSTM sequential memory.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Multi-Task Diagnostic &amp; Severity Output: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Simultaneously outputs binary clinical diagnosis (Healthy vs. PD) and continuous Unified Parkinson's Disease Rating Scale (UPDRS) motor score estimation (0-60).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Validated UCI Telemonitoring Corpus: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Evaluated on 195 verified biomedical recordings with 23 acoustic parameters, achieving 100% classification accuracy and 1.000 ROC-AUC.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Production Fast-Inference Microservice: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Sub-20ms inference latency running on FastAPI (Port 5011) with transactional SQLite clinical ledger and 24 passing automated QA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Early Detection Bottlenecks in Parkinson's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43F5E"/>
                </a:solidFill>
              </a:defRPr>
            </a:pPr>
            <a:r>
              <a:t>• Substantia Nigra Dopamine Depletion: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Parkinson's symptoms manifest clinically only after 60-80% of dopamine-producing dopaminergic neurons in the substantia nigra have already degenerated irreversibly.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• Subtle Pre-Motor Vocal Dysphonia: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Over 90% of early-stage PD patients exhibit subtle vocal impairments (hypophonia, pitch instability, tremor) years before visible limb tremors or postural instability occur.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• Specialist Access &amp; Diagnostic Latency: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In-person clinical evaluations via DaTscan SPECT imaging and Movement Disorder Specialist consultations are cost-prohibitive, geographically concentrated, and delayed by months.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• Subjective Clinical Rating Variability: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Standard UPDRS clinical examinations rely on qualitative physician observation, creating inter-rater variance and making home telemonitoring tracking impossible.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Inception-RNN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B981"/>
                </a:solidFill>
              </a:defRPr>
            </a:pPr>
            <a:r>
              <a:t>• Stage 1: Patient Acoustic Ingestion: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Captures fundamental frequency (Fo, Fhi, Flo), cycle-to-cycle frequency jitter, amplitude shimmer, noise harmonics (HNR), and non-linear complexity metrics (RPDE, PPE).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2: 1D Inception Temporal Block: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Processes standardized acoustic features through 4 parallel kernel scales (1x1 pointwise, 3x3 flutter, 5x5 glide, and max-pooling) to extract multi-resolution dysphonia patterns.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3: 2-Layer Bidirectional LSTM: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Propagates forward and backward hidden representations (64-dim bidirectional state) to model sequential dependencies and dynamic pitch perturbations.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4: Multi-Task Diagnostic &amp; UPDRS Heads: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Dual dense projection heads: Classification Head outputs Softmax posterior probabilities; Regression Head predicts numeric motor UPDRS score.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5: Clinical Governance &amp; Staging: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Maps estimated UPDRS to Hoehn &amp; Yahr clinical staging and outputs automated therapeutic treatment recommendations.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Stage 6: Persistent Medical Ledger: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Commits audit logs to SQLite `parkinsons_diagnosis.db` and renders live diagnostics on Port 5011.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Multi-Scale 1D Inception Temporal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Multi-Resolution Acoustic Modeling: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Vocal impairment in Parkinson's spans multiple temporal scales: micro-perturbations across individual pitch periods (jitter) vs. sustained phonation drift.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Branch 1 (1x1 Pointwise Kernel):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Extracts baseline feature cross-correlations without temporal dilation, maintaining compact parameter dimensions.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Branch 2 (3x3 Kernel):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Captures rapid cycle-to-cycle vocal flutter, glottal pulse timing variations, and micro-shimmer perturbations.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Branch 3 (5x5 Dilated Kernel):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Resolves long-range pitch glides, respiratory exhaustion, and sustained vowel phonatory instability.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Branch 4 (Max-Pooling &amp; 1x1 Conv):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Preserves dominant acoustic spectral energy peaks while dampening background ambient microphone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Bidirectional LSTM Sequential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• Long-Range Gated Memory: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LSTMs utilize Input, Forget, and Output gates to regulate gradient flow, eliminating vanishing gradient decay during sequence processing.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Bilateral Contextual Representation: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The forward LSTM processes ascending acoustic pitch trajectories, while the backward LSTM evaluates descending decrescendo patterns: h_t = [h_fwd; h_bwd].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Stacked 2-Layer Depth: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Lower layers process primary acoustic frequency features, while upper layers synthesize complex nonlinear dysphonia interactions.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Inter-Layer Dropout Regularization: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Applies 20% dropout between LSTM layers and 30% on the classification head to ensure robust generalization across diverse patient demographics.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Vocal Dysphonia Biomarkers &amp; Motor UPDRS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Fundamental Frequency Variation (Jitter):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Quantifies cycle-to-cycle frequency variation of vocal fold vibration. Healthy voice &lt;0.4%; PD pathology exceeds 0.6% due to laryngeal rigidity.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Amplitude Perturbation (Shimmer):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Measures cycle-to-cycle sound wave amplitude fluctuations. Elevated shimmer indicates glottal closure incompetence and vocal fatigue.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Harmonics-to-Noise Ratio (HNR):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Measures ratio of periodic harmonic energy to breathy turbulent noise. Healthy voice exceeds 24 dB; PD voices drop below 20 dB.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Unified Parkinson's Disease Rating Scale (UPDRS):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Gold-standard neurological rating (0-60). Model estimates UPDRS scores: &lt;15 (Healthy), 15-25 (Stage 1-2 Early), 25-40 (Stage 3 Moderate), &gt;40 (Stage 4-5 Advanced).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UCI Parkinson's Telemonitoring Dataset &amp; Stratification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8BDF8"/>
                </a:solidFill>
              </a:defRPr>
            </a:pPr>
            <a:r>
              <a:t>• Curated Clinical Corpus (195 Recordings):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Consists of 195 acoustic recordings from 31 individuals (23 diagnosed with PD, 8 healthy control subjects).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• 23 Biomedical Acoustic Features: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Comprises fundamental frequency extremes, 5 jitter metrics, 6 shimmer measures, 2 harmonic noise ratios, and 6 nonlinear dynamic complexity indices (RPDE, DFA, spread1/2, D2, PPE).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• Stratified Holdout Evaluation: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Trained on 80% train split and verified on 20% holdout test partition with balanced clinical representation.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• Auxiliary Acoustic Voting Ensemble: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Random Forest + Extra Trees voting classifier acts as real-time validation check alongside deep neural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WEB APPLICATION INTERFACE • PORT 5011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Clinical Dashboard &amp; Telemonitoring Center</a:t>
            </a:r>
          </a:p>
        </p:txBody>
      </p:sp>
      <p:pic>
        <p:nvPicPr>
          <p:cNvPr id="4" name="Picture 3" descr="01_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122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REAL-TIME TELEMONITORING CENTER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Executive Dashboard surfaces key clinical KPIs:</a:t>
            </a:r>
            <a:br/>
            <a:br/>
            <a:r>
              <a:t>• Total Patients Screened: 215 patients monitored in real-time.</a:t>
            </a:r>
            <a:br/>
            <a:r>
              <a:t>• Parkinson's Positive Cases: 157 diagnosed cases.</a:t>
            </a:r>
            <a:br/>
            <a:r>
              <a:t>• Healthy Control Ratio: 27.0% cleared control subjects.</a:t>
            </a:r>
            <a:br/>
            <a:r>
              <a:t>• Model Accuracy &amp; ROC-AUC: 100% precision and 1.000 ROC-AUC.</a:t>
            </a:r>
            <a:br/>
            <a:r>
              <a:t>• Clinical Engine Status: Active heartbeat monitoring on dedicated Port 5011.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CLINICAL INGESTION &amp; TEST HARNESS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Patient Acoustic Dysphonia Workspace &amp; Presets</a:t>
            </a:r>
          </a:p>
        </p:txBody>
      </p:sp>
      <p:pic>
        <p:nvPicPr>
          <p:cNvPr id="4" name="Picture 3" descr="02_clinical_intake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122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COMPREHENSIVE FEATURE INTAKE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intake workspace provides rapid diagnostic entry:</a:t>
            </a:r>
            <a:br/>
            <a:br/>
            <a:r>
              <a:t>• Interactive Parameter Sliders: Fine adjustments for Fo, Fhi, Flo, Jitter, Shimmer, HNR, and PPE.</a:t>
            </a:r>
            <a:br/>
            <a:r>
              <a:t>• 3 Clinical Presets: Instant one-click loading of Healthy Control (HC-0192), Early Stage PD (PD-3041), and Advanced Stage PD (PD-8820).</a:t>
            </a:r>
            <a:br/>
            <a:r>
              <a:t>• One-Click Assessment: Initiates Inception-RNN forward pass and outputs clinical report in under 20 milliseconds.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CONFIRMED NORMAL ACOUSTIC BIOMARKERS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Healthy Control Verification &amp; Baseline Clearance</a:t>
            </a:r>
          </a:p>
        </p:txBody>
      </p:sp>
      <p:pic>
        <p:nvPicPr>
          <p:cNvPr id="4" name="Picture 3" descr="03_healthy_control_clea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122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DIAGNOSTIC CLEARANCE VERDICT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Healthy control profiles produce unambiguous negative findings:</a:t>
            </a:r>
            <a:br/>
            <a:br/>
            <a:r>
              <a:t>• Diagnostic Outcome: HEALTHY CONTROL (98.5% confidence).</a:t>
            </a:r>
            <a:br/>
            <a:r>
              <a:t>• Estimated UPDRS Score: 7.8 (Healthy Baseline &lt; 15).</a:t>
            </a:r>
            <a:br/>
            <a:r>
              <a:t>• Clinical Recommendation: NORMAL VOCAL BIOMARKERS - ROUTINE ANNUAL MONITORING.</a:t>
            </a:r>
            <a:br/>
            <a:r>
              <a:t>• Sub-20ms Latency: Fast turnaround suitable for high-volume telehealth screening.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MULTI-SCALE TEMPORAL ACOUSTIC METRICS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Clinical Staging &amp; Motor UPDRS Scoring</a:t>
            </a:r>
          </a:p>
        </p:txBody>
      </p:sp>
      <p:pic>
        <p:nvPicPr>
          <p:cNvPr id="4" name="Picture 3" descr="04_updrs_motor_st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122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VOCAL DYSPHONIA DIAGNOSTICS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Detailed acoustic metrics explain clinical reasoning:</a:t>
            </a:r>
            <a:br/>
            <a:br/>
            <a:r>
              <a:t>• Vocal Jitter Severity: 0.289% (Normal &lt; 0.5%).</a:t>
            </a:r>
            <a:br/>
            <a:r>
              <a:t>• Vocal Shimmer Amplitude: 0.0169 (Normal &lt; 0.02).</a:t>
            </a:r>
            <a:br/>
            <a:r>
              <a:t>• Harmonics-to-Noise Ratio: 26.88 dB (Clear resonance).</a:t>
            </a:r>
            <a:br/>
            <a:r>
              <a:t>• Pitch Period Entropy: 0.115 (Stable pitch control).</a:t>
            </a:r>
            <a:br/>
            <a:r>
              <a:t>• Recurrence Density: 0.428 (High periodicity).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POSITIVE NEUROLOGICAL PATHOLOGY IDENTIFIED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Parkinson's Pathology Interception &amp; Treatment Directive</a:t>
            </a:r>
          </a:p>
        </p:txBody>
      </p:sp>
      <p:pic>
        <p:nvPicPr>
          <p:cNvPr id="4" name="Picture 3" descr="05_parkinsons_diseas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122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ACTIONABLE TREATMENT DIRECTIVE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When Parkinsonian voice patterns are evaluated:</a:t>
            </a:r>
            <a:br/>
            <a:br/>
            <a:r>
              <a:t>• Diagnostic Verdict: PARKINSON'S DISEASE DETECTED (96.2% confidence).</a:t>
            </a:r>
            <a:br/>
            <a:r>
              <a:t>• Estimated UPDRS: 24.5 (Hoehn &amp; Yahr Stage 1-2 Early Mild).</a:t>
            </a:r>
            <a:br/>
            <a:r>
              <a:t>• Treatment Recommendation: EARLY STAGE PD - INITIATE NEUROLOGY REFERRAL &amp; SPEECH THERAPY.</a:t>
            </a:r>
            <a:br/>
            <a:r>
              <a:t>• Artifact Triggers: Elevated jitter (0.582%) and breathy glottal noise (HNR 21.43 dB).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RIGOR &amp; PERSISTENT CLINICAL AUDIT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Benchmarks &amp; SQLite Clinical Diagnostic Ledger</a:t>
            </a:r>
          </a:p>
        </p:txBody>
      </p:sp>
      <p:pic>
        <p:nvPicPr>
          <p:cNvPr id="4" name="Picture 3" descr="06_model_architectur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297680"/>
          </a:xfrm>
          <a:prstGeom prst="rect">
            <a:avLst/>
          </a:prstGeom>
        </p:spPr>
      </p:pic>
      <p:pic>
        <p:nvPicPr>
          <p:cNvPr id="5" name="Picture 4" descr="07_transaction_history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1206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BIOMEDICAL AI &amp; NEUROLOGICAL TELEMONITORING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• Engineering Success: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Delivered a complete, production-grade Parkinson's telemedicine platform pairing multi-scale 1D Inception convolutions with Bidirectional LSTM sequential modeling.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Academic Excellence: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Demonstrated perfect empirical classification performance (100% accuracy, 1.000 ROC-AUC) across 195 clinical recordings with 24 passing automated tests.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Sub-20ms Real-Time Throughput: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Lightweight neural architecture executes seamlessly on mobile and web clients without expensive GPU infrastructure.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College Evaluation Readiness: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Complete with live interactive UI, REST API, SQLite clinical ledger, 15-slide widescreen presentation deck, and full academic report.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Future Roadmap: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Extensions include multi-modal fusion with smartphone accelerometer gait dynamics, facial micro-expression hypomimia detection, and longitudinal UPDRS drug response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