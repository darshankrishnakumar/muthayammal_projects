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PROJECT 04 OF 55 • ADVANCED APPLIED MACHINE LEARNING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Car Price Prediction &amp; Automotive Valuation Engine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Multi-Algorithm Regression Pipeline, Depreciation Analysis, and Real-Time Market Valuation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Department of Computer Science &amp; Engineering • Final Year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• Automotive Pricing Problem: </a:t>
            </a:r>
            <a:r>
              <a:rPr b="0">
                <a:solidFill>
                  <a:srgbClr val="F8FAFC"/>
                </a:solidFill>
              </a:rPr>
              <a:t>Pre-owned vehicle valuation suffers from extreme information asymmetry, subjective dealership markups, and complex non-linear price depreciation curves driven by vehicle age, odometer mileage, powertrain type, and brand perception.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Proposed ML Solution: </a:t>
            </a:r>
            <a:r>
              <a:rPr b="0">
                <a:solidFill>
                  <a:srgbClr val="F8FAFC"/>
                </a:solidFill>
              </a:rPr>
              <a:t>We develop AutoValuate AI: an end-to-end production regression pipeline comparing Random Forest, Decision Tree, and Linear Regression models trained on comprehensive used vehicle transaction records.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Superior Benchmark Results: </a:t>
            </a:r>
            <a:r>
              <a:rPr b="0">
                <a:solidFill>
                  <a:srgbClr val="F8FAFC"/>
                </a:solidFill>
              </a:rPr>
              <a:t>Our 150-tree Random Forest Regressor achieves an outstanding 97.23% R² score on unseen test data, with a low Root Mean Squared Error (RMSE) of ₹1.39 Lakhs and Mean Absolute Error (MAE) of ₹0.88 Lakhs (~$1,060 USD).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Interactive Decision Support: </a:t>
            </a:r>
            <a:r>
              <a:rPr b="0">
                <a:solidFill>
                  <a:srgbClr val="F8FAFC"/>
                </a:solidFill>
              </a:rPr>
              <a:t>Integrates 90% confidence interval estimations, value retention classification, a 10-year value decay curve, SQLite transactional auditing, and a responsive web portal backed by a FastAPI microservice on Port 5004.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Market Need &amp; Valuation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Information Asymmetry in Used Car Markets: </a:t>
            </a:r>
            <a:r>
              <a:rPr b="0">
                <a:solidFill>
                  <a:srgbClr val="F8FAFC"/>
                </a:solidFill>
              </a:rPr>
              <a:t>Buyers and sellers lack objective appraisal benchmarks, resulting in arbitrary price negotiation and unfair dealer trade-in margins of 15% to 30%.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Non-Linear Depreciation Dynamics: </a:t>
            </a:r>
            <a:r>
              <a:rPr b="0">
                <a:solidFill>
                  <a:srgbClr val="F8FAFC"/>
                </a:solidFill>
              </a:rPr>
              <a:t>Vehicles experience steep non-linear depreciation—shedding up to 20% in Year 1, followed by gradual plateauing depending on powertrain reliability and brand residual demand.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Multivariate Confounding Factors: </a:t>
            </a:r>
            <a:r>
              <a:rPr b="0">
                <a:solidFill>
                  <a:srgbClr val="F8FAFC"/>
                </a:solidFill>
              </a:rPr>
              <a:t>Odometer mileage, vehicle age, transmission type (Manual vs. Automatic), fuel type (Petrol, Diesel, CNG), and ownership transfer history exert interdependent non-linear effects that traditional linear models fail to capture.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Operational Deployment Demands: </a:t>
            </a:r>
            <a:r>
              <a:rPr b="0">
                <a:solidFill>
                  <a:srgbClr val="F8FAFC"/>
                </a:solidFill>
              </a:rPr>
              <a:t>Fintech platforms, used car marketplaces (Cars24, Spinny, CarDekho), and auto insurers require sub-50ms REST API valuations backed by robust data validation and confidence intervals.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Data Layer: </a:t>
            </a:r>
            <a:r>
              <a:rPr b="0">
                <a:solidFill>
                  <a:srgbClr val="F8FAFC"/>
                </a:solidFill>
              </a:rPr>
              <a:t>Kaggle &amp; Quikr used vehicle dataset (450 transactions, 9 raw dimensions). Stored in SQLite (predictions.db) for full ACID auditability.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Feature Engineering Subsystem: </a:t>
            </a:r>
            <a:r>
              <a:rPr b="0">
                <a:solidFill>
                  <a:srgbClr val="F8FAFC"/>
                </a:solidFill>
              </a:rPr>
              <a:t>Scikit-Learn ColumnTransformer pipeline combining StandardScaler on continuous attributes (Age, Showroom Price, Odometer) and OneHotEncoder on categorical features (Brand, Fuel, Transmission, Seller Channel).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Machine Learning Inference Engine: </a:t>
            </a:r>
            <a:r>
              <a:rPr b="0">
                <a:solidFill>
                  <a:srgbClr val="F8FAFC"/>
                </a:solidFill>
              </a:rPr>
              <a:t>Ensemble Random Forest (150 trees, depth 12), Decision Tree (depth 7), and OLS Linear Regression. Automated model caching and fallback orchestration.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FastAPI Microservice (Port 5004): </a:t>
            </a:r>
            <a:r>
              <a:rPr b="0">
                <a:solidFill>
                  <a:srgbClr val="F8FAFC"/>
                </a:solidFill>
              </a:rPr>
              <a:t>Asynchronous REST endpoints: /api/predict, /api/presets, /api/history, /api/analytics, /api/info, and /api/dataset/sample with Pydantic boundary validation.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Interactive Automotive Portal: </a:t>
            </a:r>
            <a:r>
              <a:rPr b="0">
                <a:solidFill>
                  <a:srgbClr val="F8FAFC"/>
                </a:solidFill>
              </a:rPr>
              <a:t>Vanilla HTML5/CSS/JavaScript single-page application with quick presets, 10-year depreciation trajectory bars, confidence bounds, and database history viewer.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Automotive Dataset &amp;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• Benchmark Scope: </a:t>
            </a:r>
            <a:r>
              <a:rPr b="0">
                <a:solidFill>
                  <a:srgbClr val="F8FAFC"/>
                </a:solidFill>
              </a:rPr>
              <a:t>450 real-world pre-owned car sales records spanning major Indian and global auto brands: Maruti Suzuki, Hyundai, Honda, Toyota, Ford, Volkswagen, BMW, Audi, and Mercedes-Benz.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Target Variable (Selling_Price): </a:t>
            </a:r>
            <a:r>
              <a:rPr b="0">
                <a:solidFill>
                  <a:srgbClr val="F8FAFC"/>
                </a:solidFill>
              </a:rPr>
              <a:t>Resale price in Lakhs (₹100,000 INR). Distribution spans from ₹0.35L (budget hatchbacks) to ₹35.0L+ (luxury SUVs and executive sedans). Mean: ₹4.66 Lakhs.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Feature Distribution: </a:t>
            </a:r>
            <a:r>
              <a:rPr b="0">
                <a:solidFill>
                  <a:srgbClr val="F8FAFC"/>
                </a:solidFill>
              </a:rPr>
              <a:t>Odometer range: 500 km to 500,000 km (Mean: 36,947 km). Manufacturing years: 2003 to 2018. Vehicle Age: 0 to 18 years.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Powertrain &amp; Transmission Splits: </a:t>
            </a:r>
            <a:r>
              <a:rPr b="0">
                <a:solidFill>
                  <a:srgbClr val="F8FAFC"/>
                </a:solidFill>
              </a:rPr>
              <a:t>Fuel Type: Petrol (78.3%), Diesel (20.3%), CNG (1.4%). Transmission: Manual (86.4%), Automatic (13.6%). Seller Channel: Dealership (64.8%), Individual (35.2%).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Train/Test Protocol: </a:t>
            </a:r>
            <a:r>
              <a:rPr b="0">
                <a:solidFill>
                  <a:srgbClr val="F8FAFC"/>
                </a:solidFill>
              </a:rPr>
              <a:t>Strict 80:20 random train-test split (360 train samples, 90 held-out test samples) with random_state=42. Zero test leakage 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 &amp;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Vehicle Age Derivation: </a:t>
            </a:r>
            <a:r>
              <a:rPr b="0">
                <a:solidFill>
                  <a:srgbClr val="F8FAFC"/>
                </a:solidFill>
              </a:rPr>
              <a:t>Engineered Car_Age = current_year (2024) - Year. Converts chronological year into an elapsed decay metric aligned with physical wear and tear.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Brand Extraction: </a:t>
            </a:r>
            <a:r>
              <a:rPr b="0">
                <a:solidFill>
                  <a:srgbClr val="F8FAFC"/>
                </a:solidFill>
              </a:rPr>
              <a:t>Extracted primary manufacturer brand name from free-text Car_Name (e.g., 'ritz' -&gt; 'Maruti', 'corolla altis' -&gt; 'Toyota', 'city' -&gt; 'Honda') to capture brand equity.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StandardScaler on Numerical Features: </a:t>
            </a:r>
            <a:r>
              <a:rPr b="0">
                <a:solidFill>
                  <a:srgbClr val="F8FAFC"/>
                </a:solidFill>
              </a:rPr>
              <a:t>Applied zero-mean, unit-variance scaling on [Car_Age, Present_Price, Kms_Driven, Owner] to prevent high-magnitude odometer readings from dominating gradient descent.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One-Hot Encoding on Categorical Variables: </a:t>
            </a:r>
            <a:r>
              <a:rPr b="0">
                <a:solidFill>
                  <a:srgbClr val="F8FAFC"/>
                </a:solidFill>
              </a:rPr>
              <a:t>Expanded [Fuel_Type, Seller_Type, Transmission, Brand] with handle_unknown='ignore', transforming 8 raw input features into 22 model dimensions.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Leak-Free Pipeline Serialization: </a:t>
            </a:r>
            <a:r>
              <a:rPr b="0">
                <a:solidFill>
                  <a:srgbClr val="F8FAFC"/>
                </a:solidFill>
              </a:rPr>
              <a:t>Preprocessor and regressor encapsulated in Scikit-Learn Pipeline and serialized with joblib into best_car_price_model.joblib.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Machine Learning Regression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• Random Forest Regressor (Optimal): </a:t>
            </a:r>
            <a:r>
              <a:rPr b="0">
                <a:solidFill>
                  <a:srgbClr val="F8FAFC"/>
                </a:solidFill>
              </a:rPr>
              <a:t>Ensemble of 150 de-correlated decision trees constructed via bagging with bootstrap sampling. Max tree depth constrained to 12 to eliminate overfitting while capturing complex feature interactions.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Decision Tree Regressor (Benchmark): </a:t>
            </a:r>
            <a:r>
              <a:rPr b="0">
                <a:solidFill>
                  <a:srgbClr val="F8FAFC"/>
                </a:solidFill>
              </a:rPr>
              <a:t>Greedy binary recursive splitting based on Mean Squared Error (MSE) minimization. Max depth 7, min_samples_split 4. Serves as an interpretable rule-based benchmark.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Linear Regression (Baseline OLS): </a:t>
            </a:r>
            <a:r>
              <a:rPr b="0">
                <a:solidFill>
                  <a:srgbClr val="F8FAFC"/>
                </a:solidFill>
              </a:rPr>
              <a:t>Closed-form Ordinary Least Squares solution solving normal equations (X^T X)^-1 X^T y. Establishes the linear baseline performance boundary.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Hyperparameter Tuning: </a:t>
            </a:r>
            <a:r>
              <a:rPr b="0">
                <a:solidFill>
                  <a:srgbClr val="F8FAFC"/>
                </a:solidFill>
              </a:rPr>
              <a:t>Grid search cross-validation across tree estimators (50, 100, 150, 200), max_depth (5, 8, 12, None), and min_samples_split (2, 3, 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Performance &amp; Comparative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Random Forest Regressor (Winner): </a:t>
            </a:r>
            <a:r>
              <a:rPr b="0">
                <a:solidFill>
                  <a:srgbClr val="F8FAFC"/>
                </a:solidFill>
              </a:rPr>
              <a:t>Test R² = 0.9723 (97.2%) | Train R² = 0.9922 | Test RMSE = ₹1.3989 Lakhs | Test MAE = ₹0.8835 Lakhs | Generalization Gap = 0.0199.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Decision Tree Regressor: </a:t>
            </a:r>
            <a:r>
              <a:rPr b="0">
                <a:solidFill>
                  <a:srgbClr val="F8FAFC"/>
                </a:solidFill>
              </a:rPr>
              <a:t>Test R² = 0.9525 (95.3%) | Train R² = 0.9910 | Test RMSE = ₹1.8307 Lakhs | Test MAE = ₹1.1746 Lakhs | Generalization Gap = 0.0385.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Linear Regression (OLS): </a:t>
            </a:r>
            <a:r>
              <a:rPr b="0">
                <a:solidFill>
                  <a:srgbClr val="F8FAFC"/>
                </a:solidFill>
              </a:rPr>
              <a:t>Test R² = 0.8968 (89.7%) | Train R² = 0.8856 | Test RMSE = ₹2.6989 Lakhs | Test MAE = ₹1.7214 Lakhs | Underfits non-linear depreciation.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Statistical Significance: </a:t>
            </a:r>
            <a:r>
              <a:rPr b="0">
                <a:solidFill>
                  <a:srgbClr val="F8FAFC"/>
                </a:solidFill>
              </a:rPr>
              <a:t>Random Forest reduces prediction error by 48.7% compared to Linear Regression and 23.6% compared to Decision Tree, demonstrating the necessity of non-linear ensemble averaging.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Inference Latency: </a:t>
            </a:r>
            <a:r>
              <a:rPr b="0">
                <a:solidFill>
                  <a:srgbClr val="F8FAFC"/>
                </a:solidFill>
              </a:rPr>
              <a:t>Average sub-8 millisecond CPU inference latency, making it ideal for high-throughput production API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Importance Hierarchy &amp; Market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Original Showroom Price (75.14%): </a:t>
            </a:r>
            <a:r>
              <a:rPr b="0">
                <a:solidFill>
                  <a:srgbClr val="F8FAFC"/>
                </a:solidFill>
              </a:rPr>
              <a:t>Dominant predictor. The baseline vehicle price tier dictates the scale of absolute resale pricing regardless of age.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Vehicle Age (13.30%): </a:t>
            </a:r>
            <a:r>
              <a:rPr b="0">
                <a:solidFill>
                  <a:srgbClr val="F8FAFC"/>
                </a:solidFill>
              </a:rPr>
              <a:t>Second most critical driver. Mechanical degradation, cosmetic aging, and generational obsolescence drive annual exponential value decay.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Kilometers Driven (9.31%): </a:t>
            </a:r>
            <a:r>
              <a:rPr b="0">
                <a:solidFill>
                  <a:srgbClr val="F8FAFC"/>
                </a:solidFill>
              </a:rPr>
              <a:t>Engine wear, suspension fatigue, and tire life directly track odometer mileage, penalizing heavily driven vehicles.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Manufacturer Brand Equity (1.32%): </a:t>
            </a:r>
            <a:r>
              <a:rPr b="0">
                <a:solidFill>
                  <a:srgbClr val="F8FAFC"/>
                </a:solidFill>
              </a:rPr>
              <a:t>Japanese brands (Toyota, Honda, Maruti) maintain higher residual value retention compared to premium European vehicles suffering higher maintenance overhead.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Ownership History &amp; Channels (&lt; 1.0%): </a:t>
            </a:r>
            <a:r>
              <a:rPr b="0">
                <a:solidFill>
                  <a:srgbClr val="F8FAFC"/>
                </a:solidFill>
              </a:rPr>
              <a:t>Previous owner count (0.33%), Dealership vs. Private (0.20%), Transmission (0.20%), and Powertrain (0.20%) contribute subtle margin adjustments.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AutoValuate AI Web Portal &amp; Interactive Valuation Engine</a:t>
            </a:r>
          </a:p>
        </p:txBody>
      </p:sp>
      <p:pic>
        <p:nvPicPr>
          <p:cNvPr id="4" name="Picture 3" descr="01_landing_valuation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85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64592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Landing Portal Features: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System Status: FastAPI backend operating on port 5004.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Quick Preset Buttons: Rapid 1-click evaluation of Maruti, Honda, Hyundai, Toyota, and BMW.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Vehicle Parameters: Real-time dropdowns for fuel, transmission, showroom cost, and ownership.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Valuation Result Box: Shows fair market value in ₹ Lakhs and USD ($1,200/Lakh).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Depreciation Trajectory: 10-year value decay curve rendered dynamically.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Multi-Segment Demonstrations: Full SUV &amp; Luxury Sedan</a:t>
            </a:r>
          </a:p>
        </p:txBody>
      </p:sp>
      <p:pic>
        <p:nvPicPr>
          <p:cNvPr id="4" name="Picture 3" descr="02_toyota_fortuner_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57550"/>
          </a:xfrm>
          <a:prstGeom prst="rect">
            <a:avLst/>
          </a:prstGeom>
        </p:spPr>
      </p:pic>
      <p:pic>
        <p:nvPicPr>
          <p:cNvPr id="5" name="Picture 4" descr="03_bmw_luxury_sedan_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Left: 2021 Toyota Fortuner 4x4 (₹42.0L Original) retains high equity with Excellent Retention badge • Right: 2021 BMW 3 Series 330i (₹54.0L Original) demonstrates luxury depreciation curve.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Benchmarks &amp; Feature Hierarchy Visualization</a:t>
            </a:r>
          </a:p>
        </p:txBody>
      </p:sp>
      <p:pic>
        <p:nvPicPr>
          <p:cNvPr id="4" name="Picture 3" descr="04_model_benchmark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57550"/>
          </a:xfrm>
          <a:prstGeom prst="rect">
            <a:avLst/>
          </a:prstGeom>
        </p:spPr>
      </p:pic>
      <p:pic>
        <p:nvPicPr>
          <p:cNvPr id="5" name="Picture 4" descr="05_feature_importance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563EB"/>
                </a:solidFill>
              </a:defRPr>
            </a:pPr>
            <a:r>
              <a:t>Left: Side-by-side performance cards comparing Random Forest (97.2%), Decision Tree (95.3%), and Linear Regression (89.7%) • Right: Feature importance percentage bars from Random Forest.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Transactional Audit Log &amp; Historical Dataset Explorer</a:t>
            </a:r>
          </a:p>
        </p:txBody>
      </p:sp>
      <p:pic>
        <p:nvPicPr>
          <p:cNvPr id="4" name="Picture 3" descr="06_sqlite_predic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57550"/>
          </a:xfrm>
          <a:prstGeom prst="rect">
            <a:avLst/>
          </a:prstGeom>
        </p:spPr>
      </p:pic>
      <p:pic>
        <p:nvPicPr>
          <p:cNvPr id="5" name="Picture 4" descr="07_dataset_explorer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Left: SQLite transactional audit log (predictions.db) with record deletion and clear actions • Right: Live dataset explorer viewing historical 450 vehicle sales records from car_data.csv.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QA Testing &amp; Technical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563EB"/>
                </a:solidFill>
              </a:defRPr>
            </a:pPr>
            <a:r>
              <a:t>• 18/18 Automated Tests Passed (100% Pass Rate): </a:t>
            </a:r>
            <a:r>
              <a:rPr b="0">
                <a:solidFill>
                  <a:srgbClr val="F8FAFC"/>
                </a:solidFill>
              </a:rPr>
              <a:t>Executed full pytest automated test suite in 2.51 seconds covering all models, pipelines, APIs, and database operations.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Model Artifact Verification: </a:t>
            </a:r>
            <a:r>
              <a:rPr b="0">
                <a:solidFill>
                  <a:srgbClr val="F8FAFC"/>
                </a:solidFill>
              </a:rPr>
              <a:t>Validated that best_car_price_model.joblib, best_car_price_model.pkl, and all candidate models load cleanly and contain 150 fitted estimators.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Metric Reproducibility Test: </a:t>
            </a:r>
            <a:r>
              <a:rPr b="0">
                <a:solidFill>
                  <a:srgbClr val="F8FAFC"/>
                </a:solidFill>
              </a:rPr>
              <a:t>Verified on held-out test split: R² &gt;= 0.95, MAE between 0.5 and 1.5 Lakhs, and RMSE between 0.8 and 2.2 Lakhs.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Pydantic Boundary &amp; Error Injection: </a:t>
            </a:r>
            <a:r>
              <a:rPr b="0">
                <a:solidFill>
                  <a:srgbClr val="F8FAFC"/>
                </a:solidFill>
              </a:rPr>
              <a:t>12 negative test cases: verified that negative prices, zero prices, exorbitant prices, odometer &gt; 500,000 km, future years, and invalid fuel types return HTTP 422.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• SQLite Database CRUD Integrity: </a:t>
            </a:r>
            <a:r>
              <a:rPr b="0">
                <a:solidFill>
                  <a:srgbClr val="F8FAFC"/>
                </a:solidFill>
              </a:rPr>
              <a:t>Verified insertion, retrieval via /api/history, individual record deletion via /api/history/{id}, and table clearance.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AUTOMOTIVE MACHINE LEARNING &amp; MARKET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Conclusion, Business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Summary of Deliverables: </a:t>
            </a:r>
            <a:r>
              <a:rPr b="0">
                <a:solidFill>
                  <a:srgbClr val="F8FAFC"/>
                </a:solidFill>
              </a:rPr>
              <a:t>Delivered a complete, production-grade automotive valuation system with 3 trained models (97.23% R²), interactive multi-tab web portal, SQLite database, FastAPI REST backend, and 18 automated tests.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Business Impact: </a:t>
            </a:r>
            <a:r>
              <a:rPr b="0">
                <a:solidFill>
                  <a:srgbClr val="F8FAFC"/>
                </a:solidFill>
              </a:rPr>
              <a:t>Empowers pre-owned vehicle dealerships, consumers, insurance underwriters, and fintech auto-loan providers with objective fair-market valuations.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Commercial Readiness: </a:t>
            </a:r>
            <a:r>
              <a:rPr b="0">
                <a:solidFill>
                  <a:srgbClr val="F8FAFC"/>
                </a:solidFill>
              </a:rPr>
              <a:t>Sub-8ms latency, containerized architecture, strict input validation, and full audit logging make the system ready for production deployment.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Future Roadmap: </a:t>
            </a:r>
            <a:r>
              <a:rPr b="0">
                <a:solidFill>
                  <a:srgbClr val="F8FAFC"/>
                </a:solidFill>
              </a:rPr>
              <a:t>Integration of Computer Vision (YOLOv8) for automatic exterior dent and scratch damage penalty calculation, real-time OBD-II vehicle diagnostic port telemetry, and regional RTO price indexing.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