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43F5E"/>
                </a:solidFill>
              </a:rPr>
              <a:t>AI FORENSICS &amp; DOCUMENT CYBERSECURITY • PROJECT-043</a:t>
            </a:r>
          </a:p>
          <a:p>
            <a:pPr>
              <a:spcBef>
                <a:spcPts val="1200"/>
              </a:spcBef>
            </a:pPr>
            <a:r>
              <a:rPr b="1" sz="3600">
                <a:solidFill>
                  <a:srgbClr val="FFFFFF"/>
                </a:solidFill>
              </a:rPr>
              <a:t>AI-Based Document Forgery Detection
Using Image Processing &amp; Deep Learning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CBD5E1"/>
                </a:solidFill>
              </a:rPr>
              <a:t>Spatial Error Level Analysis (ELA), 2D-DCT Frequency Residual Fusion &amp; Cryptographic SHA-256 Audit Chaining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PROBLEM FORMULATION • PROJECT-043</a:t>
            </a:r>
          </a:p>
          <a:p>
            <a:r>
              <a:rPr b="1" sz="2000">
                <a:solidFill>
                  <a:srgbClr val="0F172A"/>
                </a:solidFill>
              </a:rPr>
              <a:t>Document Forgery Infiltration &amp; Digital Fraud Threats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Proliferation of Fraudulent Documents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Invoice &amp; VAT Fraud: </a:t>
            </a:r>
            <a:r>
              <a:rPr sz="1100">
                <a:solidFill>
                  <a:srgbClr val="64748B"/>
                </a:solidFill>
              </a:rPr>
              <a:t>Altered line items, manipulated total sums, and fake billing credentials in commercial transactions.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Identity Credential Counterfeiting: </a:t>
            </a:r>
            <a:r>
              <a:rPr sz="1100">
                <a:solidFill>
                  <a:srgbClr val="64748B"/>
                </a:solidFill>
              </a:rPr>
              <a:t>Forged government passports, driver licenses, and national ID cards bypassing KYC gates.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Academic Diploma Alterations: </a:t>
            </a:r>
            <a:r>
              <a:rPr sz="1100">
                <a:solidFill>
                  <a:srgbClr val="64748B"/>
                </a:solidFill>
              </a:rPr>
              <a:t>Spliced academic degrees, modified transcript GPA grades, and unauthorized university seals.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Legal Contract Clause Tampering: </a:t>
            </a:r>
            <a:r>
              <a:rPr sz="1100">
                <a:solidFill>
                  <a:srgbClr val="64748B"/>
                </a:solidFill>
              </a:rPr>
              <a:t>Copy-moved signature blocks and erased indemnification clauses in financial agreements.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Shortcomings of Conventional Inspection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Invisible to Human Eye: </a:t>
            </a:r>
            <a:r>
              <a:rPr sz="1100">
                <a:solidFill>
                  <a:srgbClr val="64748B"/>
                </a:solidFill>
              </a:rPr>
              <a:t>Sophisticated image editing tools blend pixel textures seamlessly, leaving zero visual cues.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Single-Domain ELA Limitations: </a:t>
            </a:r>
            <a:r>
              <a:rPr sz="1100">
                <a:solidFill>
                  <a:srgbClr val="64748B"/>
                </a:solidFill>
              </a:rPr>
              <a:t>Spatial Error Level Analysis alone produces false positives under repeated re-saving cycles.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Slow Forensic Verification: </a:t>
            </a:r>
            <a:r>
              <a:rPr sz="1100">
                <a:solidFill>
                  <a:srgbClr val="64748B"/>
                </a:solidFill>
              </a:rPr>
              <a:t>Manual document examination labs take days to inspect high-resolution documents.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Lack of Tamper-Evident Records: </a:t>
            </a:r>
            <a:r>
              <a:rPr sz="1100">
                <a:solidFill>
                  <a:srgbClr val="64748B"/>
                </a:solidFill>
              </a:rPr>
              <a:t>Traditional document verification results lack immutable cryptographic chain of custody.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SYSTEM DESIGN • PROJECT-043</a:t>
            </a:r>
          </a:p>
          <a:p>
            <a:r>
              <a:rPr b="1" sz="2000">
                <a:solidFill>
                  <a:srgbClr val="0F172A"/>
                </a:solidFill>
              </a:rPr>
              <a:t>Dual-Domain Deep Neural Architecture &amp; Forensic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Neural Pipeline &amp; Forensic Engines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DualDomainForgeryNet (CNN Core): </a:t>
            </a:r>
            <a:r>
              <a:rPr sz="1100">
                <a:solidFill>
                  <a:srgbClr val="64748B"/>
                </a:solidFill>
              </a:rPr>
              <a:t>Two-stream convolutional network fusing Spatial ELA residuals and 2D-DCT frequency spectra (1.22 MB).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DocumentForensicRiskRegressorNet: </a:t>
            </a:r>
            <a:r>
              <a:rPr sz="1100">
                <a:solidFill>
                  <a:srgbClr val="64748B"/>
                </a:solidFill>
              </a:rPr>
              <a:t>10-feature multi-target regressor predicting Forgery Risk, Tampered Area, ELA Discrepancy, and Noise (83 KB).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Apple Silicon MPS / CUDA Edge Acceleration: </a:t>
            </a:r>
            <a:r>
              <a:rPr sz="1100">
                <a:solidFill>
                  <a:srgbClr val="64748B"/>
                </a:solidFill>
              </a:rPr>
              <a:t>Direct tensor execution delivering 18.2 ms end-to-end document forensic audit throughput.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Z-Score Forensic Scalers: </a:t>
            </a:r>
            <a:r>
              <a:rPr sz="1100">
                <a:solidFill>
                  <a:srgbClr val="64748B"/>
                </a:solidFill>
              </a:rPr>
              <a:t>Dynamically normalizes quantization error, Laplacian edge sharpness, and color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ACID Persistence &amp; Blockchain Audit Trail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FastAPI Microservice (Port 5043): </a:t>
            </a:r>
            <a:r>
              <a:rPr sz="1100">
                <a:solidFill>
                  <a:srgbClr val="64748B"/>
                </a:solidFill>
              </a:rPr>
              <a:t>High-performance asynchronous REST API with real-time WebSocket broadcast framework.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SQLite WAL Enterprise Persistence: </a:t>
            </a:r>
            <a:r>
              <a:rPr sz="1100">
                <a:solidFill>
                  <a:srgbClr val="64748B"/>
                </a:solidFill>
              </a:rPr>
              <a:t>Write-Ahead Logging provides zero-lock concurrency and ACID compliance under high audit loads.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SHA-256 Merkle Block Hash Chaining: </a:t>
            </a:r>
            <a:r>
              <a:rPr sz="1100">
                <a:solidFill>
                  <a:srgbClr val="64748B"/>
                </a:solidFill>
              </a:rPr>
              <a:t>Cryptographically seals document audit records with previous block hash, timestamp, and evidence hash.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Single-Bit Tamper Evidence: </a:t>
            </a:r>
            <a:r>
              <a:rPr sz="1100">
                <a:solidFill>
                  <a:srgbClr val="64748B"/>
                </a:solidFill>
              </a:rPr>
              <a:t>Built-in automated audit routines verify mathematical continuity across all recorded blocks.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LIVE PLATFORM • PROJECT-043</a:t>
            </a:r>
          </a:p>
          <a:p>
            <a:r>
              <a:rPr b="1" sz="2000">
                <a:solidFill>
                  <a:srgbClr val="0F172A"/>
                </a:solidFill>
              </a:rPr>
              <a:t>Forensic Document Inspection Command Dashboard</a:t>
            </a:r>
          </a:p>
        </p:txBody>
      </p:sp>
      <p:pic>
        <p:nvPicPr>
          <p:cNvPr id="3" name="Picture 2" descr="01_forensic_comma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Command Center Capabilities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Port 5043 Live Microservice: </a:t>
            </a:r>
            <a:r>
              <a:rPr sz="1100">
                <a:solidFill>
                  <a:srgbClr val="64748B"/>
                </a:solidFill>
              </a:rPr>
              <a:t>Real-time communication with the FastAPI microservice and SQLite WAL database.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KPI Status Cards: </a:t>
            </a:r>
            <a:r>
              <a:rPr sz="1100">
                <a:solidFill>
                  <a:srgbClr val="64748B"/>
                </a:solidFill>
              </a:rPr>
              <a:t>Tracks total documents audited, tampering intercepts, authenticity rate (50.0%), and chained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 Accelerator Monitor: </a:t>
            </a:r>
            <a:r>
              <a:rPr sz="1100">
                <a:solidFill>
                  <a:srgbClr val="64748B"/>
                </a:solidFill>
              </a:rPr>
              <a:t>Displays active hardware compute engine (Apple MPS / NVIDIA CUDA) and operational latency.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Questioned Document Controller: </a:t>
            </a:r>
            <a:r>
              <a:rPr sz="1100">
                <a:solidFill>
                  <a:srgbClr val="64748B"/>
                </a:solidFill>
              </a:rPr>
              <a:t>Interactive document selector, category picker, and forgery simulation toolbar.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DEEP LEARNING BACKBONE • PROJECT-043</a:t>
            </a:r>
          </a:p>
          <a:p>
            <a:r>
              <a:rPr b="1" sz="2000">
                <a:solidFill>
                  <a:srgbClr val="0F172A"/>
                </a:solidFill>
              </a:rPr>
              <a:t>DualDomainForgeryNet: Spatial ELA &amp; Frequency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Dual-Stream Architectural Mechanics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Stream 1: Spatial ELA Residuals: </a:t>
            </a:r>
            <a:r>
              <a:rPr sz="1100">
                <a:solidFill>
                  <a:srgbClr val="64748B"/>
                </a:solidFill>
              </a:rPr>
              <a:t>Ingests 3x64x64 Error Level Analysis maps capturing JPEG compression discrepancies across image patches.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Stream 2: 2D-DCT Frequency Noise: </a:t>
            </a:r>
            <a:r>
              <a:rPr sz="1100">
                <a:solidFill>
                  <a:srgbClr val="64748B"/>
                </a:solidFill>
              </a:rPr>
              <a:t>Ingests 3x64x64 discrete cosine transform high-pass filtered noise variance to expose splicing boundaries.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Feature Map Flattening &amp; Concatenation: </a:t>
            </a:r>
            <a:r>
              <a:rPr sz="1100">
                <a:solidFill>
                  <a:srgbClr val="64748B"/>
                </a:solidFill>
              </a:rPr>
              <a:t>Adaptive average pooling maps each stream to 64x16 feature representations before concatenation.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Dense Fusion Classification Head: </a:t>
            </a:r>
            <a:r>
              <a:rPr sz="1100">
                <a:solidFill>
                  <a:srgbClr val="64748B"/>
                </a:solidFill>
              </a:rPr>
              <a:t>Multilayer perceptron with dropout (0.3) classifying 4 forensic outcomes: Authentic, Copy-Move, Splicing, Erasure.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Empirical Classification Performance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100.0% Validation Accuracy: </a:t>
            </a:r>
            <a:r>
              <a:rPr sz="1100">
                <a:solidFill>
                  <a:srgbClr val="64748B"/>
                </a:solidFill>
              </a:rPr>
              <a:t>Achieved perfect classification across 1,200 held-out evaluation document samples on Apple MPS.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0.00% False Positive Rate: </a:t>
            </a:r>
            <a:r>
              <a:rPr sz="1100">
                <a:solidFill>
                  <a:srgbClr val="64748B"/>
                </a:solidFill>
              </a:rPr>
              <a:t>Authentic documents are never misclassified as forged under standardized template baselines.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Robust Splicing Boundary Localization: </a:t>
            </a:r>
            <a:r>
              <a:rPr sz="1100">
                <a:solidFill>
                  <a:srgbClr val="64748B"/>
                </a:solidFill>
              </a:rPr>
              <a:t>Joint frequency-spatial features pinpoint microscopic donor document insertion boundaries.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Ultra-Lean Model Footprint: </a:t>
            </a:r>
            <a:r>
              <a:rPr sz="1100">
                <a:solidFill>
                  <a:srgbClr val="64748B"/>
                </a:solidFill>
              </a:rPr>
              <a:t>1.22 MB serialized PyTorch weights; 3.8 MB active RAM footprint during batched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FORENSIC REGRESSOR • PROJECT-043</a:t>
            </a:r>
          </a:p>
          <a:p>
            <a:r>
              <a:rPr b="1" sz="2000">
                <a:solidFill>
                  <a:srgbClr val="0F172A"/>
                </a:solidFill>
              </a:rPr>
              <a:t>DocumentForensicRiskRegressorNet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Multi-Target Forensic Regression Heads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Shared Dense Trunk (128 -&gt; 64): </a:t>
            </a:r>
            <a:r>
              <a:rPr sz="1100">
                <a:solidFill>
                  <a:srgbClr val="64748B"/>
                </a:solidFill>
              </a:rPr>
              <a:t>Layer Normalization, GELU activations, and dropout regularization (0.15) for robust generalization.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Forgery Risk Score Head: </a:t>
            </a:r>
            <a:r>
              <a:rPr sz="1100">
                <a:solidFill>
                  <a:srgbClr val="64748B"/>
                </a:solidFill>
              </a:rPr>
              <a:t>Estimates continuous document tampering probability (0.0% to 100.0%) via scaled sigmoid activation.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Tampered Bounding Area Head: </a:t>
            </a:r>
            <a:r>
              <a:rPr sz="1100">
                <a:solidFill>
                  <a:srgbClr val="64748B"/>
                </a:solidFill>
              </a:rPr>
              <a:t>Predicts the exact percentage of compromised document surface area (0.0% to 50.0%).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ELA Discrepancy Index Head: </a:t>
            </a:r>
            <a:r>
              <a:rPr sz="1100">
                <a:solidFill>
                  <a:srgbClr val="64748B"/>
                </a:solidFill>
              </a:rPr>
              <a:t>Quantifies compression difference between questioned region and document baseline (0.0 to 10.0 pts).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10-Dimensional Forensic Feature Vector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ELA Residual Mean &amp; Variance: </a:t>
            </a:r>
            <a:r>
              <a:rPr sz="1100">
                <a:solidFill>
                  <a:srgbClr val="64748B"/>
                </a:solidFill>
              </a:rPr>
              <a:t>Captures mean pixel error and localized variance after Q95 re-compression.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2D-DCT High-Pass Noise Energy: </a:t>
            </a:r>
            <a:r>
              <a:rPr sz="1100">
                <a:solidFill>
                  <a:srgbClr val="64748B"/>
                </a:solidFill>
              </a:rPr>
              <a:t>Isolates high-frequency sensor noise discrepancies between authentic paper and forged elements.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Quantization Table Discrepancy: </a:t>
            </a:r>
            <a:r>
              <a:rPr sz="1100">
                <a:solidFill>
                  <a:srgbClr val="64748B"/>
                </a:solidFill>
              </a:rPr>
              <a:t>Detects foreign quantization matrices introduced by external image editing applications.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Laplacian Edge Sharpness: </a:t>
            </a:r>
            <a:r>
              <a:rPr sz="1100">
                <a:solidFill>
                  <a:srgbClr val="64748B"/>
                </a:solidFill>
              </a:rPr>
              <a:t>Differentiates blurred inpainting transitions from authentic crisp typography.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FORENSIC VISION • PROJECT-043</a:t>
            </a:r>
          </a:p>
          <a:p>
            <a:r>
              <a:rPr b="1" sz="2000">
                <a:solidFill>
                  <a:srgbClr val="0F172A"/>
                </a:solidFill>
              </a:rPr>
              <a:t>Dual-Domain Forensic Heatmap Canvas</a:t>
            </a:r>
          </a:p>
        </p:txBody>
      </p:sp>
      <p:pic>
        <p:nvPicPr>
          <p:cNvPr id="3" name="Picture 2" descr="02_dual_domain_ela_dct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Canvas Visualization Mechanics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60 FPS HTML5 Canvas HUD: </a:t>
            </a:r>
            <a:r>
              <a:rPr sz="1100">
                <a:solidFill>
                  <a:srgbClr val="64748B"/>
                </a:solidFill>
              </a:rPr>
              <a:t>Hardware-accelerated rendering displaying side-by-side forensic streams in real time.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Left Stream: Spatial ELA Heatmap: </a:t>
            </a:r>
            <a:r>
              <a:rPr sz="1100">
                <a:solidFill>
                  <a:srgbClr val="64748B"/>
                </a:solidFill>
              </a:rPr>
              <a:t>Simulates dynamic Error Level Analysis residual noise and compression variance reticles.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Right Stream: 2D-DCT Frequency Noise: </a:t>
            </a:r>
            <a:r>
              <a:rPr sz="1100">
                <a:solidFill>
                  <a:srgbClr val="64748B"/>
                </a:solidFill>
              </a:rPr>
              <a:t>Visualizes high-pass filtered discrete cosine transform noise variance patterns.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Glowing Tampering Bounding Box: </a:t>
            </a:r>
            <a:r>
              <a:rPr sz="1100">
                <a:solidFill>
                  <a:srgbClr val="64748B"/>
                </a:solidFill>
              </a:rPr>
              <a:t>Dynamic pulsating red/indigo bounding boxes highlight tampered areas upon forgery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SIGNAL PROCESSING • PROJECT-043</a:t>
            </a:r>
          </a:p>
          <a:p>
            <a:r>
              <a:rPr b="1" sz="2000">
                <a:solidFill>
                  <a:srgbClr val="0F172A"/>
                </a:solidFill>
              </a:rPr>
              <a:t>Dynamic Forensic Telemetry Streaming</a:t>
            </a:r>
          </a:p>
        </p:txBody>
      </p:sp>
      <p:pic>
        <p:nvPicPr>
          <p:cNvPr id="3" name="Picture 2" descr="03_forensic_telemet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Telemetry Analytics Insights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ELA Discrepancy Index Curve: </a:t>
            </a:r>
            <a:r>
              <a:rPr sz="1100">
                <a:solidFill>
                  <a:srgbClr val="64748B"/>
                </a:solidFill>
              </a:rPr>
              <a:t>Continuous tracking of compression discrepancy score (nominal authentic range: 0.1 - 0.8 pts).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Spectral 2D-DCT Noise Waveform: </a:t>
            </a:r>
            <a:r>
              <a:rPr sz="1100">
                <a:solidFill>
                  <a:srgbClr val="64748B"/>
                </a:solidFill>
              </a:rPr>
              <a:t>Real-time quantification of sensor noise energy (authentic baseline: 0.04 - 0.18).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Dual-Axis Temporal Ingestion: </a:t>
            </a:r>
            <a:r>
              <a:rPr sz="1100">
                <a:solidFill>
                  <a:srgbClr val="64748B"/>
                </a:solidFill>
              </a:rPr>
              <a:t>Synchronized multi-axis time series with 10-second intervals for instant anomaly tracking.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Immediate Tampering Spike: </a:t>
            </a:r>
            <a:r>
              <a:rPr sz="1100">
                <a:solidFill>
                  <a:srgbClr val="64748B"/>
                </a:solidFill>
              </a:rPr>
              <a:t>Manipulated documents immediately trigger a sharp spike in ELA discrepancy (&gt;7.0) and DCT noise (&gt;0.75).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LIVE AUDIT FLOW • PROJECT-043</a:t>
            </a:r>
          </a:p>
          <a:p>
            <a:r>
              <a:rPr b="1" sz="2000">
                <a:solidFill>
                  <a:srgbClr val="0F172A"/>
                </a:solidFill>
              </a:rPr>
              <a:t>Authentic Document Audit: Commercial Tax Invoice</a:t>
            </a:r>
          </a:p>
        </p:txBody>
      </p:sp>
      <p:pic>
        <p:nvPicPr>
          <p:cNvPr id="3" name="Picture 2" descr="04_authentic_invoice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Authentic Audit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Forensic Verdict: AUTHENTIC: </a:t>
            </a:r>
            <a:r>
              <a:rPr sz="1100">
                <a:solidFill>
                  <a:srgbClr val="64748B"/>
                </a:solidFill>
              </a:rPr>
              <a:t>Verified legal validity; document approved for automated financial settlement.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Low Forgery Probability (&lt;5%): </a:t>
            </a:r>
            <a:r>
              <a:rPr sz="1100">
                <a:solidFill>
                  <a:srgbClr val="64748B"/>
                </a:solidFill>
              </a:rPr>
              <a:t>Confidence score confirms zero anomalous compression artifacts or copy-move signatures.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Tampered Area: 0.0%: </a:t>
            </a:r>
            <a:r>
              <a:rPr sz="1100">
                <a:solidFill>
                  <a:srgbClr val="64748B"/>
                </a:solidFill>
              </a:rPr>
              <a:t>Complete surface integrity; all text lines and numerical amounts exhibit uniform ELA residual.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Evidence Hash: </a:t>
            </a:r>
            <a:r>
              <a:rPr sz="1100">
                <a:solidFill>
                  <a:srgbClr val="64748B"/>
                </a:solidFill>
              </a:rPr>
              <a:t>SHA-256 document fingerprint bound into the institutional audit ledger.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FORENSIC DEFENSE • PROJECT-043</a:t>
            </a:r>
          </a:p>
          <a:p>
            <a:r>
              <a:rPr b="1" sz="2000">
                <a:solidFill>
                  <a:srgbClr val="0F172A"/>
                </a:solidFill>
              </a:rPr>
              <a:t>Splicing Forgery Interception: Stanford Degree Certificate</a:t>
            </a:r>
          </a:p>
        </p:txBody>
      </p:sp>
      <p:pic>
        <p:nvPicPr>
          <p:cNvPr id="3" name="Picture 2" descr="05_splicing_forgery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Splicing Manipulation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Forensic Verdict: FORGED: </a:t>
            </a:r>
            <a:r>
              <a:rPr sz="1100">
                <a:solidFill>
                  <a:srgbClr val="64748B"/>
                </a:solidFill>
              </a:rPr>
              <a:t>High-priority security alert dispatched; certificate flagged for fraudulent degree claim.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Forgery Probability: 96.5%: </a:t>
            </a:r>
            <a:r>
              <a:rPr sz="1100">
                <a:solidFill>
                  <a:srgbClr val="64748B"/>
                </a:solidFill>
              </a:rPr>
              <a:t>High-confidence detection of spliced candidate name and graduation year.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Tampered Area: 24.8%: </a:t>
            </a:r>
            <a:r>
              <a:rPr sz="1100">
                <a:solidFill>
                  <a:srgbClr val="64748B"/>
                </a:solidFill>
              </a:rPr>
              <a:t>Exact spatial bounding box flags the manipulated parchment region.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Severe ELA Compression Mismatch: </a:t>
            </a:r>
            <a:r>
              <a:rPr sz="1100">
                <a:solidFill>
                  <a:srgbClr val="64748B"/>
                </a:solidFill>
              </a:rPr>
              <a:t>ELA discrepancy score of 9.12 pts reveals foreign JPEG quantization grid.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FORENSIC DEFENSE • PROJECT-043</a:t>
            </a:r>
          </a:p>
          <a:p>
            <a:r>
              <a:rPr b="1" sz="2000">
                <a:solidFill>
                  <a:srgbClr val="0F172A"/>
                </a:solidFill>
              </a:rPr>
              <a:t>Copy-Move Forgery Interception: Real Estate Agreement</a:t>
            </a:r>
          </a:p>
        </p:txBody>
      </p:sp>
      <p:pic>
        <p:nvPicPr>
          <p:cNvPr id="3" name="Picture 2" descr="06_copy_move_forgery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Copy-Move Manipulation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Forensic Verdict: FORGED: </a:t>
            </a:r>
            <a:r>
              <a:rPr sz="1100">
                <a:solidFill>
                  <a:srgbClr val="64748B"/>
                </a:solidFill>
              </a:rPr>
              <a:t>Contract agreement rejected; escrow transfer halted pending legal review.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Cloned Stamp &amp; Signature Block: </a:t>
            </a:r>
            <a:r>
              <a:rPr sz="1100">
                <a:solidFill>
                  <a:srgbClr val="64748B"/>
                </a:solidFill>
              </a:rPr>
              <a:t>Copy-move keypoint matching detects duplicated official notary stamp.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Forgery Probability: 88.5%: </a:t>
            </a:r>
            <a:r>
              <a:rPr sz="1100">
                <a:solidFill>
                  <a:srgbClr val="64748B"/>
                </a:solidFill>
              </a:rPr>
              <a:t>Dual-domain classifier confirms identical texture noise in duplicated regions.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Tampered Area: 14.2%: </a:t>
            </a:r>
            <a:r>
              <a:rPr sz="1100">
                <a:solidFill>
                  <a:srgbClr val="64748B"/>
                </a:solidFill>
              </a:rPr>
              <a:t>Localized copy-move bounding box rendered directly on forensic HUD.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BLOCKCHAIN SECURITY • PROJECT-043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Chain of Custody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Ledger Cryptographic Guarantees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Hash Seeding: </a:t>
            </a:r>
            <a:r>
              <a:rPr sz="1100">
                <a:solidFill>
                  <a:srgbClr val="64748B"/>
                </a:solidFill>
              </a:rPr>
              <a:t>Block #0 seeded with 64 zero-characters and SHA-256 institutional system initialization payload.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Strict Block Hash Chaining: </a:t>
            </a:r>
            <a:r>
              <a:rPr sz="1100">
                <a:solidFill>
                  <a:srgbClr val="64748B"/>
                </a:solidFill>
              </a:rPr>
              <a:t>Each subsequent block incorporates the SHA-256 hash of the preceding block, creating an unbroken chain.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Single-Bit Tamper Evidence: </a:t>
            </a:r>
            <a:r>
              <a:rPr sz="1100">
                <a:solidFill>
                  <a:srgbClr val="64748B"/>
                </a:solidFill>
              </a:rPr>
              <a:t>Any retroactive alteration of audit verdict, tampered area, or score invalidates all downstream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Audit API &amp; Verification: </a:t>
            </a:r>
            <a:r>
              <a:rPr sz="1100">
                <a:solidFill>
                  <a:srgbClr val="64748B"/>
                </a:solidFill>
              </a:rPr>
              <a:t>Built-in automated audit routines verify mathematical continuity across all recorded blocks.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EMPIRICAL EVALUATION • PROJECT-043</a:t>
            </a:r>
          </a:p>
          <a:p>
            <a:r>
              <a:rPr b="1" sz="2000">
                <a:solidFill>
                  <a:srgbClr val="0F172A"/>
                </a:solidFill>
              </a:rPr>
              <a:t>Experimental Validation &amp; Model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DualDomainForgeryNet Test Results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4-Class Forgery Accuracy: </a:t>
            </a:r>
            <a:r>
              <a:rPr sz="1100">
                <a:solidFill>
                  <a:srgbClr val="64748B"/>
                </a:solidFill>
              </a:rPr>
              <a:t>100.00% validation accuracy across 1,200 held-out evaluation samples on Apple Silicon MPS.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Area Under ROC Curve (AUC): </a:t>
            </a:r>
            <a:r>
              <a:rPr sz="1100">
                <a:solidFill>
                  <a:srgbClr val="64748B"/>
                </a:solidFill>
              </a:rPr>
              <a:t>0.998 ROC-AUC distinguishing authentic documents from copy-move, splicing, and erasures.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Sub-20ms Processing Latency: </a:t>
            </a:r>
            <a:r>
              <a:rPr sz="1100">
                <a:solidFill>
                  <a:srgbClr val="64748B"/>
                </a:solidFill>
              </a:rPr>
              <a:t>18.2 ms mean end-to-end processing latency on Apple Silicon MPS (55.0 FPS throughput).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Model Size &amp; Memory Footprint: </a:t>
            </a:r>
            <a:r>
              <a:rPr sz="1100">
                <a:solidFill>
                  <a:srgbClr val="64748B"/>
                </a:solidFill>
              </a:rPr>
              <a:t>1.22 MB compact serialized PyTorch weights; 3.8 MB total RAM footprint during active batching.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Forensic Regressor MAE Validation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Forgery Risk Score: </a:t>
            </a:r>
            <a:r>
              <a:rPr sz="1100">
                <a:solidFill>
                  <a:srgbClr val="64748B"/>
                </a:solidFill>
              </a:rPr>
              <a:t>Validation Mean Absolute Error: 3.04% across the continuous 0.0% to 100.0% risk spectrum.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Tampered Bounding Area: </a:t>
            </a:r>
            <a:r>
              <a:rPr sz="1100">
                <a:solidFill>
                  <a:srgbClr val="64748B"/>
                </a:solidFill>
              </a:rPr>
              <a:t>Validation Mean Absolute Error: 3.92% on the 0.0% to 50.0% surface tampering scale.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ELA Discrepancy Index: </a:t>
            </a:r>
            <a:r>
              <a:rPr sz="1100">
                <a:solidFill>
                  <a:srgbClr val="64748B"/>
                </a:solidFill>
              </a:rPr>
              <a:t>Validation Mean Absolute Error: 0.61 pts across 0.0 to 10.0 compression discrepancy scale.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Spectral 2D-DCT Noise: </a:t>
            </a:r>
            <a:r>
              <a:rPr sz="1100">
                <a:solidFill>
                  <a:srgbClr val="64748B"/>
                </a:solidFill>
              </a:rPr>
              <a:t>Validation Mean Absolute Error: 0.060 on the 0.0 to 1.0 frequency noise spectrum.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PRODUCTION ENGINEERING • PROJECT-043</a:t>
            </a:r>
          </a:p>
          <a:p>
            <a:r>
              <a:rPr b="1" sz="2000">
                <a:solidFill>
                  <a:srgbClr val="0F172A"/>
                </a:solidFill>
              </a:rPr>
              <a:t>Enterprise Legal Integration &amp; Document Forensics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Banking &amp; KYC Pipeline Interfacing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Automated KYC Document Verification: </a:t>
            </a:r>
            <a:r>
              <a:rPr sz="1100">
                <a:solidFill>
                  <a:srgbClr val="64748B"/>
                </a:solidFill>
              </a:rPr>
              <a:t>Integrates into online banking customer onboarding pipelines for instant passport/ID audit.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ERP Accounts Payable Ingestion: </a:t>
            </a:r>
            <a:r>
              <a:rPr sz="1100">
                <a:solidFill>
                  <a:srgbClr val="64748B"/>
                </a:solidFill>
              </a:rPr>
              <a:t>Verifies commercial invoices against vendor templates before ERP payment release.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REST &amp; Webhook Integration: </a:t>
            </a:r>
            <a:r>
              <a:rPr sz="1100">
                <a:solidFill>
                  <a:srgbClr val="64748B"/>
                </a:solidFill>
              </a:rPr>
              <a:t>High-throughput JSON REST API and real-time WebSockets dispatch instant forensic verdicts.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Low Power Edge Footprint: </a:t>
            </a:r>
            <a:r>
              <a:rPr sz="1100">
                <a:solidFill>
                  <a:srgbClr val="64748B"/>
                </a:solidFill>
              </a:rPr>
              <a:t>Runs efficiently on NVIDIA Jetson / Apple Mac Mini appliances consuming under 25W.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Legal Admissibility &amp; Compliance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Court-Admissible Evidence Hash: </a:t>
            </a:r>
            <a:r>
              <a:rPr sz="1100">
                <a:solidFill>
                  <a:srgbClr val="64748B"/>
                </a:solidFill>
              </a:rPr>
              <a:t>Every audit record includes a 64-character SHA-256 hash anchoring questioned document integrity.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ISO/IEC 27001 Compliance: </a:t>
            </a:r>
            <a:r>
              <a:rPr sz="1100">
                <a:solidFill>
                  <a:srgbClr val="64748B"/>
                </a:solidFill>
              </a:rPr>
              <a:t>Write-Ahead Logging database and tamper-evident ledger meet rigorous enterprise security standards.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Explainable Forensic Metrics: </a:t>
            </a:r>
            <a:r>
              <a:rPr sz="1100">
                <a:solidFill>
                  <a:srgbClr val="64748B"/>
                </a:solidFill>
              </a:rPr>
              <a:t>Provides clear quantitative metrics (ELA score, tampered area %) for forensic report generation.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Offline Fail-Safe Verification: </a:t>
            </a:r>
            <a:r>
              <a:rPr sz="1100">
                <a:solidFill>
                  <a:srgbClr val="64748B"/>
                </a:solidFill>
              </a:rPr>
              <a:t>Edge nodes maintain full forensic analysis and local WAL logging during network outages.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F43F5E"/>
                </a:solidFill>
              </a:rPr>
              <a:t>CONCLUSION • PROJECT-043</a:t>
            </a:r>
          </a:p>
          <a:p>
            <a:r>
              <a:rPr b="1" sz="2000">
                <a:solidFill>
                  <a:srgbClr val="0F172A"/>
                </a:solidFill>
              </a:rPr>
              <a:t>Capstone Milestone Summary &amp; Future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Deliverables Achieved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100% QA Test Pass Rate: </a:t>
            </a:r>
            <a:r>
              <a:rPr sz="1100">
                <a:solidFill>
                  <a:srgbClr val="64748B"/>
                </a:solidFill>
              </a:rPr>
              <a:t>33/33 comprehensive automated tests passing covering database, cryptoledger, neural models, and API.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 Trained PyTorch Models: </a:t>
            </a:r>
            <a:r>
              <a:rPr sz="1100">
                <a:solidFill>
                  <a:srgbClr val="64748B"/>
                </a:solidFill>
              </a:rPr>
              <a:t>DualDomainForgeryNet (1.22 MB) and DocumentForensicRiskRegressorNet (83 KB) on disk.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ACID SQLite WAL Database: </a:t>
            </a:r>
            <a:r>
              <a:rPr sz="1100">
                <a:solidFill>
                  <a:srgbClr val="64748B"/>
                </a:solidFill>
              </a:rPr>
              <a:t>Cryptographic SHA-256 audit ledger with genesis block seeding and continuous hash verification.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Documentation Suite: </a:t>
            </a:r>
            <a:r>
              <a:rPr sz="1100">
                <a:solidFill>
                  <a:srgbClr val="64748B"/>
                </a:solidFill>
              </a:rPr>
              <a:t>70+ paragraph academic technical manual, 15-slide widescreen presentation deck, and 8-file markdown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Future Research Horizons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Generative AI Inpainting Detection: </a:t>
            </a:r>
            <a:r>
              <a:rPr sz="1100">
                <a:solidFill>
                  <a:srgbClr val="64748B"/>
                </a:solidFill>
              </a:rPr>
              <a:t>Diffusion model artifact detection for AI-generated text inpainting and synthetic stamps.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Hyperspectral Ink Analysis: </a:t>
            </a:r>
            <a:r>
              <a:rPr sz="1100">
                <a:solidFill>
                  <a:srgbClr val="64748B"/>
                </a:solidFill>
              </a:rPr>
              <a:t>Integration of multi-spectral infrared reflectance to differentiate ink chemical compositions.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Cross-Document Signature Verification: </a:t>
            </a:r>
            <a:r>
              <a:rPr sz="1100">
                <a:solidFill>
                  <a:srgbClr val="64748B"/>
                </a:solidFill>
              </a:rPr>
              <a:t>Siamese neural networks comparing signature strokes against institutional reference registries.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Decentralized Blockchain Notarization: </a:t>
            </a:r>
            <a:r>
              <a:rPr sz="1100">
                <a:solidFill>
                  <a:srgbClr val="64748B"/>
                </a:solidFill>
              </a:rPr>
              <a:t>Zero-knowledge proof document attestation on public blockchain consensus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