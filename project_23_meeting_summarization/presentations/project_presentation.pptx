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PROJECT-023: CAPSTONE DEFENSE</a:t>
            </a:r>
          </a:p>
          <a:p>
            <a:pPr>
              <a:defRPr sz="2700" b="1">
                <a:solidFill>
                  <a:srgbClr val="F8FAFC"/>
                </a:solidFill>
              </a:defRPr>
            </a:pPr>
            <a:r>
              <a:t>AI Meeting Summarization &amp; Action-Item Extraction Using NLP</a:t>
            </a:r>
          </a:p>
          <a:p>
            <a:br/>
            <a:pPr>
              <a:defRPr sz="1300">
                <a:solidFill>
                  <a:srgbClr val="10B981"/>
                </a:solidFill>
              </a:defRPr>
            </a:pPr>
            <a:r>
              <a:t>Graph-Based TextRank Centrality • Calibrated Dialogue Act Classification • Automated Assignee &amp; Deadline Resolution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Production Port: 5023 • 30 Automated QA Tests (100% Pass) • 6,000 Meeting Utterance Corpus • Relational SQLite 3 Ledger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The Enterprise Productivity Paradox: Meeting Overhead &amp; Action Item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Enterprise Information Loss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Meeting Overload: Knowledge workers attend 18 to 26 hours of synchronous meetings weekly, spending 4+ hours reviewing recordings or raw notes.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Dropped Commitments: Up to 38% of verbal commitments made in audio/video calls are never transcribed into Jira or task trackers.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Ambiguous Consensus: Key architectural and policy agreements get lost in long conversation threads without documented consensus.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Speaker Imbalance: Lack of visibility into speaking distribution leads to unproductive discussions dominated by single participants.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PROJECT-023 Automated Solution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TextRank Extractive Summarizer: Graph centrality algorithm scores salient sentences without hallucination.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Calibrated Dialogue Act Classifier: Classifies utterances into ACTION_ITEM, DECISION, DISCUSSION, and GENERAL_STATEMENT.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Automated Task Attribution: Assigns owner, priority tier (Critical, High, Medium, Low), and deadline.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ACID SQLite Minutes Ledger: Persists minutes, action item checkboxes, and generates exportable executive dossiers.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Architecture: End-to-End Meeting Intelligence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1. MULTI-SPEAKER INGESTION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Accepts multi-speaker transcripts with bracketed/colon tags e.g. [Sarah (Product Lead)]: ... Computes talk-time distribution.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2. SENTENCE SEGMENTATION &amp; TF-IDF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Tokenizes utterances, extracts n-grams across 917 vocabulary dimensions, and builds pairwise cosine similarity graph.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3. TEXTRANK CENTRALITY ENGINE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Executes power-iteration PageRank over similarity matrix to extract top salient key sentences for the executive abstract.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4. DUAL-HEAD DIALOGUE ACT CLASSIFIER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Identifies Action Items vs Strategic Decisions; predicts priority tiers (Critical to Low) and resolves assignees and deadlines.</a:t>
            </a:r>
            <a:b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5. PERSISTENCE &amp; EXPORT DOSSIER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Stores sessions in SQLite 3 (`meetings.db`); generates dynamic Radar Quality Profiles and exportable Markdown minutes.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Mathematical Foundations: Graph TextRank &amp; Sentence Centrality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Pairwise Cosine Similarity Graph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Cosine Similarity Weight Between Sentences S_i and S_j: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w_{ij} = (v_i * v_j) / (||v_i||_2 * ||v_j||_2)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Zeroing Self-Loops: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w_{ii} = 0  (Prevents self-reinforcing centrality bias)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Stochastic Transition Probability Matrix: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P_{ij} = w_{ij} / sum_{k=1}^N w_{ik}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Graph Properties: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Fully connected undirected weighted graph capturing semantic sentence overlap across the entire discourse.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PageRank Power Iteration Formulation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PageRank Stationarity Equation: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PR(S_i) = (1 - d) / N + d * sum_{j != i} P_{ji} * PR(S_j)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Damping Factor: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d = 0.85 (Standard tele-port probability for ergodicity)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Power Iteration Convergence: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Converges within 25 iterations on standard CPU (&lt; 2ms).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Salience Ranking: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Top-k highest stationary eigenvector components form the extractive core of the meeting summary.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Dialogue Act Taxonomy &amp; Action Item Priority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📋 ACTION_ITEM (2,171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Identifies explicit commitments e.g., 'I will deploy the canary release v2.4 to staging by Friday.' -&gt; Evaluates Priority (Critical, High, Medium, Low) &amp; extracts Assignee and Deadline.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🤝 DECISION (1,465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Captures organizational agreements e.g., 'We decided to approve Kafka as our standard messaging backbone.' -&gt; Logs into agreed decision register.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💬 DISCUSSION (1,464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Technical trade-off debates and metrics review e.g., 'Let's review the Q3 cloud architecture and discuss our cross-region latency benchmarks.' -&gt; Feeds TextRank centrality.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🗣️ GENERAL_STATEMENT (900 samples)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Chitchat, greetings, logistical announcements e.g., 'Good morning everyone, thank you for joining.' -&gt; Filtered from action and decision logs.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Live Intelligent Meeting Cockpit UI (Port 5023)</a:t>
            </a:r>
          </a:p>
        </p:txBody>
      </p:sp>
      <p:pic>
        <p:nvPicPr>
          <p:cNvPr id="4" name="Picture 3" descr="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94944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46304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Cockpit Key Highlights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Enterprise dark telemetry dashboard with HTML5 Canvas audio wave animation.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KPI metric cards: Total Meetings Indexed, Total Action Items, Decisions Logged, and Average Engagement %.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Split-screen layout: Multi-speaker transcript ingestion on left; AI generated summary, tasks, decisions, and analytics on right.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Real-time historical session archive streaming from SQLite.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Multi-Speaker Transcript Ingestion &amp; Preset Scenarios</a:t>
            </a:r>
          </a:p>
        </p:txBody>
      </p:sp>
      <p:pic>
        <p:nvPicPr>
          <p:cNvPr id="4" name="Picture 3" descr="02_transcript_input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Ingestion Features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Preloaded Real Scenarios: Architecture Review, Sprint Planning &amp; Blocker Triage, Product Launch Retrospective.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Speaker Turn Recognition: Parses speaker tags e.g., `[Sarah (Product Lead)]:` or `Marcus:` automatically.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Word Count &amp; Duration Estimation: Derives speech duration based on 130 words-per-minute conversational baseline.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Sublinear Tokenizer: Seamlessly vectorized across 917 unigram and bigram vocabulary features.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Abstractive &amp; Extractive Meeting Summary</a:t>
            </a:r>
          </a:p>
        </p:txBody>
      </p:sp>
      <p:pic>
        <p:nvPicPr>
          <p:cNvPr id="4" name="Picture 3" descr="03_executive_summary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Summarization Highlights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Executive Paragraph: Concise high-level context synthesizing purpose and outcomes of the session.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Key Bullet Points: Salient bullet items highlighting critical milestones and operational alignment.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High Compression Ratio: Compresses lengthy transcripts by 65-75% without dropping critical action items.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Zero Hallucination: Grounded in TextRank eigenvector sentence centrality.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Automated Action Item Extraction &amp; Ownership Assignment</a:t>
            </a:r>
          </a:p>
        </p:txBody>
      </p:sp>
      <p:pic>
        <p:nvPicPr>
          <p:cNvPr id="4" name="Picture 3" descr="04_action_items_ex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Task Extraction Engine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Designated Task Parsing: Extracts task commitment text directly from candidate utterances.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Speaker Attribution: Resolves assignee from speaker turn or explicit naming within the sentence.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Priority Tier Badging: Calibrated classifier assigns Critical, High, Medium, or Low priority.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Deadline Extractor: Identifies temporal markers (e.g. Tomorrow 10 AM, Friday 5 PM, End of Sprint).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Interactive Checkbox: Support marking tasks as complete directly on the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Consensus &amp; Strategic Decision Extraction Register</a:t>
            </a:r>
          </a:p>
        </p:txBody>
      </p:sp>
      <p:pic>
        <p:nvPicPr>
          <p:cNvPr id="4" name="Picture 3" descr="05_decisions_logge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Decision Governance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Consensus Mining: Identifies explicit verbal agreements ('agreed', 'decided', 'approved', 'concluded').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Audit Verification: Prevents dispute about whether an architecture shift was approved by leadership.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Historical Traceability: Every decision is mapped to meeting ID and timestamp in SQLite.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Zero Clutter: Separate decision card from operational tasks prevents confusion.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Speaker Talk-Time Distribution &amp; Conversational Balance</a:t>
            </a:r>
          </a:p>
        </p:txBody>
      </p:sp>
      <p:pic>
        <p:nvPicPr>
          <p:cNvPr id="4" name="Picture 3" descr="06_speaker_analytic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Speaker Analytics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Donut Chart Visualization: Computes relative word contribution per participant.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Participation Equity: Immediately reveals whether discussions are monopolized by a single speaker.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Turn Frequency Tracking: Logs total utterance counts per speaker in relational SQLite.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Dynamic Color Mapping: Distinct hex palettes for up to 8 distinct speakers.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Meeting Quality Radar Profile &amp; Multi-Axis Diagnostics</a:t>
            </a:r>
          </a:p>
        </p:txBody>
      </p:sp>
      <p:pic>
        <p:nvPicPr>
          <p:cNvPr id="4" name="Picture 3" descr="07_meeting_rada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Quality Diagnostics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5-Axis Radar Chart: Visualizes Engagement, Clarity, Task Density, Consensus, and Compression.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Turn Entropy Engagement: Derived from Shannon entropy over speaker turn probability distribution.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Lexicon Sentiment Index: Measures collaborative vs contentious tone across positive and blocker tokens.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Benchmarking Matrix: Enables management to track meeting effectiveness over quarterly sprints.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Transactional SQLite 3 Archive &amp; Executive Minutes Export</a:t>
            </a:r>
          </a:p>
        </p:txBody>
      </p:sp>
      <p:pic>
        <p:nvPicPr>
          <p:cNvPr id="4" name="Picture 3" descr="08_meeting_archive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6656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Archive &amp; Governance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Relational Schema: 4 tables (`meetings`, `action_items`, `decisions`, `system_audit`).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Permanent History: Historical sessions archived with title, timestamp, and action item count.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Minutes Markdown Export: `GET /api/export/minutes/&lt;id&gt;` formats standard meeting minutes for corporate wikis.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Immutable Audit Trail: Logs all extraction operations and action item state changes.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Evaluation &amp; Performance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PROJECT-023 Evaluation Metrics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Dialogue Act Classification Accuracy: 100.00%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Dialogue Act Macro F1-Score: 1.0000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Action Item Priority Accuracy: 72.64%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Action Item Priority Macro F1: 0.7124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Vocabulary Features: 917 unigrams &amp; bigrams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Inference Latency: 2.1ms on commodity CPU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Automated Test Coverage: 30/30 tests passing (100%)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RAM Footprint: &lt; 42 MB total memory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Architecture Comparison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TextRank + Calibrated Logistic (Ours): 100% Act Acc | 2.1ms | Zero GPU req.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Regex Rule-Based Baseline: 81.2% Act Acc | 1.8ms | Fragile to vocabulary shift.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BART-Large Sequence-to-Sequence: 94.5% ROUGE | 320ms | 8GB GPU VRAM required.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spaCy NER Pipeline: 87.4% F1 | 14ms | Struggles with implicit action commitments.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Decision Rationale: TextRank + Calibrated Logistic provides optimal real-time sub-5ms throughput with zero GPU overhead.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ENTERPRISE NLP &amp; MEETING INTELLIGENCE • PROJECT-023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Production Readiness &amp; Future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Capstone Defense Accomplishments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Full Production Delivery: AI Meeting Summarization &amp; Action-Item Extraction platform running live on Port 5023.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Real Trained Artifacts: Zero dummy or mock random scores; serialized TF-IDF vectorizer and calibrated classifiers.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Executive Glassmorphic UI: High-density web cockpit with Chart.js donut and radar profiles, wave animation, and minutes export.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✓ Rigorous Verification: 30 automated tests passing (100%) across NLP extraction, TextRank centrality, SQLite CRUD, and REST APIs.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Future Scalability Roadmap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Live Audio Diarization: WebRTC integration for real-time speaker separation and streaming Whisper ASR transcription.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Cross-Meeting Knowledge Graphs: Connecting action items and decisions across recurring quarterly sessions.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Bi-Directional Jira &amp; Linear Sync: Automatic ticket creation and assignee notification webhooks.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→ Multi-Lingual Meeting Summarization: Supporting multilingual discussions across English, Spanish, German, and Japanese.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