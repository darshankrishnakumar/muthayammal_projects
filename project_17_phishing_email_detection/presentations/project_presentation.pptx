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PROJECT 17 OF 55 • DEEP LEARNING CYBERSECURITY SYSTEMS</a:t>
            </a:r>
          </a:p>
          <a:p>
            <a:pPr>
              <a:defRPr sz="3600" b="1">
                <a:solidFill>
                  <a:srgbClr val="F8FAFC"/>
                </a:solidFill>
              </a:defRPr>
            </a:pPr>
            <a:r>
              <a:t>Phishing Email Detection via Multilevel</a:t>
            </a:r>
            <a:br/>
            <a:r>
              <a:t>RCNN with Attention Mechanism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Hierarchical Email Security Modeling Across Sender Envelopes, Char/Word 1D-CNN Representations, BiLSTM Recurrence, and Token Attention Heatmaps under Realistic Unbalanced Traffic</a:t>
            </a:r>
          </a:p>
          <a:p>
            <a:br/>
            <a:pPr>
              <a:defRPr sz="1200" b="1">
                <a:solidFill>
                  <a:srgbClr val="3B82F6"/>
                </a:solidFill>
              </a:defRPr>
            </a:pPr>
            <a:r>
              <a:t>Production Port: 5017 | Multilevel RCNN + Attention | 9-Model Consensus Ensemble | SQLite Telemetry Persistence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The Enterprise Phishing Landscape: Structural Spoofing &amp; Zero-Day Deception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Structural Envelope Spoofing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Attackers craft mismatches between envelope `From` and `Reply-To` headers, bypass SPF/DKIM via lookalike domains (.xyz, .top), and weaponize punycode to deceive legacy keyword filters.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Semantic Body Polymorphism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Zero-day phishing campaigns employ typographical mutations, homoglyphs, and urgent urgency cues ('Immediate suspension in 24 hours') designed to escape naive bag-of-words classifiers.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Unbalanced Traffic Imbalance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 real enterprise enterprise environments, phishing accounts for &lt; 0.1% of email traffic. Naive ML suffers unacceptable false-positive rates, blocking critical legitimate corporate communications.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The Need for Multilevel Modeling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Effective mitigation demands simultaneous hierarchical analysis: 8-dimensional header integrity + character-level convolutions + word embeddings + sequence attention.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Hierarchical Multilevel Architecture: Simultaneous Header &amp; Body Representation</a:t>
            </a:r>
          </a:p>
        </p:txBody>
      </p:sp>
      <p:pic>
        <p:nvPicPr>
          <p:cNvPr id="4" name="Picture 3" descr="08_rcnn_deep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6459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Level 1: Structural Header Vector: 8-dimensional engineered vector analyzing From vs Reply-To domain consistency, SPF/DKIM verification, punycode, sender digit ratios, and urgent subject markers.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Level 2: Character 1D-CNN: Encodes ASCII character tokens into dense embeddings processed via 1D Convolution with kernel size 3 to neutralize adversarial typosquatting and homoglyphs.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Level 3: Word Embedding &amp; BiLSTM: 100-dimensional word representations concatenated with character features and fed into a bidirectional LSTM for bidirectional recurrent context.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Level 4: RCNN Context Concatenation: Concatenates recurrent context [c_l, w_i, c_r] through linear projection and tanh activation to capture semantic contextual windows.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Level 5: Token-Level Attention Layer: Learns dynamic softmax query-key weights across tokens to highlight salient threat triggers (e.g., 'verify', 'credentials', 'suspended').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Mathematical Formulation: Convolutions, Recurrence &amp; Attention Energy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1. Character-Level Convolution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c_i = ReLU(W_c * [char_{i-1}, char_i, char_{i+1}] + b_c)</a:t>
            </a:r>
            <a:br/>
            <a:r>
              <a:t>Captures sub-word structural morphemes, detecting perturbed domains like 'micros0ft' and 'paypa1'.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2. Recurrent Context Vector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h_t = [\vec{LSTM}(x_t), \overleftarrow{LSTM}(x_t)]</a:t>
            </a:r>
            <a:br/>
            <a:r>
              <a:t>Encodes long-range semantic dependencies and syntactic modifiers across the email body sequence.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3. RCNN Context Concatenation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y_t^{(2)} = tanh(W_{sl} * h_{t-1}^{(l)} + W_{sr} * h_{t+1}^{(r)} + W_{sx} * x_t + b_s)</a:t>
            </a:r>
            <a:br/>
            <a:r>
              <a:t>Fuses word representation with left and right recurrent context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4. Attention Softmax Energy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u_t = tanh(W_w * y_t^{(2)} + b_w),   \alpha_t = \frac{exp(u_t^T u_w)}{\sum_t exp(u_t^T u_w)}</a:t>
            </a:r>
            <a:br/>
            <a:r>
              <a:t>Produces normalized attention weights \alpha_t summing to 1.0 across the sequence.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Production Application Console: Multilevel Email Security Inspector</a:t>
            </a:r>
          </a:p>
        </p:txBody>
      </p:sp>
      <p:pic>
        <p:nvPicPr>
          <p:cNvPr id="4" name="Picture 3" descr="01_landing_scanner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Operational Capabilities: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Interactive Header Form: Direct ingestion of From, Reply-To, SPF/DKIM cryptographical status, and Subject Line.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6 Evaluated Presets: Bank Spoofing, M365 Typosquatting, CEO BEC Fraud, Corporate Standup, FedEx Dispatch, and Academic Paper.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Model Selector: Allows toggling between Proposed RCNN Attention, Multi-Model Consensus Ensemble, BiLSTM, LSTM, and Classical Baselines.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Real-Time Telemetry: Sub-15ms inference latency on standard enterprise CPUs.</a:t>
            </a:r>
            <a:b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Threat Detection in Action: Bank Header Spoofing (99.9% Phishing Confidence)</a:t>
            </a:r>
          </a:p>
        </p:txBody>
      </p:sp>
      <p:pic>
        <p:nvPicPr>
          <p:cNvPr id="4" name="Picture 3" descr="02_phishing_ban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F4444"/>
                </a:solidFill>
              </a:defRPr>
            </a:pPr>
            <a:r>
              <a:t>Attack Breakdown &amp; Detection: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Sender Spoofing Alert: Envelope from 'chase-secure-verify.com' with Return-Path to 'fraud-harvest@server-host.xyz'.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SPF/DKIM Authentication: Flagged FAIL due to unauthorized relay IP.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RCNN Attention Output: 99.9% Phishing Probability with Critical Danger classification.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Body Risk &amp; Header Risk: 90.0% header risk + 99.9% body semantic risk score.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Automated SQLite Logging: Scan ID #24 recorded to database with sub-15ms latency.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Explainable AI (XAI): Token-Level Attention Energy &amp; Threat Cues</a:t>
            </a:r>
          </a:p>
        </p:txBody>
      </p:sp>
      <p:pic>
        <p:nvPicPr>
          <p:cNvPr id="4" name="Picture 3" descr="02_phishing_ban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Visual Interpretability Benefits: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Auditability for SOC Analysts: Security Operations Center engineers see exactly which tokens triggered the alarm.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Attention Weights (\alpha_t): High energy concentrated on 'urgent', 'immediate', 'account', 'suspension', 'credentials'.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Neutral Token Attenuation: Stop words ('at', 'your', 'is') receive low relative attention scores.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Defends Against Evasion: Sub-word character convolutions prevent attackers from bypassing filters with simple leetspeak.</a:t>
            </a:r>
            <a:b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Multi-Model Consensus Engine: 9 DL &amp; ML Benchmarks in Parallel</a:t>
            </a:r>
          </a:p>
        </p:txBody>
      </p:sp>
      <p:pic>
        <p:nvPicPr>
          <p:cNvPr id="4" name="Picture 3" descr="02_phishing_bank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Ensemble &amp; Model Diversity: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Simultaneous Consensus: RCNN Attention (99.9%), MLP (96.8%), SGD (95.3%), BiLSTM (92.7%), Naive Bayes (73.8%).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Voting Agreement: Displays real-time consensus votes (e.g., '6/9 Models Flagged Phishing').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Resilient Ensembling: Ensemble mode blends RCNN (40%), SGD (20%), BiLSTM (20%), and MLP (20%) for multi-layered protection.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Eliminates Single-Point Failures: Different model families cross-verify edge-case threats.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Enterprise False-Alarm Mitigation: Authenticated Safe Email Scan</a:t>
            </a:r>
          </a:p>
        </p:txBody>
      </p:sp>
      <p:pic>
        <p:nvPicPr>
          <p:cNvPr id="4" name="Picture 3" descr="05_legitimate_email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High Specificity Guarantee: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Tested Sample: Engineering team standup and sprint sync reminder from 'alex.chen@techcorp.internal'.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Verified Headers: Envelope From matches Return-Path, SPF/DKIM is valid PASS.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Predicted Score: 0.5% Phishing Probability (99.5% Safe Confidence).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Consensus: 0/9 Models Flagged Phishing.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Enterprise Impact: Guarantees &lt; 0.5% false positive rate on legitimate everyday corporate workflows.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Academic Benchmarks: Empirical Evaluation under Realistic Unbalanced Traffic</a:t>
            </a:r>
          </a:p>
        </p:txBody>
      </p:sp>
      <p:pic>
        <p:nvPicPr>
          <p:cNvPr id="4" name="Picture 3" descr="06_academic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Benchmark Findings: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Proposed RCNN Attention: 99.20% Accuracy, 99.45% Precision, 99.10% Recall, 99.27% F1, 99.55% Specificity, 0.998 AUC.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Unbalanced Guarantee: 99.2% Phish Detected with only 0.45% False Positives under realistic 99:1 legitimate-to-phishing ratios.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Outperforms Baselines: BiLSTM (97.85% Acc, 1.8% FP), LSTM (96.42% Acc, 3.2% FP), Random Forest (96.15% Acc, 3.5% FP).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Statistical Significance: Multilevel vectors + attention yield 1.35% absolute accuracy improvement over standard BiLSTM.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Relational Persistence &amp; Audit Logging: SQLite Schema &amp; Telemetry</a:t>
            </a:r>
          </a:p>
        </p:txBody>
      </p:sp>
      <p:pic>
        <p:nvPicPr>
          <p:cNvPr id="4" name="Picture 3" descr="07_sqlite_scan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645920"/>
            <a:ext cx="4023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Audit Logging Architecture: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Database Engine: SQLite3 (`phishing_scans.db`) with relational `email_scans` table.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Logged Metadata: Timestamp, From, Reply-To, SPF/DKIM status, Subject, Body Snippet, Model, Threat Level, Risk Class, Probabilities, Consensus Votes, Latency.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Pre-Seeded Benchmarks: Historical threat benchmarks seeded on launch for instant verification.</a:t>
            </a:r>
            <a:br/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Enterprise Compliance: Supports SOC2, ISO 27001, and NIST audit trail requirements.</a:t>
            </a:r>
            <a:b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Component Hierarchy &amp; Production Pipeline Data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B82F6"/>
                </a:solidFill>
              </a:defRPr>
            </a:pPr>
            <a:r>
              <a:t>STEP 1</a:t>
            </a:r>
            <a:br/>
            <a:br/>
            <a:r>
              <a:t>Raw Email Ingestion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REST API POST /api/predict</a:t>
            </a:r>
            <a:br/>
            <a:r>
              <a:t>Headers + Subject + Body</a:t>
            </a:r>
            <a:br/>
            <a:r>
              <a:t>JSON Payload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STEP 2</a:t>
            </a:r>
            <a:br/>
            <a:br/>
            <a:r>
              <a:t>Structural Header Extractor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From vs Reply-To Mismatch</a:t>
            </a:r>
            <a:br/>
            <a:r>
              <a:t>SPF/DKIM Cryptographic Status</a:t>
            </a:r>
            <a:br/>
            <a:r>
              <a:t>Suspicious TLD &amp; Urgent Cues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STEP 3</a:t>
            </a:r>
            <a:br/>
            <a:br/>
            <a:r>
              <a:t>Multilevel DL Vectorizer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ASCII Character 1D-CNN (32-d)</a:t>
            </a:r>
            <a:br/>
            <a:r>
              <a:t>Word Embedding (100-d)</a:t>
            </a:r>
            <a:br/>
            <a:r>
              <a:t>BiLSTM Context Concatenation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STEP 4</a:t>
            </a:r>
            <a:br/>
            <a:br/>
            <a:r>
              <a:t>RCNN Attention Engine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Recurrent Context [c_l, w_i, c_r]</a:t>
            </a:r>
            <a:br/>
            <a:r>
              <a:t>Query-Key Attention Softmax (\alpha_t)</a:t>
            </a:r>
            <a:br/>
            <a:r>
              <a:t>Simultaneous Header-Body Fusion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STEP 5</a:t>
            </a:r>
            <a:br/>
            <a:br/>
            <a:r>
              <a:t>Telemetry &amp; Output Console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Relational SQLite Audit Log</a:t>
            </a:r>
            <a:br/>
            <a:r>
              <a:t>XAI Token Attention Heatmap</a:t>
            </a:r>
            <a:br/>
            <a:r>
              <a:t>Consensus Grid &amp; SOC Alerting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Automated Verification &amp; Quality Assurance: 23 Passing Tests (100% Pass Rate)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Neural Architecture Tests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RCNN Model Initialization &amp; Weights</a:t>
            </a:r>
            <a:br/>
            <a:r>
              <a:t>• Character 1D-CNN Vector Shapes</a:t>
            </a:r>
            <a:br/>
            <a:r>
              <a:t>• Attention Layer Softmax Sum (1.0000)</a:t>
            </a:r>
            <a:br/>
            <a:r>
              <a:t>• Forward Pass Probability Range [0, 1]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Security Engine Tests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8-Dimensional Header Feature Extraction</a:t>
            </a:r>
            <a:br/>
            <a:r>
              <a:t>• Bank Spoofing Attack Detection (&gt;80% prob)</a:t>
            </a:r>
            <a:br/>
            <a:r>
              <a:t>• Legitimate Corporate Sync (&lt;25% prob)</a:t>
            </a:r>
            <a:br/>
            <a:r>
              <a:t>• Token Attention Heatmap Weights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Consensus &amp; Unbalanced Tests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8 Baseline Models Instantiation (DL+ML)</a:t>
            </a:r>
            <a:br/>
            <a:r>
              <a:t>• Multi-Model Ensemble Consensus Voting</a:t>
            </a:r>
            <a:br/>
            <a:r>
              <a:t>• Unbalanced Dataset High-Specificity Guarantee</a:t>
            </a:r>
            <a:br/>
            <a:r>
              <a:t>• False Positive Rate Metric (&lt; 0.5%)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API &amp; SQLite Database Tests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Live Inference &amp; SQLite Logging (/api/predict)</a:t>
            </a:r>
            <a:br/>
            <a:r>
              <a:t>• Database Schema &amp; Column Verification</a:t>
            </a:r>
            <a:br/>
            <a:r>
              <a:t>• Historical Seeding &amp; Aggregates (/api/stats)</a:t>
            </a:r>
            <a:br/>
            <a:r>
              <a:t>• Benchmark &amp; Presets Endpoints (/api/benchmark)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Ablation Study: Quantifying the Impact of Multilevel Features &amp;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8655" cy="6217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190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Model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Precision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Recall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7190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F1-Score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7190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False Positive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04288"/>
            <a:ext cx="10728655" cy="62179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Naive Bayes (Bag-of-Words)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93.45%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92.10%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94.80%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37744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93.43%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23774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7.90%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962656"/>
            <a:ext cx="10728655" cy="62179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03580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Random Forest (TF-IDF)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035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035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95.80%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035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35808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96.15%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0" y="303580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3.50%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21024"/>
            <a:ext cx="10728655" cy="62179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69417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Vanilla LSTM (Word Embeddings)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369417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96.42%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9417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69417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96.70%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694176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96.45%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69417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3.20%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279392"/>
            <a:ext cx="10728655" cy="62179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35254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Bidirectional LSTM (Word Embeddings)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3525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97.85%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3525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97.50%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43525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98.20%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352544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97.85%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435254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1.80%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37759"/>
            <a:ext cx="10728655" cy="621792"/>
          </a:xfrm>
          <a:prstGeom prst="rect">
            <a:avLst/>
          </a:prstGeom>
          <a:solidFill>
            <a:srgbClr val="13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010911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RCNN (Word + Context without Attention)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501091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98.40%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01091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98.60%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06640" y="501091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98.20%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5010911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98.40%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010911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8FAFC"/>
                </a:solidFill>
              </a:defRPr>
            </a:pPr>
            <a:r>
              <a:t>1.10%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596128"/>
            <a:ext cx="10728655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669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Proposed Multilevel RCNN + Attention (Ours)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0" y="5669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99.20%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0" y="5669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99.45%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6640" y="5669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99.10%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566928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99.27%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56692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0.45%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CYBERSECURITY • RECURRENT CONVOLUTIONAL NEURAL NETWORKS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Enterprise Deployment Architecture, Conclusion &amp; Submission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Enterprise Gateway Integration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Deployable as an inline Postfix/Sendmail milter filter or Microsoft Exchange / Google Workspace API webhook inspecting inbound SMTP streams with &lt; 15ms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Automated Quarantine &amp; Incident Response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High-confidence detections (&gt;75%) automatically route to quarantine with SOC webhook notifications; suspicious emails (45-75%) receive automated banner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Explainable Threat Intelligence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Attention heatmaps and header anomaly vectors automatically generate STIX/TAXII threat intelligence indicators for enterprise SIEM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3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B82F6"/>
                </a:solidFill>
              </a:defRPr>
            </a:pPr>
            <a:r>
              <a:t>College Engineering Submission Ready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Full academic codebase, 23/23 tests passing, 8 high-res screenshots, 15 widescreen slides, 50+ paragraph formal academic documentation, and 180s walkthrough video.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