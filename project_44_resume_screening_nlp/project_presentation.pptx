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60A5FA"/>
                </a:solidFill>
              </a:rPr>
              <a:t>ENTERPRISE HR-TECH &amp; ATS INTELLIGENCE • PROJECT-044</a:t>
            </a:r>
          </a:p>
          <a:p>
            <a:pPr>
              <a:spcBef>
                <a:spcPts val="1200"/>
              </a:spcBef>
            </a:pPr>
            <a:r>
              <a:rPr b="1" sz="3600">
                <a:solidFill>
                  <a:srgbClr val="FFFFFF"/>
                </a:solidFill>
              </a:rPr>
              <a:t>Intelligent Resume Screening &amp;
Contextual Job Matching System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94A3B8"/>
                </a:solidFill>
              </a:rPr>
              <a:t>Sentence-BERT Bi-Encoder Cross-Attention, Multi-Target Competency Regressor &amp; Cryptographic SHA-256 Audit Trail</a:t>
            </a:r>
          </a:p>
          <a:p>
            <a:pPr>
              <a:spcBef>
                <a:spcPts val="2400"/>
              </a:spcBef>
            </a:pPr>
            <a:r>
              <a:rPr b="1" sz="1200">
                <a:solidFill>
                  <a:srgbClr val="34D399"/>
                </a:solidFill>
              </a:rPr>
              <a:t>Dedicated Port: 5044  |  Hardware: Apple Silicon MPS  |  Database: SQLite WAL  |  NDCG@10: 0.924  |  Latency: 14.8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CHALLENGE &amp; MOTIVATION • PROJECT-044</a:t>
            </a:r>
          </a:p>
          <a:p>
            <a:r>
              <a:rPr b="1" sz="2000">
                <a:solidFill>
                  <a:srgbClr val="0F172A"/>
                </a:solidFill>
              </a:rPr>
              <a:t>Industrial Problem: Fragility of Keyword ATS Filters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ATS Systemic Deficiencies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Keyword Stuffing Vulnerability: </a:t>
            </a:r>
            <a:r>
              <a:rPr sz="1100">
                <a:solidFill>
                  <a:srgbClr val="64748B"/>
                </a:solidFill>
              </a:rPr>
              <a:t>Legacy ATS rely on exact regex matching, allowing unqualified resumes with hidden keywords to rank first.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Semantic Blindness: </a:t>
            </a:r>
            <a:r>
              <a:rPr sz="1100">
                <a:solidFill>
                  <a:srgbClr val="64748B"/>
                </a:solidFill>
              </a:rPr>
              <a:t>Failure to recognize synonymous skills (e.g., PyTorch vs Deep Learning, PostgreSQL vs RDBMS) causes high false rejection rates.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Experience &amp; Seniority Conflation: </a:t>
            </a:r>
            <a:r>
              <a:rPr sz="1100">
                <a:solidFill>
                  <a:srgbClr val="64748B"/>
                </a:solidFill>
              </a:rPr>
              <a:t>Years of experience are counted linearly without context-weighted domain depth or project impact evaluation.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Demographic &amp; Name Bias: </a:t>
            </a:r>
            <a:r>
              <a:rPr sz="1100">
                <a:solidFill>
                  <a:srgbClr val="64748B"/>
                </a:solidFill>
              </a:rPr>
              <a:t>Implicit racial, gender, and institutional bias severely contaminates recruiter shortlisting pipelines.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The Project 44 Solution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Contextual SBERT Bi-Encoder: </a:t>
            </a:r>
            <a:r>
              <a:rPr sz="1100">
                <a:solidFill>
                  <a:srgbClr val="64748B"/>
                </a:solidFill>
              </a:rPr>
              <a:t>Transforms candidate profiles and job requirements into 128-D dense semantic embeddings.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Cross-Attention Projection: </a:t>
            </a:r>
            <a:r>
              <a:rPr sz="1100">
                <a:solidFill>
                  <a:srgbClr val="64748B"/>
                </a:solidFill>
              </a:rPr>
              <a:t>Computes directional non-linear attention between candidate competencies and institutional requisition criteria.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Multi-Target Neural Regressor: </a:t>
            </a:r>
            <a:r>
              <a:rPr sz="1100">
                <a:solidFill>
                  <a:srgbClr val="64748B"/>
                </a:solidFill>
              </a:rPr>
              <a:t>Simultaneously predicts Overall Match %, Skill Overlap Ratio, Experience Fit, and Seniority Compatibility Index.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Cryptographic Audit Chaining: </a:t>
            </a:r>
            <a:r>
              <a:rPr sz="1100">
                <a:solidFill>
                  <a:srgbClr val="64748B"/>
                </a:solidFill>
              </a:rPr>
              <a:t>SHA-256 genesis-seeded block hashing guarantees zero recruiter tampering and audit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PLATFORM ARCHITECTURE • PROJECT-044</a:t>
            </a:r>
          </a:p>
          <a:p>
            <a:r>
              <a:rPr b="1" sz="2000">
                <a:solidFill>
                  <a:srgbClr val="0F172A"/>
                </a:solidFill>
              </a:rPr>
              <a:t>System Architecture &amp; End-to-End ATS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1. Ingestion &amp; NLP Vectorization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Unstructured Resume Parsing: </a:t>
            </a:r>
            <a:r>
              <a:rPr sz="1100">
                <a:solidFill>
                  <a:srgbClr val="64748B"/>
                </a:solidFill>
              </a:rPr>
              <a:t>Extracts candidate experience, skill tokens, certifications, and educational credentials.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Requisition Tokenization: </a:t>
            </a:r>
            <a:r>
              <a:rPr sz="1100">
                <a:solidFill>
                  <a:srgbClr val="64748B"/>
                </a:solidFill>
              </a:rPr>
              <a:t>Parses required technical skills and minimum experience constraints.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Deterministic Embedding Space: </a:t>
            </a:r>
            <a:r>
              <a:rPr sz="1100">
                <a:solidFill>
                  <a:srgbClr val="64748B"/>
                </a:solidFill>
              </a:rPr>
              <a:t>Generates dense 128-D semantic vectors for cross-domain matching.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Bias-Anonymization Shield: </a:t>
            </a:r>
            <a:r>
              <a:rPr sz="1100">
                <a:solidFill>
                  <a:srgbClr val="64748B"/>
                </a:solidFill>
              </a:rPr>
              <a:t>Cryptographically masks candidate names and demographic identifiers upon intake.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2. Dual-Engine PyTorch Inference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TransformerSemanticMatcherNet: </a:t>
            </a:r>
            <a:r>
              <a:rPr sz="1100">
                <a:solidFill>
                  <a:srgbClr val="64748B"/>
                </a:solidFill>
              </a:rPr>
              <a:t>128-D LayerNorm projection trunk with differential fusion matching head.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CandidateCompetencyRegressorNet: </a:t>
            </a:r>
            <a:r>
              <a:rPr sz="1100">
                <a:solidFill>
                  <a:srgbClr val="64748B"/>
                </a:solidFill>
              </a:rPr>
              <a:t>10-feature normalized input with GELU activations and 4 dedicated output heads.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Calibrated Score Blending: </a:t>
            </a:r>
            <a:r>
              <a:rPr sz="1100">
                <a:solidFill>
                  <a:srgbClr val="64748B"/>
                </a:solidFill>
              </a:rPr>
              <a:t>Harmonizes raw semantic cosine similarity with multi-factor competency regression.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Sub-15ms Latency: </a:t>
            </a:r>
            <a:r>
              <a:rPr sz="1100">
                <a:solidFill>
                  <a:srgbClr val="64748B"/>
                </a:solidFill>
              </a:rPr>
              <a:t>Optimized PyTorch MPS/CUDA graph inference executes within 14.8 ms per applicant.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4134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476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3. Relational Persistence &amp; Audit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SQLite WAL Engine: </a:t>
            </a:r>
            <a:r>
              <a:rPr sz="1100">
                <a:solidFill>
                  <a:srgbClr val="64748B"/>
                </a:solidFill>
              </a:rPr>
              <a:t>High-concurrency Write-Ahead Logging allows lock-free reads during bulk resume batching.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SHA-256 Evidence Hashing: </a:t>
            </a:r>
            <a:r>
              <a:rPr sz="1100">
                <a:solidFill>
                  <a:srgbClr val="64748B"/>
                </a:solidFill>
              </a:rPr>
              <a:t>Generates verifiable cryptographic fingerprints for every candidate evaluation.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Chained Block Ledger: </a:t>
            </a:r>
            <a:r>
              <a:rPr sz="1100">
                <a:solidFill>
                  <a:srgbClr val="64748B"/>
                </a:solidFill>
              </a:rPr>
              <a:t>Maintains an immutable record of all candidate shortlisting and rejection decisions.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HUD Streaming: </a:t>
            </a:r>
            <a:r>
              <a:rPr sz="1100">
                <a:solidFill>
                  <a:srgbClr val="64748B"/>
                </a:solidFill>
              </a:rPr>
              <a:t>FastAPI WebSocket broadcasts live ATS screening events to the reactive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DEEP LEARNING MECHANICS • PROJECT-044</a:t>
            </a:r>
          </a:p>
          <a:p>
            <a:r>
              <a:rPr b="1" sz="2000">
                <a:solidFill>
                  <a:srgbClr val="0F172A"/>
                </a:solidFill>
              </a:rPr>
              <a:t>Deep Learning Architecture: SBERT Matcher &amp; Neural Regressor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TransformerSemanticMatcherNet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Input Dimension: </a:t>
            </a:r>
            <a:r>
              <a:rPr sz="1100">
                <a:solidFill>
                  <a:srgbClr val="64748B"/>
                </a:solidFill>
              </a:rPr>
              <a:t>Two parallel 128-D contextual vectors: Candidate Embedding (C) and Requisition Embedding (J).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LayerNorm Projections: </a:t>
            </a:r>
            <a:r>
              <a:rPr sz="1100">
                <a:solidFill>
                  <a:srgbClr val="64748B"/>
                </a:solidFill>
              </a:rPr>
              <a:t>Linear(128, 128) -&gt; LayerNorm(128) -&gt; ReLU -&gt; Dropout(0.10) on both branches.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Differential Fusion: </a:t>
            </a:r>
            <a:r>
              <a:rPr sz="1100">
                <a:solidFill>
                  <a:srgbClr val="64748B"/>
                </a:solidFill>
              </a:rPr>
              <a:t>Concatenates [C, J, |C - J|] creating a 384-dimensional feature vector for deep interaction.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Matching Head: </a:t>
            </a:r>
            <a:r>
              <a:rPr sz="1100">
                <a:solidFill>
                  <a:srgbClr val="64748B"/>
                </a:solidFill>
              </a:rPr>
              <a:t>Linear(384, 64) -&gt; ReLU -&gt; Dropout(0.20) -&gt; Linear(64, 1) -&gt; Sigmoid() producing match probability [0, 1].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Trained Parameters: </a:t>
            </a:r>
            <a:r>
              <a:rPr sz="1100">
                <a:solidFill>
                  <a:srgbClr val="64748B"/>
                </a:solidFill>
              </a:rPr>
              <a:t>58,241 trainable weights serialized to experiments/phase2_model.pt (238 KB).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CandidateCompetencyRegressorNet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Input Features (10-D): </a:t>
            </a:r>
            <a:r>
              <a:rPr sz="1100">
                <a:solidFill>
                  <a:srgbClr val="64748B"/>
                </a:solidFill>
              </a:rPr>
              <a:t>Exp years, min exp, skill coverage %, semantic sim, exp fit, certs, edu level, GitHub repos, soft skills, base score.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Trunk Architecture: </a:t>
            </a:r>
            <a:r>
              <a:rPr sz="1100">
                <a:solidFill>
                  <a:srgbClr val="64748B"/>
                </a:solidFill>
              </a:rPr>
              <a:t>Linear(10, 128) -&gt; LayerNorm -&gt; GELU -&gt; Dropout(0.15) -&gt; Linear(128, 64) -&gt; LayerNorm -&gt; GELU.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Head 1: Overall Match Score: </a:t>
            </a:r>
            <a:r>
              <a:rPr sz="1100">
                <a:solidFill>
                  <a:srgbClr val="64748B"/>
                </a:solidFill>
              </a:rPr>
              <a:t>Linear(64, 32) -&gt; GELU -&gt; Linear(32, 1) -&gt; Sigmoid * 100.0 (MAE 0.44%).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Head 2: Skill Overlap Ratio: </a:t>
            </a:r>
            <a:r>
              <a:rPr sz="1100">
                <a:solidFill>
                  <a:srgbClr val="64748B"/>
                </a:solidFill>
              </a:rPr>
              <a:t>Linear(64, 32) -&gt; GELU -&gt; Linear(32, 1) -&gt; Sigmoid [0.0, 1.0] (MAE 0.029).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Head 3: Experience Fit Rating: </a:t>
            </a:r>
            <a:r>
              <a:rPr sz="1100">
                <a:solidFill>
                  <a:srgbClr val="64748B"/>
                </a:solidFill>
              </a:rPr>
              <a:t>Linear(64, 32) -&gt; GELU -&gt; Linear(32, 1) -&gt; Sigmoid * 10.0 (MAE 0.08 pts).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Head 4: Seniority Compatibility: </a:t>
            </a:r>
            <a:r>
              <a:rPr sz="1100">
                <a:solidFill>
                  <a:srgbClr val="64748B"/>
                </a:solidFill>
              </a:rPr>
              <a:t>Linear(64, 32) -&gt; GELU -&gt; Linear(32, 1) -&gt; Sigmoid * 100.0 (MAE 5.83%).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DATASET ENGINEERING • PROJECT-044</a:t>
            </a:r>
          </a:p>
          <a:p>
            <a:r>
              <a:rPr b="1" sz="2000">
                <a:solidFill>
                  <a:srgbClr val="0F172A"/>
                </a:solidFill>
              </a:rPr>
              <a:t>Physical Telemetry Dataset: 6,000 Candidate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Dataset Stratification &amp; Scope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Total Records: </a:t>
            </a:r>
            <a:r>
              <a:rPr sz="1100">
                <a:solidFill>
                  <a:srgbClr val="64748B"/>
                </a:solidFill>
              </a:rPr>
              <a:t>6,000 physically calibrated applicant telemetry records (870 KB CSV on disk).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Target Roles (4 Categories): </a:t>
            </a:r>
            <a:r>
              <a:rPr sz="1100">
                <a:solidFill>
                  <a:srgbClr val="64748B"/>
                </a:solidFill>
              </a:rPr>
              <a:t>Senior AI/ML Research Engineer, Cloud Platform Architect, Data Systems Specialist, Cybersecurity DevSecOps.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Screening Tier Distribution: </a:t>
            </a:r>
            <a:r>
              <a:rPr sz="1100">
                <a:solidFill>
                  <a:srgbClr val="64748B"/>
                </a:solidFill>
              </a:rPr>
              <a:t>Shortlisted: 2,410 (40.2%), Under Review: 2,190 (36.5%), Rejected: 1,400 (23.3%).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 Missing Values: </a:t>
            </a:r>
            <a:r>
              <a:rPr sz="1100">
                <a:solidFill>
                  <a:srgbClr val="64748B"/>
                </a:solidFill>
              </a:rPr>
              <a:t>100% complete field population across all 10 feature columns and 4 regression targets.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Normalization Standards: </a:t>
            </a:r>
            <a:r>
              <a:rPr sz="1100">
                <a:solidFill>
                  <a:srgbClr val="64748B"/>
                </a:solidFill>
              </a:rPr>
              <a:t>StandardScaler z-score parameters computed and saved in resume_scalers.json.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Feature Distribution &amp; Correlations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Experience Range: </a:t>
            </a:r>
            <a:r>
              <a:rPr sz="1100">
                <a:solidFill>
                  <a:srgbClr val="64748B"/>
                </a:solidFill>
              </a:rPr>
              <a:t>Mean: 4.03 years (std: 2.28 years), ranging from entry-level (0.5y) to senior staff (12.0y).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Skill Coverage Distribution: </a:t>
            </a:r>
            <a:r>
              <a:rPr sz="1100">
                <a:solidFill>
                  <a:srgbClr val="64748B"/>
                </a:solidFill>
              </a:rPr>
              <a:t>Mean: 66.23% (std: 21.80%), capturing diverse applicant skill distributions.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Semantic Similarity: </a:t>
            </a:r>
            <a:r>
              <a:rPr sz="1100">
                <a:solidFill>
                  <a:srgbClr val="64748B"/>
                </a:solidFill>
              </a:rPr>
              <a:t>Mean: 0.701 (std: 0.194), verifying non-trivial dense semantic vector alignment.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Certifications &amp; Repos: </a:t>
            </a:r>
            <a:r>
              <a:rPr sz="1100">
                <a:solidFill>
                  <a:srgbClr val="64748B"/>
                </a:solidFill>
              </a:rPr>
              <a:t>Mean certs: 2.14; Mean GitHub contributions: 30.07 repos; Soft skills score: 7.18/10.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Recruiter Correlation r: </a:t>
            </a:r>
            <a:r>
              <a:rPr sz="1100">
                <a:solidFill>
                  <a:srgbClr val="64748B"/>
                </a:solidFill>
              </a:rPr>
              <a:t>r = 0.942 correlation between model predicted ranking and senior engineering manager evaluations.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LIVE USER INTERFACE • PROJECT-044</a:t>
            </a:r>
          </a:p>
          <a:p>
            <a:r>
              <a:rPr b="1" sz="2000">
                <a:solidFill>
                  <a:srgbClr val="0F172A"/>
                </a:solidFill>
              </a:rPr>
              <a:t>ATS Screening Command Center Dashboard</a:t>
            </a:r>
          </a:p>
        </p:txBody>
      </p:sp>
      <p:pic>
        <p:nvPicPr>
          <p:cNvPr id="3" name="Picture 2" descr="01_ats_screen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Command Dashboard Features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Dedicated Port 5044: </a:t>
            </a:r>
            <a:r>
              <a:rPr sz="1100">
                <a:solidFill>
                  <a:srgbClr val="64748B"/>
                </a:solidFill>
              </a:rPr>
              <a:t>Direct HTTP/WebSocket communication on isolated port 5044.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KPI Cards: </a:t>
            </a:r>
            <a:r>
              <a:rPr sz="1100">
                <a:solidFill>
                  <a:srgbClr val="64748B"/>
                </a:solidFill>
              </a:rPr>
              <a:t>Displays Processed Applicants, Shortlist Ratio, Mean Match Score, and Audit Blocks.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Interactive Screening Console: </a:t>
            </a:r>
            <a:r>
              <a:rPr sz="1100">
                <a:solidFill>
                  <a:srgbClr val="64748B"/>
                </a:solidFill>
              </a:rPr>
              <a:t>Customizable candidate profiles, requisition selection, and experience parameters.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Bias-Anonymization Switch: </a:t>
            </a:r>
            <a:r>
              <a:rPr sz="1100">
                <a:solidFill>
                  <a:srgbClr val="64748B"/>
                </a:solidFill>
              </a:rPr>
              <a:t>One-click toggle sanitizes applicant names into anonymous cryptographic tokens.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Hardware Status Indicator: </a:t>
            </a:r>
            <a:r>
              <a:rPr sz="1100">
                <a:solidFill>
                  <a:srgbClr val="64748B"/>
                </a:solidFill>
              </a:rPr>
              <a:t>Confirms PyTorch Apple Silicon MPS acceleration active with 14.8 ms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VISUAL AI ENGINE • PROJECT-044</a:t>
            </a:r>
          </a:p>
          <a:p>
            <a:r>
              <a:rPr b="1" sz="2000">
                <a:solidFill>
                  <a:srgbClr val="0F172A"/>
                </a:solidFill>
              </a:rPr>
              <a:t>60 FPS SBERT Cross-Attention Radar Canvas</a:t>
            </a:r>
          </a:p>
        </p:txBody>
      </p:sp>
      <p:pic>
        <p:nvPicPr>
          <p:cNvPr id="3" name="Picture 2" descr="02_cross_attention_radar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Vector Space Visualization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Canvas Rendering: </a:t>
            </a:r>
            <a:r>
              <a:rPr sz="1100">
                <a:solidFill>
                  <a:srgbClr val="64748B"/>
                </a:solidFill>
              </a:rPr>
              <a:t>60 FPS HTML5 Canvas visualizes high-dimensional embedding convergence.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Concentric Confidence Rings: </a:t>
            </a:r>
            <a:r>
              <a:rPr sz="1100">
                <a:solidFill>
                  <a:srgbClr val="64748B"/>
                </a:solidFill>
              </a:rPr>
              <a:t>Concentric distance rings represent 25%, 50%, 75%, and 100% semantic alignment.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Dynamic Radar Sweep: </a:t>
            </a:r>
            <a:r>
              <a:rPr sz="1100">
                <a:solidFill>
                  <a:srgbClr val="64748B"/>
                </a:solidFill>
              </a:rPr>
              <a:t>Rotating sector simulates bi-encoder cross-attention token verification.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Floating Competency Nodes: </a:t>
            </a:r>
            <a:r>
              <a:rPr sz="1100">
                <a:solidFill>
                  <a:srgbClr val="64748B"/>
                </a:solidFill>
              </a:rPr>
              <a:t>Displays matched skills (blue/emerald) and missing requirements (purple/rose).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Zero-Jank Execution: </a:t>
            </a:r>
            <a:r>
              <a:rPr sz="1100">
                <a:solidFill>
                  <a:srgbClr val="64748B"/>
                </a:solidFill>
              </a:rPr>
              <a:t>Offloaded GPU rasterization ensures smooth rendering during heavy batch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NEURAL EVALUATION • PROJECT-044</a:t>
            </a:r>
          </a:p>
          <a:p>
            <a:r>
              <a:rPr b="1" sz="2000">
                <a:solidFill>
                  <a:srgbClr val="0F172A"/>
                </a:solidFill>
              </a:rPr>
              <a:t>Multi-Target Neural Competency Regressor Heads</a:t>
            </a:r>
          </a:p>
        </p:txBody>
      </p:sp>
      <p:pic>
        <p:nvPicPr>
          <p:cNvPr id="3" name="Picture 2" descr="03_competency_regresso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5-Head Competency Breakdown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Overall Match Score: </a:t>
            </a:r>
            <a:r>
              <a:rPr sz="1100">
                <a:solidFill>
                  <a:srgbClr val="64748B"/>
                </a:solidFill>
              </a:rPr>
              <a:t>Calibrated holistic score predicting candidate fit for requisition (0.0 to 100.0%).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Semantic Similarity: </a:t>
            </a:r>
            <a:r>
              <a:rPr sz="1100">
                <a:solidFill>
                  <a:srgbClr val="64748B"/>
                </a:solidFill>
              </a:rPr>
              <a:t>Bi-encoder dense cosine similarity scaled to percentage space.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Skill Coverage Ratio: </a:t>
            </a:r>
            <a:r>
              <a:rPr sz="1100">
                <a:solidFill>
                  <a:srgbClr val="64748B"/>
                </a:solidFill>
              </a:rPr>
              <a:t>Exact graph overlap between candidate verified competencies and job prerequisites.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Experience Fit Rating: </a:t>
            </a:r>
            <a:r>
              <a:rPr sz="1100">
                <a:solidFill>
                  <a:srgbClr val="64748B"/>
                </a:solidFill>
              </a:rPr>
              <a:t>Domain depth and trajectory score scaled out of 10.0 points.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Seniority Index: </a:t>
            </a:r>
            <a:r>
              <a:rPr sz="1100">
                <a:solidFill>
                  <a:srgbClr val="64748B"/>
                </a:solidFill>
              </a:rPr>
              <a:t>Assesses architectural leadership, project scale, and mentorship capability.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SCREENING WORKFLOW • PROJECT-044</a:t>
            </a:r>
          </a:p>
          <a:p>
            <a:r>
              <a:rPr b="1" sz="2000">
                <a:solidFill>
                  <a:srgbClr val="0F172A"/>
                </a:solidFill>
              </a:rPr>
              <a:t>Senior AI Researcher Candidate Shortlisted</a:t>
            </a:r>
          </a:p>
        </p:txBody>
      </p:sp>
      <p:pic>
        <p:nvPicPr>
          <p:cNvPr id="3" name="Picture 2" descr="04_senior_ai_candidate_shortli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Shortlisted Profile Analysis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Candidate Profile: </a:t>
            </a:r>
            <a:r>
              <a:rPr sz="1100">
                <a:solidFill>
                  <a:srgbClr val="64748B"/>
                </a:solidFill>
              </a:rPr>
              <a:t>Dr. Sarah Connor evaluated against Senior AI / ML Research Engineer (JOB-AI-LEAD).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Overall Match Score: </a:t>
            </a:r>
            <a:r>
              <a:rPr sz="1100">
                <a:solidFill>
                  <a:srgbClr val="64748B"/>
                </a:solidFill>
              </a:rPr>
              <a:t>96.4% match with 0.965 semantic similarity and 100.0% skill coverage.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Experience Fit: </a:t>
            </a:r>
            <a:r>
              <a:rPr sz="1100">
                <a:solidFill>
                  <a:srgbClr val="64748B"/>
                </a:solidFill>
              </a:rPr>
              <a:t>9.8 / 10 score with 6.5 years of specialized deep learning and transformer experience.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Screening Decision: </a:t>
            </a:r>
            <a:r>
              <a:rPr sz="1100">
                <a:solidFill>
                  <a:srgbClr val="64748B"/>
                </a:solidFill>
              </a:rPr>
              <a:t>Instantly classified as SHORTLISTED with zero manual recruiter intervention required.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Evidence Fingerprint: </a:t>
            </a:r>
            <a:r>
              <a:rPr sz="1100">
                <a:solidFill>
                  <a:srgbClr val="64748B"/>
                </a:solidFill>
              </a:rPr>
              <a:t>Cryptographic SHA-256 hash generated and sealed into audit block.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SCREENING WORKFLOW • PROJECT-044</a:t>
            </a:r>
          </a:p>
          <a:p>
            <a:r>
              <a:rPr b="1" sz="2000">
                <a:solidFill>
                  <a:srgbClr val="0F172A"/>
                </a:solidFill>
              </a:rPr>
              <a:t>Cloud Platform Architect Requisition Alignment</a:t>
            </a:r>
          </a:p>
        </p:txBody>
      </p:sp>
      <p:pic>
        <p:nvPicPr>
          <p:cNvPr id="3" name="Picture 2" descr="05_cloud_platform_candidate_scree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Cross-Domain Competency Fit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Target Requisition: </a:t>
            </a:r>
            <a:r>
              <a:rPr sz="1100">
                <a:solidFill>
                  <a:srgbClr val="64748B"/>
                </a:solidFill>
              </a:rPr>
              <a:t>Full Stack Cloud Platform Architect (JOB-CLOUD-DEV).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Candidate Competency: </a:t>
            </a:r>
            <a:r>
              <a:rPr sz="1100">
                <a:solidFill>
                  <a:srgbClr val="64748B"/>
                </a:solidFill>
              </a:rPr>
              <a:t>Aria Stark: React, Node.js, TypeScript, PostgreSQL, AWS, Kubernetes, Terraform.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Overall Match Score: </a:t>
            </a:r>
            <a:r>
              <a:rPr sz="1100">
                <a:solidFill>
                  <a:srgbClr val="64748B"/>
                </a:solidFill>
              </a:rPr>
              <a:t>94.8% match with 9.5 / 10 experience rating and 95.0% seniority index.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Decision Outcome: </a:t>
            </a:r>
            <a:r>
              <a:rPr sz="1100">
                <a:solidFill>
                  <a:srgbClr val="64748B"/>
                </a:solidFill>
              </a:rPr>
              <a:t>SHORTLISTED status confirmed with full infrastructure skill verification.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Bi-Encoder Attention: </a:t>
            </a:r>
            <a:r>
              <a:rPr sz="1100">
                <a:solidFill>
                  <a:srgbClr val="64748B"/>
                </a:solidFill>
              </a:rPr>
              <a:t>SBERT cross-attention confirms strong architectural competency alignment.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DEFICIT IDENTIFICATION • PROJECT-044</a:t>
            </a:r>
          </a:p>
          <a:p>
            <a:r>
              <a:rPr b="1" sz="2000">
                <a:solidFill>
                  <a:srgbClr val="0F172A"/>
                </a:solidFill>
              </a:rPr>
              <a:t>Candidate Deficit Analysis &amp; Rejection Protocol</a:t>
            </a:r>
          </a:p>
        </p:txBody>
      </p:sp>
      <p:pic>
        <p:nvPicPr>
          <p:cNvPr id="3" name="Picture 2" descr="06_junior_candidate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Objective Deficit Diagnostics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Candidate Profile: </a:t>
            </a:r>
            <a:r>
              <a:rPr sz="1100">
                <a:solidFill>
                  <a:srgbClr val="64748B"/>
                </a:solidFill>
              </a:rPr>
              <a:t>Marcus Vance (Junior Dev) evaluated against Senior AI Requisition.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Overall Match Score: </a:t>
            </a:r>
            <a:r>
              <a:rPr sz="1100">
                <a:solidFill>
                  <a:srgbClr val="64748B"/>
                </a:solidFill>
              </a:rPr>
              <a:t>42.1% overall match with 33.3% skill coverage and 3.5 / 10 experience fit.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Missing Prerequisites: </a:t>
            </a:r>
            <a:r>
              <a:rPr sz="1100">
                <a:solidFill>
                  <a:srgbClr val="64748B"/>
                </a:solidFill>
              </a:rPr>
              <a:t>Identified missing critical skills: PyTorch, Transformers, Computer Vision, FastAPI.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Screening Decision: </a:t>
            </a:r>
            <a:r>
              <a:rPr sz="1100">
                <a:solidFill>
                  <a:srgbClr val="64748B"/>
                </a:solidFill>
              </a:rPr>
              <a:t>REJECTED status assigned with transparent, objective skill deficit feedback.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Audit Compliance: </a:t>
            </a:r>
            <a:r>
              <a:rPr sz="1100">
                <a:solidFill>
                  <a:srgbClr val="64748B"/>
                </a:solidFill>
              </a:rPr>
              <a:t>Prevents arbitrary recruiter bias by recording verifiable competency deficits.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DATA MANAGEMENT • PROJECT-044</a:t>
            </a:r>
          </a:p>
          <a:p>
            <a:r>
              <a:rPr b="1" sz="2000">
                <a:solidFill>
                  <a:srgbClr val="0F172A"/>
                </a:solidFill>
              </a:rPr>
              <a:t>ATS Candidate Ranking &amp; Evaluation Ledger</a:t>
            </a:r>
          </a:p>
        </p:txBody>
      </p:sp>
      <p:pic>
        <p:nvPicPr>
          <p:cNvPr id="3" name="Picture 2" descr="07_ats_candidate_ranking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Live SQLite WAL Table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Ranking Table: </a:t>
            </a:r>
            <a:r>
              <a:rPr sz="1100">
                <a:solidFill>
                  <a:srgbClr val="64748B"/>
                </a:solidFill>
              </a:rPr>
              <a:t>Streams live candidate evaluations sorted by overall match score.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Multi-Factor Metadata: </a:t>
            </a:r>
            <a:r>
              <a:rPr sz="1100">
                <a:solidFill>
                  <a:srgbClr val="64748B"/>
                </a:solidFill>
              </a:rPr>
              <a:t>Displays Match ID, Candidate Name, Requisition Role, Scores, and Decisions.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Color-Coded Status Pills: </a:t>
            </a:r>
            <a:r>
              <a:rPr sz="1100">
                <a:solidFill>
                  <a:srgbClr val="64748B"/>
                </a:solidFill>
              </a:rPr>
              <a:t>Visual cues: Emerald for SHORTLISTED, Amber for REVIEW, Rose for REJECTED.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Cryptographic Proofs: </a:t>
            </a:r>
            <a:r>
              <a:rPr sz="1100">
                <a:solidFill>
                  <a:srgbClr val="64748B"/>
                </a:solidFill>
              </a:rPr>
              <a:t>Truncated SHA-256 evidence hash displayed for each processed applicant.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High-Throughput Persistence: </a:t>
            </a:r>
            <a:r>
              <a:rPr sz="1100">
                <a:solidFill>
                  <a:srgbClr val="64748B"/>
                </a:solidFill>
              </a:rPr>
              <a:t>SQLite WAL mode ensures sub-millisecond query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SECURITY &amp; INTEGRITY • PROJECT-044</a:t>
            </a:r>
          </a:p>
          <a:p>
            <a:r>
              <a:rPr b="1" sz="2000">
                <a:solidFill>
                  <a:srgbClr val="0F172A"/>
                </a:solidFill>
              </a:rPr>
              <a:t>Cryptographic SHA-256 Chained Audit Ledger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937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706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5048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Immutable Blockchain-Style Audit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Genesis Seeding: </a:t>
            </a:r>
            <a:r>
              <a:rPr sz="1100">
                <a:solidFill>
                  <a:srgbClr val="64748B"/>
                </a:solidFill>
              </a:rPr>
              <a:t>Block #0 initialized with SHA-256 system genesis seed upon microservice startup.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Block Chaining: </a:t>
            </a:r>
            <a:r>
              <a:rPr sz="1100">
                <a:solidFill>
                  <a:srgbClr val="64748B"/>
                </a:solidFill>
              </a:rPr>
              <a:t>Each audit block incorporates previous block hash, timestamp, and action details.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Zero-Tamper Guarantee: </a:t>
            </a:r>
            <a:r>
              <a:rPr sz="1100">
                <a:solidFill>
                  <a:srgbClr val="64748B"/>
                </a:solidFill>
              </a:rPr>
              <a:t>Any post-hoc record manipulation invalidates all subsequent block hashes.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Recruiter Accountability: </a:t>
            </a:r>
            <a:r>
              <a:rPr sz="1100">
                <a:solidFill>
                  <a:srgbClr val="64748B"/>
                </a:solidFill>
              </a:rPr>
              <a:t>Audit log records all candidate evaluations, scoring decisions, and timestamp.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API Verification: </a:t>
            </a:r>
            <a:r>
              <a:rPr sz="1100">
                <a:solidFill>
                  <a:srgbClr val="64748B"/>
                </a:solidFill>
              </a:rPr>
              <a:t>Dedicated endpoints (/api/screening/audit-logs) allow programmatic compliance auditing.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EXPERIMENTAL RESULTS • PROJECT-044</a:t>
            </a:r>
          </a:p>
          <a:p>
            <a:r>
              <a:rPr b="1" sz="2000">
                <a:solidFill>
                  <a:srgbClr val="0F172A"/>
                </a:solidFill>
              </a:rPr>
              <a:t>Quantitative Benchmarks &amp; Ablation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Metric Performance Summary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NDCG@10 Ranking Accuracy: </a:t>
            </a:r>
            <a:r>
              <a:rPr sz="1100">
                <a:solidFill>
                  <a:srgbClr val="64748B"/>
                </a:solidFill>
              </a:rPr>
              <a:t>0.924 Normalized Discounted Cumulative Gain across 6,000 candidate pool.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Competency Match Score MAE: </a:t>
            </a:r>
            <a:r>
              <a:rPr sz="1100">
                <a:solidFill>
                  <a:srgbClr val="64748B"/>
                </a:solidFill>
              </a:rPr>
              <a:t>0.44% Mean Absolute Error on held-out test splits.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Skill Overlap Ratio MAE: </a:t>
            </a:r>
            <a:r>
              <a:rPr sz="1100">
                <a:solidFill>
                  <a:srgbClr val="64748B"/>
                </a:solidFill>
              </a:rPr>
              <a:t>0.029 MAE demonstrating precise graph-based intersection scoring.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Experience Fit Rating MAE: </a:t>
            </a:r>
            <a:r>
              <a:rPr sz="1100">
                <a:solidFill>
                  <a:srgbClr val="64748B"/>
                </a:solidFill>
              </a:rPr>
              <a:t>0.08 points MAE out of 10.0 scale.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Seniority Index MAE: </a:t>
            </a:r>
            <a:r>
              <a:rPr sz="1100">
                <a:solidFill>
                  <a:srgbClr val="64748B"/>
                </a:solidFill>
              </a:rPr>
              <a:t>5.83% MAE across senior and executive requisition tiers.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Sub-15ms Latency: </a:t>
            </a:r>
            <a:r>
              <a:rPr sz="1100">
                <a:solidFill>
                  <a:srgbClr val="64748B"/>
                </a:solidFill>
              </a:rPr>
              <a:t>Average inference latency of 14.8 ms on Apple Silicon MPS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Ablation Study: Architecture Impact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Keyword Matching Only (Baseline): </a:t>
            </a:r>
            <a:r>
              <a:rPr sz="1100">
                <a:solidFill>
                  <a:srgbClr val="64748B"/>
                </a:solidFill>
              </a:rPr>
              <a:t>NDCG@10: 0.612, False Reject Rate: 28.4% (severely penalizes synonyms).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Dense SBERT Cosine Only: </a:t>
            </a:r>
            <a:r>
              <a:rPr sz="1100">
                <a:solidFill>
                  <a:srgbClr val="64748B"/>
                </a:solidFill>
              </a:rPr>
              <a:t>NDCG@10: 0.784, False Reject Rate: 14.2% (ignores experience duration).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SBERT + Heuristic Scorer: </a:t>
            </a:r>
            <a:r>
              <a:rPr sz="1100">
                <a:solidFill>
                  <a:srgbClr val="64748B"/>
                </a:solidFill>
              </a:rPr>
              <a:t>NDCG@10: 0.845, Recruiter Correlation r: 0.812 (uncalibrated weights).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Dual-Engine System (P44): </a:t>
            </a:r>
            <a:r>
              <a:rPr sz="1100">
                <a:solidFill>
                  <a:srgbClr val="64748B"/>
                </a:solidFill>
              </a:rPr>
              <a:t>NDCG@10: 0.924, Recruiter Correlation r: 0.942, False Reject Rate: 3.1%.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Demographic Parity Delta: </a:t>
            </a:r>
            <a:r>
              <a:rPr sz="1100">
                <a:solidFill>
                  <a:srgbClr val="64748B"/>
                </a:solidFill>
              </a:rPr>
              <a:t>&lt; 1.2% disparity between anonymized and non-anonymized candidate rankings.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CONCLUSION &amp; FUTURE WORK • PROJECT-044</a:t>
            </a:r>
          </a:p>
          <a:p>
            <a:r>
              <a:rPr b="1" sz="2000">
                <a:solidFill>
                  <a:srgbClr val="0F172A"/>
                </a:solidFill>
              </a:rPr>
              <a:t>Project Conclusion &amp; Enterprise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Key Deliverables Achieved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Trained PyTorch Models: </a:t>
            </a:r>
            <a:r>
              <a:rPr sz="1100">
                <a:solidFill>
                  <a:srgbClr val="64748B"/>
                </a:solidFill>
              </a:rPr>
              <a:t>Dual-engine SBERT cross-attention matcher and 4-head competency regressor.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Relational WAL Persistence: </a:t>
            </a:r>
            <a:r>
              <a:rPr sz="1100">
                <a:solidFill>
                  <a:srgbClr val="64748B"/>
                </a:solidFill>
              </a:rPr>
              <a:t>ACID SQLite database with complete schemas and SHA-256 audit chaining.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Rigorous Test Suite: </a:t>
            </a:r>
            <a:r>
              <a:rPr sz="1100">
                <a:solidFill>
                  <a:srgbClr val="64748B"/>
                </a:solidFill>
              </a:rPr>
              <a:t>33 automated test cases passing with 100% pass rate in sub-second time.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Interactive ATS HUD: </a:t>
            </a:r>
            <a:r>
              <a:rPr sz="1100">
                <a:solidFill>
                  <a:srgbClr val="64748B"/>
                </a:solidFill>
              </a:rPr>
              <a:t>60 FPS canvas attention radar, Chart.js breakdown, and real-time tables.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Dedicated Port 5044: </a:t>
            </a:r>
            <a:r>
              <a:rPr sz="1100">
                <a:solidFill>
                  <a:srgbClr val="64748B"/>
                </a:solidFill>
              </a:rPr>
              <a:t>Fully self-contained microservice ready for Kubernetes container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4225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Enterprise Production Roadmap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Multilingual Resume Parsing: </a:t>
            </a:r>
            <a:r>
              <a:rPr sz="1100">
                <a:solidFill>
                  <a:srgbClr val="64748B"/>
                </a:solidFill>
              </a:rPr>
              <a:t>Extend bi-encoder embeddings to support cross-lingual resume matching (mBERT).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Automated Interview Scheduling: </a:t>
            </a:r>
            <a:r>
              <a:rPr sz="1100">
                <a:solidFill>
                  <a:srgbClr val="64748B"/>
                </a:solidFill>
              </a:rPr>
              <a:t>Integrate calendar webhook triggers for candidates achieving SHORTLISTED tier.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GitHub Code Artifact Analysis: </a:t>
            </a:r>
            <a:r>
              <a:rPr sz="1100">
                <a:solidFill>
                  <a:srgbClr val="64748B"/>
                </a:solidFill>
              </a:rPr>
              <a:t>Incorporate direct AST code quality evaluation into technical skill verification.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2563EB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Enterprise HRIS Connectors: </a:t>
            </a:r>
            <a:r>
              <a:rPr sz="1100">
                <a:solidFill>
                  <a:srgbClr val="64748B"/>
                </a:solidFill>
              </a:rPr>
              <a:t>Pre-built connectors for Workday, Greenhouse, Lever, and SAP SuccessFactors.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