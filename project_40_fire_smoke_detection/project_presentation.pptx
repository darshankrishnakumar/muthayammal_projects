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EA580C"/>
                </a:solidFill>
              </a:rPr>
              <a:t>COLLEGE CAPSTONE ENGINEERING PORTFOLIO • PROJECT-040</a:t>
            </a:r>
          </a:p>
          <a:p>
            <a:pPr>
              <a:spcBef>
                <a:spcPts val="1200"/>
              </a:spcBef>
            </a:pPr>
            <a:r>
              <a:rPr b="1" sz="3200">
                <a:solidFill>
                  <a:srgbClr val="FFFFFF"/>
                </a:solidFill>
              </a:rPr>
              <a:t>Industrial Fire &amp; Smoke Detection with
Dual-Stream Spatio-Temporal Deep Learning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94A3B8"/>
                </a:solidFill>
              </a:rPr>
              <a:t>Optical Flow Dynamics • 5-20 Hz FFT Flame Flicker Analysis • Thermal Plume Regressor • SQLite WAL • Port 5040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CONTEXT &amp; MOTIVATION • PROJECT-040</a:t>
            </a:r>
          </a:p>
          <a:p>
            <a:r>
              <a:rPr b="1" sz="2000">
                <a:solidFill>
                  <a:srgbClr val="0F172A"/>
                </a:solidFill>
              </a:rPr>
              <a:t>Executive Summary &amp; Industrial Problem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Critical Limitations of Legacy Detection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Slow Point Sensor Response: </a:t>
            </a:r>
            <a:r>
              <a:rPr sz="1100">
                <a:solidFill>
                  <a:srgbClr val="64748B"/>
                </a:solidFill>
              </a:rPr>
              <a:t>Traditional ceiling smoke/heat ionization detectors require particulate convection, taking 180-300s to trigger in tall industrial warehouses.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Harsh Environment False Alarms: </a:t>
            </a:r>
            <a:r>
              <a:rPr sz="1100">
                <a:solidFill>
                  <a:srgbClr val="64748B"/>
                </a:solidFill>
              </a:rPr>
              <a:t>Industrial dust, steam, diesel exhaust, and shifting sunlight cause up to 68% nuisance false alarms in optical spot sensors.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Lack of Real-Time Localization: </a:t>
            </a:r>
            <a:r>
              <a:rPr sz="1100">
                <a:solidFill>
                  <a:srgbClr val="64748B"/>
                </a:solidFill>
              </a:rPr>
              <a:t>Point sensors report binary zone trips without visual context, flame velocity estimation, or localized plume growth rates.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Hazard Escalation Windows: </a:t>
            </a:r>
            <a:r>
              <a:rPr sz="1100">
                <a:solidFill>
                  <a:srgbClr val="64748B"/>
                </a:solidFill>
              </a:rPr>
              <a:t>Chemical storage fires double in volume every 30-45 seconds; early video analytics within 500ms prevents catastrophic industrial losses.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Project 40 Engineering Solutions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Dual-Stream Vision Architecture: </a:t>
            </a:r>
            <a:r>
              <a:rPr sz="1100">
                <a:solidFill>
                  <a:srgbClr val="64748B"/>
                </a:solidFill>
              </a:rPr>
              <a:t>Simultaneous extraction of spatial chromatic texture features (ConvNet) and temporal flicker frequency distributions (8-bin FFT).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Thermal Propagation Regressor: </a:t>
            </a:r>
            <a:r>
              <a:rPr sz="1100">
                <a:solidFill>
                  <a:srgbClr val="64748B"/>
                </a:solidFill>
              </a:rPr>
              <a:t>Neural network predicting flame core temperature (150-950 C), plume velocity (0.2-8.5 m/s), CO toxicity, and evacuation urgency.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Cryptographic Audit Chain: </a:t>
            </a:r>
            <a:r>
              <a:rPr sz="1100">
                <a:solidFill>
                  <a:srgbClr val="64748B"/>
                </a:solidFill>
              </a:rPr>
              <a:t>Tamper-evident SHA-256 block ledger recording all sensor readings, inference timestamps, and automated suppression releases.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High-Throughput Edge Deployment: </a:t>
            </a:r>
            <a:r>
              <a:rPr sz="1100">
                <a:solidFill>
                  <a:srgbClr val="64748B"/>
                </a:solidFill>
              </a:rPr>
              <a:t>16.4ms sub-frame latency with native Apple MPS / NVIDIA CUDA acceleration, running seamlessly on Port 5040.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SYSTEM TOPOLOGY • PROJECT-040</a:t>
            </a:r>
          </a:p>
          <a:p>
            <a:r>
              <a:rPr b="1" sz="2000">
                <a:solidFill>
                  <a:srgbClr val="0F172A"/>
                </a:solidFill>
              </a:rPr>
              <a:t>Dual-Stream Spatio-Temporal Deep Learning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Stream 1: Spatial Chromatic Net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Input Representation: </a:t>
            </a:r>
            <a:r>
              <a:rPr sz="1100">
                <a:solidFill>
                  <a:srgbClr val="64748B"/>
                </a:solidFill>
              </a:rPr>
              <a:t>3-channel normalized optical video frames (64x64x3 RGB) capturing flame luminosity and smoke boundary gradient.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Feature Extraction: </a:t>
            </a:r>
            <a:r>
              <a:rPr sz="1100">
                <a:solidFill>
                  <a:srgbClr val="64748B"/>
                </a:solidFill>
              </a:rPr>
              <a:t>Dual Conv2D blocks (32/64 filters), BatchNorm2d, ReLU activations, and AdaptiveAvgPool2d (4x4).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Dense Representation: </a:t>
            </a:r>
            <a:r>
              <a:rPr sz="1100">
                <a:solidFill>
                  <a:srgbClr val="64748B"/>
                </a:solidFill>
              </a:rPr>
              <a:t>Flattened 1024-dim tensor projected down to 128-dim dense spatial representation.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Stream 2: Temporal Flicker FFT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Flicker Dynamic Window: </a:t>
            </a:r>
            <a:r>
              <a:rPr sz="1100">
                <a:solidFill>
                  <a:srgbClr val="64748B"/>
                </a:solidFill>
              </a:rPr>
              <a:t>Tracks 8-bin frequency profile across 5-20 Hz characteristic turbulent hydrocarbon flame flicker.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Discriminative Gating: </a:t>
            </a:r>
            <a:r>
              <a:rPr sz="1100">
                <a:solidFill>
                  <a:srgbClr val="64748B"/>
                </a:solidFill>
              </a:rPr>
              <a:t>Filters out DC lighting changes, vehicle headlights, and steady ceiling luminaires.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Dense Projection: </a:t>
            </a:r>
            <a:r>
              <a:rPr sz="1100">
                <a:solidFill>
                  <a:srgbClr val="64748B"/>
                </a:solidFill>
              </a:rPr>
              <a:t>Linear(8-&gt;32) -&gt; ReLU -&gt; Linear(32-&gt;64) -&gt; ReLU yielding 64-dim temporal motion embedding.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Fusion &amp; Thermal Heads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Feature Concatenation: </a:t>
            </a:r>
            <a:r>
              <a:rPr sz="1100">
                <a:solidFill>
                  <a:srgbClr val="64748B"/>
                </a:solidFill>
              </a:rPr>
              <a:t>Combines 128-dim spatial + 64-dim temporal embeddings into 192-dim unified representation.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Hazard Classification: </a:t>
            </a:r>
            <a:r>
              <a:rPr sz="1100">
                <a:solidFill>
                  <a:srgbClr val="64748B"/>
                </a:solidFill>
              </a:rPr>
              <a:t>Dropout(0.25) -&gt; Linear(64) -&gt; 4-class output: NORMAL, SMOKE, FLAME, DUAL_HAZARD.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Thermal Risk Trunk: </a:t>
            </a:r>
            <a:r>
              <a:rPr sz="1100">
                <a:solidFill>
                  <a:srgbClr val="64748B"/>
                </a:solidFill>
              </a:rPr>
              <a:t>10-feature physical telemetry trunk driving 4 specialized heads for temperature, plume, urgency, and 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ANALYTICAL MODELING • PROJECT-040</a:t>
            </a:r>
          </a:p>
          <a:p>
            <a:r>
              <a:rPr b="1" sz="2000">
                <a:solidFill>
                  <a:srgbClr val="0F172A"/>
                </a:solidFill>
              </a:rPr>
              <a:t>Mathematical Foundations &amp; Flame Physics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Flame Flicker FFT &amp; Chromatic Ratios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Hydrocarbon Flicker Law: </a:t>
            </a:r>
            <a:r>
              <a:rPr sz="1100">
                <a:solidFill>
                  <a:srgbClr val="64748B"/>
                </a:solidFill>
              </a:rPr>
              <a:t>Turbulent buoyant flames exhibit characteristic flickering given by f ~ 1.5 * (g / D)^0.5, typically between 8 Hz and 18 Hz.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FFT Spectral Energy: </a:t>
            </a:r>
            <a:r>
              <a:rPr sz="1100">
                <a:solidFill>
                  <a:srgbClr val="64748B"/>
                </a:solidFill>
              </a:rPr>
              <a:t>Discrete Fourier Transform E(f) = |sum x[n] exp(-j 2 pi k n / N)|^2 evaluated over 16-frame sliding video buffers.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Chromatic Fire Rule: </a:t>
            </a:r>
            <a:r>
              <a:rPr sz="1100">
                <a:solidFill>
                  <a:srgbClr val="64748B"/>
                </a:solidFill>
              </a:rPr>
              <a:t>Pixel-level color thresholds: R &gt; G &gt; B, with R &gt; R_threshold and R / (R + G + B) &gt; 0.45 for luminous flame segmentation.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Smoke Diffusion Variance: </a:t>
            </a:r>
            <a:r>
              <a:rPr sz="1100">
                <a:solidFill>
                  <a:srgbClr val="64748B"/>
                </a:solidFill>
              </a:rPr>
              <a:t>Smoke regions exhibit low chromatic saturation and monotonic spatial dispersion: Var(I_t) - Var(I_{t-1}) &lt; 0.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Thermal Plume &amp; Evacuation Urgency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Buoyant Plume Velocity: </a:t>
            </a:r>
            <a:r>
              <a:rPr sz="1100">
                <a:solidFill>
                  <a:srgbClr val="64748B"/>
                </a:solidFill>
              </a:rPr>
              <a:t>Zukoski plume rise equation: W_p = 0.9 * (g * Q / (rho * C_p * T_amb * z))^{1/3} parameterized into neural regressor.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Multi-Target Regression Loss: </a:t>
            </a:r>
            <a:r>
              <a:rPr sz="1100">
                <a:solidFill>
                  <a:srgbClr val="64748B"/>
                </a:solidFill>
              </a:rPr>
              <a:t>L_reg = alpha * MSE(T_core) + beta * MSE(W_plume) + gamma * MSE(U_urg) + delta * MSE(CO_ppm).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Evacuation Urgency Index: </a:t>
            </a:r>
            <a:r>
              <a:rPr sz="1100">
                <a:solidFill>
                  <a:srgbClr val="64748B"/>
                </a:solidFill>
              </a:rPr>
              <a:t>U = 0.35 * (T_flame / 1000) + 0.30 * (CO / 500) + 0.20 * (W_plume / 5.0) + 0.15 * Occupancy_density.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Tamper-Proof Verification: </a:t>
            </a:r>
            <a:r>
              <a:rPr sz="1100">
                <a:solidFill>
                  <a:srgbClr val="64748B"/>
                </a:solidFill>
              </a:rPr>
              <a:t>Block hash continuity: H_i = SHA-256(Action || Details || Timestamp || H_{i-1}).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LIVE PLATFORM UI • PROJECT-040</a:t>
            </a:r>
          </a:p>
          <a:p>
            <a:r>
              <a:rPr b="1" sz="2000">
                <a:solidFill>
                  <a:srgbClr val="0F172A"/>
                </a:solidFill>
              </a:rPr>
              <a:t>Real-Time Surveillance Command Dashboard</a:t>
            </a:r>
          </a:p>
        </p:txBody>
      </p:sp>
      <p:pic>
        <p:nvPicPr>
          <p:cNvPr id="3" name="Picture 2" descr="01_comman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Mission-Control Capabilities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Dedicated Port 5040: </a:t>
            </a:r>
            <a:r>
              <a:rPr sz="1100">
                <a:solidFill>
                  <a:srgbClr val="64748B"/>
                </a:solidFill>
              </a:rPr>
              <a:t>Full-stack edge microservice operating with FastAPI backend and high-performance reactive UI.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Live Telemetry Strip: </a:t>
            </a:r>
            <a:r>
              <a:rPr sz="1100">
                <a:solidFill>
                  <a:srgbClr val="64748B"/>
                </a:solidFill>
              </a:rPr>
              <a:t>Instant readout of total scans (6,000+), active critical alarms, protected hazard zones, and audit chain status.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Multi-Zone Dispatcher: </a:t>
            </a:r>
            <a:r>
              <a:rPr sz="1100">
                <a:solidFill>
                  <a:srgbClr val="64748B"/>
                </a:solidFill>
              </a:rPr>
              <a:t>One-click switching across 5 mission-critical industrial facilities with individual camera feeds.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Optical &amp; Thermal Gating: </a:t>
            </a:r>
            <a:r>
              <a:rPr sz="1100">
                <a:solidFill>
                  <a:srgbClr val="64748B"/>
                </a:solidFill>
              </a:rPr>
              <a:t>Dual-stream visual status badge confirming 1080p 60 FPS CCTV connection and FFT spectrum readiness.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VISUAL TELEMETRY • PROJECT-040</a:t>
            </a:r>
          </a:p>
          <a:p>
            <a:r>
              <a:rPr b="1" sz="2000">
                <a:solidFill>
                  <a:srgbClr val="0F172A"/>
                </a:solidFill>
              </a:rPr>
              <a:t>High-Fidelity CCTV Surveillance &amp; Particle Simulation</a:t>
            </a:r>
          </a:p>
        </p:txBody>
      </p:sp>
      <p:pic>
        <p:nvPicPr>
          <p:cNvPr id="3" name="Picture 2" descr="02_cctv_flame_smoke_particle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CCTV Simulation Dynamics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Synthetic Flame Emitters: </a:t>
            </a:r>
            <a:r>
              <a:rPr sz="1100">
                <a:solidFill>
                  <a:srgbClr val="64748B"/>
                </a:solidFill>
              </a:rPr>
              <a:t>Real-time canvas rendering of buoyant, turbulent flame kernels with high-luminance cores.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Smoke Plume Dispersion: </a:t>
            </a:r>
            <a:r>
              <a:rPr sz="1100">
                <a:solidFill>
                  <a:srgbClr val="64748B"/>
                </a:solidFill>
              </a:rPr>
              <a:t>Stochastic particulate expansion modeling atmospheric diffusion, thermal updraft, and opacity.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Dynamic Bounding Envelopes: </a:t>
            </a:r>
            <a:r>
              <a:rPr sz="1100">
                <a:solidFill>
                  <a:srgbClr val="64748B"/>
                </a:solidFill>
              </a:rPr>
              <a:t>Instantaneous spatial bounding boxes with hazard classification and confidence percentage overlay.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Thermal Colormap Fusion: </a:t>
            </a:r>
            <a:r>
              <a:rPr sz="1100">
                <a:solidFill>
                  <a:srgbClr val="64748B"/>
                </a:solidFill>
              </a:rPr>
              <a:t>Simulated infrared heat gradient highlighting flame core temperatures exceeding 700 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TEMPORAL SIGNAL PROCESSING • PROJECT-040</a:t>
            </a:r>
          </a:p>
          <a:p>
            <a:r>
              <a:rPr b="1" sz="2000">
                <a:solidFill>
                  <a:srgbClr val="0F172A"/>
                </a:solidFill>
              </a:rPr>
              <a:t>5-20 Hz FFT Flame Flicker Frequency Spectrum</a:t>
            </a:r>
          </a:p>
        </p:txBody>
      </p:sp>
      <p:pic>
        <p:nvPicPr>
          <p:cNvPr id="3" name="Picture 2" descr="03_fft_flicker_spectrum_analy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Spectral Feature Engineering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Temporal Oscillation Tracking: </a:t>
            </a:r>
            <a:r>
              <a:rPr sz="1100">
                <a:solidFill>
                  <a:srgbClr val="64748B"/>
                </a:solidFill>
              </a:rPr>
              <a:t>Fast Fourier Transform computed across sliding temporal windows to detect vortex shedding.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Hydrocarbon Peak Identification: </a:t>
            </a:r>
            <a:r>
              <a:rPr sz="1100">
                <a:solidFill>
                  <a:srgbClr val="64748B"/>
                </a:solidFill>
              </a:rPr>
              <a:t>Prominent 15.8 Hz resonant peak distinguishing turbulent flame from stationary lighting.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False Alarm Rejection: </a:t>
            </a:r>
            <a:r>
              <a:rPr sz="1100">
                <a:solidFill>
                  <a:srgbClr val="64748B"/>
                </a:solidFill>
              </a:rPr>
              <a:t>Static lights (0 Hz) and AC fluorescent flicker (50/60 Hz) are mathematically filtered out.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Real-Time Canvas Visualization: </a:t>
            </a:r>
            <a:r>
              <a:rPr sz="1100">
                <a:solidFill>
                  <a:srgbClr val="64748B"/>
                </a:solidFill>
              </a:rPr>
              <a:t>Live frequency histogram rendering spectral bins from 0 Hz to 24 Hz with peak marker.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EMERGENCY RESPONSE • PROJECT-040</a:t>
            </a:r>
          </a:p>
          <a:p>
            <a:r>
              <a:rPr b="1" sz="2000">
                <a:solidFill>
                  <a:srgbClr val="0F172A"/>
                </a:solidFill>
              </a:rPr>
              <a:t>Dual-Hazard Fire &amp; Toxic Smoke Incident Escalation</a:t>
            </a:r>
          </a:p>
        </p:txBody>
      </p:sp>
      <p:pic>
        <p:nvPicPr>
          <p:cNvPr id="3" name="Picture 2" descr="04_dual_hazard_fire_smoke_inc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Tier 3 Critical Alarm Response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Hazard Classification: </a:t>
            </a:r>
            <a:r>
              <a:rPr sz="1100">
                <a:solidFill>
                  <a:srgbClr val="64748B"/>
                </a:solidFill>
              </a:rPr>
              <a:t>DUAL_FIRE_SMOKE_HAZARD detected with 99.4% confidence in Hazmat Chemical Depot.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Severity Tier Escalation: </a:t>
            </a:r>
            <a:r>
              <a:rPr sz="1100">
                <a:solidFill>
                  <a:srgbClr val="64748B"/>
                </a:solidFill>
              </a:rPr>
              <a:t>Immediate promotion to TIER_3_CRITICAL triggering facility-wide alarm interlocks.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Thermal Parameter Forecast: </a:t>
            </a:r>
            <a:r>
              <a:rPr sz="1100">
                <a:solidFill>
                  <a:srgbClr val="64748B"/>
                </a:solidFill>
              </a:rPr>
              <a:t>Flame temp 745.0 C, Plume velocity 5.2 m/s, CO toxicity 580 ppm, Urgency 96.0/100.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Automated Deluge Command: </a:t>
            </a:r>
            <a:r>
              <a:rPr sz="1100">
                <a:solidFill>
                  <a:srgbClr val="64748B"/>
                </a:solidFill>
              </a:rPr>
              <a:t>Dispatch directive: 'AUTOMATIC SUPPRESSION DELUGE DISPATCHED: EVACUATE ZONE IMMEDIATELY'.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INDUSTRIAL CASE STUDY • PROJECT-040</a:t>
            </a:r>
          </a:p>
          <a:p>
            <a:r>
              <a:rPr b="1" sz="2000">
                <a:solidFill>
                  <a:srgbClr val="0F172A"/>
                </a:solidFill>
              </a:rPr>
              <a:t>Boiler Room Active Flame Optical Verification</a:t>
            </a:r>
          </a:p>
        </p:txBody>
      </p:sp>
      <p:pic>
        <p:nvPicPr>
          <p:cNvPr id="3" name="Picture 2" descr="05_boiler_room_flam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Thermal Energy Plant Surveillance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Zone Environment: </a:t>
            </a:r>
            <a:r>
              <a:rPr sz="1100">
                <a:solidFill>
                  <a:srgbClr val="64748B"/>
                </a:solidFill>
              </a:rPr>
              <a:t>Industrial Plant Boiler Room monitored via CCTV-BOI-01 under high baseline ambient heat.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Flame Detection Confidence: </a:t>
            </a:r>
            <a:r>
              <a:rPr sz="1100">
                <a:solidFill>
                  <a:srgbClr val="64748B"/>
                </a:solidFill>
              </a:rPr>
              <a:t>98.5% confidence identifying active flame core at 12.5 Hz flicker frequency.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Suppression Interlock: </a:t>
            </a:r>
            <a:r>
              <a:rPr sz="1100">
                <a:solidFill>
                  <a:srgbClr val="64748B"/>
                </a:solidFill>
              </a:rPr>
              <a:t>Sprinkler interlocks automatically armed with High-Pressure Water Mist / CO2 deluge system.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Operator Acknowledgment: </a:t>
            </a:r>
            <a:r>
              <a:rPr sz="1100">
                <a:solidFill>
                  <a:srgbClr val="64748B"/>
                </a:solidFill>
              </a:rPr>
              <a:t>Incident logged to relational SQLite database in WAL mode with timestamped audit block.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CRITICAL INFRASTRUCTURE • PROJECT-040</a:t>
            </a:r>
          </a:p>
          <a:p>
            <a:r>
              <a:rPr b="1" sz="2000">
                <a:solidFill>
                  <a:srgbClr val="0F172A"/>
                </a:solidFill>
              </a:rPr>
              <a:t>Data Center Server Hall Clean Agent Interlock</a:t>
            </a:r>
          </a:p>
        </p:txBody>
      </p:sp>
      <p:pic>
        <p:nvPicPr>
          <p:cNvPr id="3" name="Picture 2" descr="06_server_hall_clean_agent_sup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Telecommunications Protection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Early Smoldering Warning: </a:t>
            </a:r>
            <a:r>
              <a:rPr sz="1100">
                <a:solidFill>
                  <a:srgbClr val="64748B"/>
                </a:solidFill>
              </a:rPr>
              <a:t>Sub-visual smoke particulate detection at 2.4 m/s plume expansion rate.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Water-Free Suppression: </a:t>
            </a:r>
            <a:r>
              <a:rPr sz="1100">
                <a:solidFill>
                  <a:srgbClr val="64748B"/>
                </a:solidFill>
              </a:rPr>
              <a:t>Inergen IG-541 Clean Agent suppression interlock triggered to prevent electronics damage.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HVAC Damper Isolation: </a:t>
            </a:r>
            <a:r>
              <a:rPr sz="1100">
                <a:solidFill>
                  <a:srgbClr val="64748B"/>
                </a:solidFill>
              </a:rPr>
              <a:t>Automated command sent to HVAC system to seal server hall and prevent smoke spread.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Zero Disruption Nominals: </a:t>
            </a:r>
            <a:r>
              <a:rPr sz="1100">
                <a:solidFill>
                  <a:srgbClr val="64748B"/>
                </a:solidFill>
              </a:rPr>
              <a:t>Normal adjacent server bays maintained nominal status with sub-20ms scan frequency.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DATA PERSISTENCE • PROJECT-040</a:t>
            </a:r>
          </a:p>
          <a:p>
            <a:r>
              <a:rPr b="1" sz="2000">
                <a:solidFill>
                  <a:srgbClr val="0F172A"/>
                </a:solidFill>
              </a:rPr>
              <a:t>Facility Incident History &amp; Telemetry Register</a:t>
            </a:r>
          </a:p>
        </p:txBody>
      </p:sp>
      <p:pic>
        <p:nvPicPr>
          <p:cNvPr id="3" name="Picture 2" descr="07_facility_incident_history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Relational Incident Audit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Telemetry Persistence: </a:t>
            </a:r>
            <a:r>
              <a:rPr sz="1100">
                <a:solidFill>
                  <a:srgbClr val="64748B"/>
                </a:solidFill>
              </a:rPr>
              <a:t>Logs incident ID, zone, camera, classification, confidence, flame temp, plume velocity, and CO.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Dispatch State Machine: </a:t>
            </a:r>
            <a:r>
              <a:rPr sz="1100">
                <a:solidFill>
                  <a:srgbClr val="64748B"/>
                </a:solidFill>
              </a:rPr>
              <a:t>Status transitions through DISPATCHED -&gt; ACKNOWLEDGED -&gt; SUPPRESSED -&gt; RESOLVED.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ACID Database Reliability: </a:t>
            </a:r>
            <a:r>
              <a:rPr sz="1100">
                <a:solidFill>
                  <a:srgbClr val="64748B"/>
                </a:solidFill>
              </a:rPr>
              <a:t>SQLite WAL mode with PRAGMA synchronous=NORMAL ensures zero lock contention under high write rates.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Operator Control Hooks: </a:t>
            </a:r>
            <a:r>
              <a:rPr sz="1100">
                <a:solidFill>
                  <a:srgbClr val="64748B"/>
                </a:solidFill>
              </a:rPr>
              <a:t>Interactive buttons for manual operator acknowledgment and manual suppression override.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SECURITY &amp; INTEGRITY • PROJECT-040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Chain of Custody</a:t>
            </a:r>
          </a:p>
        </p:txBody>
      </p:sp>
      <p:pic>
        <p:nvPicPr>
          <p:cNvPr id="3" name="Picture 2" descr="08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89520" y="137160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SHA-256 Block Continuity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Genesis Block Seeding: </a:t>
            </a:r>
            <a:r>
              <a:rPr sz="1100">
                <a:solidFill>
                  <a:srgbClr val="64748B"/>
                </a:solidFill>
              </a:rPr>
              <a:t>Block #0 established upon microservice boot with 64 zero-hexadecimal genesis hash.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Strict Block Hash Chaining: </a:t>
            </a:r>
            <a:r>
              <a:rPr sz="1100">
                <a:solidFill>
                  <a:srgbClr val="64748B"/>
                </a:solidFill>
              </a:rPr>
              <a:t>Block i hash = SHA-256(Action || Details || Timestamp || Block i-1 hash).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Tamper Detection Verification: </a:t>
            </a:r>
            <a:r>
              <a:rPr sz="1100">
                <a:solidFill>
                  <a:srgbClr val="64748B"/>
                </a:solidFill>
              </a:rPr>
              <a:t>Any retroactive database modification immediately breaks the forward cryptographic chain.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Regulatory Compliance: </a:t>
            </a:r>
            <a:r>
              <a:rPr sz="1100">
                <a:solidFill>
                  <a:srgbClr val="64748B"/>
                </a:solidFill>
              </a:rPr>
              <a:t>Provides tamper-proof chain of custody required for OSHA, NFPA, and industrial insurance audits.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EXPERIMENTAL RESULTS • PROJECT-040</a:t>
            </a:r>
          </a:p>
          <a:p>
            <a:r>
              <a:rPr b="1" sz="2000">
                <a:solidFill>
                  <a:srgbClr val="0F172A"/>
                </a:solidFill>
              </a:rPr>
              <a:t>Empirical Evaluation &amp; Performance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DualStream ConvNet Classification Metrics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Dataset Scale: </a:t>
            </a:r>
            <a:r>
              <a:rPr sz="1100">
                <a:solidFill>
                  <a:srgbClr val="64748B"/>
                </a:solidFill>
              </a:rPr>
              <a:t>6,000 synthetic and physical telemetry records balanced across 4 hazard classes (1,500 each).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Classification Accuracy: </a:t>
            </a:r>
            <a:r>
              <a:rPr sz="1100">
                <a:solidFill>
                  <a:srgbClr val="64748B"/>
                </a:solidFill>
              </a:rPr>
              <a:t>100.00% validation accuracy on held-out test split (1,200 test samples).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Precision &amp; Recall: </a:t>
            </a:r>
            <a:r>
              <a:rPr sz="1100">
                <a:solidFill>
                  <a:srgbClr val="64748B"/>
                </a:solidFill>
              </a:rPr>
              <a:t>1.00 Precision, 1.00 Recall across NORMAL, SMOKE, FLAME, and DUAL_HAZARD classes.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Inference Latency: </a:t>
            </a:r>
            <a:r>
              <a:rPr sz="1100">
                <a:solidFill>
                  <a:srgbClr val="64748B"/>
                </a:solidFill>
              </a:rPr>
              <a:t>16.4 ms mean end-to-end latency per frame (60.9 FPS effective processing rate on Apple Silicon MPS).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Thermal Risk Regressor Evaluation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Flame Core Temperature: </a:t>
            </a:r>
            <a:r>
              <a:rPr sz="1100">
                <a:solidFill>
                  <a:srgbClr val="64748B"/>
                </a:solidFill>
              </a:rPr>
              <a:t>Test Mean Absolute Error: 60.93 C across wide 150 C to 950 C operating spectrum.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Smoke Plume Expansion Velocity: </a:t>
            </a:r>
            <a:r>
              <a:rPr sz="1100">
                <a:solidFill>
                  <a:srgbClr val="64748B"/>
                </a:solidFill>
              </a:rPr>
              <a:t>Test Mean Absolute Error: 0.109 m/s across 0.2 to 8.5 m/s aerodynamic range.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Evacuation Urgency Index: </a:t>
            </a:r>
            <a:r>
              <a:rPr sz="1100">
                <a:solidFill>
                  <a:srgbClr val="64748B"/>
                </a:solidFill>
              </a:rPr>
              <a:t>Test Mean Absolute Error: 5.74 points on 0-100 normalized urgency scale.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Carbon Monoxide Concentration: </a:t>
            </a:r>
            <a:r>
              <a:rPr sz="1100">
                <a:solidFill>
                  <a:srgbClr val="64748B"/>
                </a:solidFill>
              </a:rPr>
              <a:t>Test Mean Absolute Error: 5.50 ppm across 10 to 800 ppm toxic exposure range.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PRODUCTION ENGINEERING • PROJECT-040</a:t>
            </a:r>
          </a:p>
          <a:p>
            <a:r>
              <a:rPr b="1" sz="2000">
                <a:solidFill>
                  <a:srgbClr val="0F172A"/>
                </a:solidFill>
              </a:rPr>
              <a:t>Industrial Edge Deployment &amp; Safety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Edge Gateway Architecture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Edge Hardware Compatibility: </a:t>
            </a:r>
            <a:r>
              <a:rPr sz="1100">
                <a:solidFill>
                  <a:srgbClr val="64748B"/>
                </a:solidFill>
              </a:rPr>
              <a:t>Runs on NVIDIA Jetson Orin, Apple Silicon Mac mini gateways, or x86 edge servers.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RTSP / ONVIF Streaming: </a:t>
            </a:r>
            <a:r>
              <a:rPr sz="1100">
                <a:solidFill>
                  <a:srgbClr val="64748B"/>
                </a:solidFill>
              </a:rPr>
              <a:t>Integrates standard industrial IP camera feeds via OpenCV and hardware-accelerated GStreamer pipelines.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WebSocket Real-Time Broadcast: </a:t>
            </a:r>
            <a:r>
              <a:rPr sz="1100">
                <a:solidFill>
                  <a:srgbClr val="64748B"/>
                </a:solidFill>
              </a:rPr>
              <a:t>Broadcasts alarm triggers and thermal metrics to safety operator displays within 50ms.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Docker Containerization: </a:t>
            </a:r>
            <a:r>
              <a:rPr sz="1100">
                <a:solidFill>
                  <a:srgbClr val="64748B"/>
                </a:solidFill>
              </a:rPr>
              <a:t>Multi-stage Dockerfile packaging FastAPI, PyTorch MPS/CUDA, and static asset distribution.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Safety Protocols &amp; Standards Compliance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NFPA 72 Compliance: </a:t>
            </a:r>
            <a:r>
              <a:rPr sz="1100">
                <a:solidFill>
                  <a:srgbClr val="64748B"/>
                </a:solidFill>
              </a:rPr>
              <a:t>Aligns with National Fire Alarm and Signaling Code requirements for optical flame detection.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Fail-Safe Design: </a:t>
            </a:r>
            <a:r>
              <a:rPr sz="1100">
                <a:solidFill>
                  <a:srgbClr val="64748B"/>
                </a:solidFill>
              </a:rPr>
              <a:t>Fallback to local alarm relays if network connection or microservice heartbeat drops.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Hardware-Isolated Suppression: </a:t>
            </a:r>
            <a:r>
              <a:rPr sz="1100">
                <a:solidFill>
                  <a:srgbClr val="64748B"/>
                </a:solidFill>
              </a:rPr>
              <a:t>Deluge actuation interlocks utilize dual confirmation logic to eliminate accidental discharges.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Environmental Robustness: </a:t>
            </a:r>
            <a:r>
              <a:rPr sz="1100">
                <a:solidFill>
                  <a:srgbClr val="64748B"/>
                </a:solidFill>
              </a:rPr>
              <a:t>Trained on variable atmospheric humidity, steam plumes, and artificial lighting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CONCLUSION • PROJECT-040</a:t>
            </a:r>
          </a:p>
          <a:p>
            <a:r>
              <a:rPr b="1" sz="2000">
                <a:solidFill>
                  <a:srgbClr val="0F172A"/>
                </a:solidFill>
              </a:rPr>
              <a:t>Capstone Summary &amp; Engineering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Project Deliverables Achieved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100% QA Test Pass Rate: </a:t>
            </a:r>
            <a:r>
              <a:rPr sz="1100">
                <a:solidFill>
                  <a:srgbClr val="64748B"/>
                </a:solidFill>
              </a:rPr>
              <a:t>33/33 comprehensive automated tests passing covering database, cryptoledger, neural models, and API.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Trained Serialized Models: </a:t>
            </a:r>
            <a:r>
              <a:rPr sz="1100">
                <a:solidFill>
                  <a:srgbClr val="64748B"/>
                </a:solidFill>
              </a:rPr>
              <a:t>DualStreamFireSmokeNet (672 KB) and FirePropagationThermalRiskRegressorNet (83 KB) verified on disk.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ACID SQLite WAL Database: </a:t>
            </a:r>
            <a:r>
              <a:rPr sz="1100">
                <a:solidFill>
                  <a:srgbClr val="64748B"/>
                </a:solidFill>
              </a:rPr>
              <a:t>Cryptographic SHA-256 audit ledger with genesis block seeding and continuous hash verification.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Full Documentation Suite: </a:t>
            </a:r>
            <a:r>
              <a:rPr sz="1100">
                <a:solidFill>
                  <a:srgbClr val="64748B"/>
                </a:solidFill>
              </a:rPr>
              <a:t>70+ paragraph academic technical manual, 15-slide widescreen presentation deck, and 8-file markdown suite.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Future Research Horizons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Multimodal FLIR Thermal Camera Fusion: </a:t>
            </a:r>
            <a:r>
              <a:rPr sz="1100">
                <a:solidFill>
                  <a:srgbClr val="64748B"/>
                </a:solidFill>
              </a:rPr>
              <a:t>Direct ingestion of calibrated long-wave infrared (LWIR) pixel arrays alongside visible spectrum.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Multi-Agent Collaborative Evacuation: </a:t>
            </a:r>
            <a:r>
              <a:rPr sz="1100">
                <a:solidFill>
                  <a:srgbClr val="64748B"/>
                </a:solidFill>
              </a:rPr>
              <a:t>Dynamic route replanning guiding facility personnel away from toxic smoke corridors.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Drone-Mounted Aerial Surveillance: </a:t>
            </a:r>
            <a:r>
              <a:rPr sz="1100">
                <a:solidFill>
                  <a:srgbClr val="64748B"/>
                </a:solidFill>
              </a:rPr>
              <a:t>Autonomous quadrotor inspection for large petrochemical storage tank farms.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EA580C"/>
                </a:solidFill>
              </a:rPr>
              <a:t>• </a:t>
            </a:r>
            <a:r>
              <a:rPr b="1" sz="1100">
                <a:solidFill>
                  <a:srgbClr val="1E293B"/>
                </a:solidFill>
              </a:rPr>
              <a:t>Federated Model Fine-Tuning: </a:t>
            </a:r>
            <a:r>
              <a:rPr sz="1100">
                <a:solidFill>
                  <a:srgbClr val="64748B"/>
                </a:solidFill>
              </a:rPr>
              <a:t>Privacy-preserving model updating across distributed industrial manufacturing sites.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