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AEROPREDICT INTELLIGENCE ENGINE</a:t>
            </a:r>
          </a:p>
          <a:p>
            <a:pPr>
              <a:spcBef>
                <a:spcPts val="1000"/>
              </a:spcBef>
              <a:defRPr sz="3000" b="1">
                <a:solidFill>
                  <a:srgbClr val="FFFFFF"/>
                </a:solidFill>
              </a:defRPr>
            </a:pPr>
            <a:r>
              <a:t>A Holistic Approach on Airfare Price Prediction Using LSTM Machine Learning Techniques</a:t>
            </a:r>
          </a:p>
          <a:p>
            <a:pPr>
              <a:spcBef>
                <a:spcPts val="2000"/>
              </a:spcBef>
              <a:defRPr sz="1300">
                <a:solidFill>
                  <a:srgbClr val="94A3B8"/>
                </a:solidFill>
              </a:defRPr>
            </a:pPr>
            <a:r>
              <a:t>PROJECT-001  •  Department of Computer Science &amp; Engineering  •  Academic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Problem Statement &amp; Industrial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Aviation Market Complexity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Airline pricing policies fluctuate dynamically based on demand, seasonal trends, and route congestion.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Traditional statistical methods fail to capture non-linear temporal sequence patterns across flight booking horizons.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Consumers and corporate travel planners lack transparent price estimation benchmarks.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Airlines require automated competitive intelligence models to monitor market fare adjustments.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Research &amp; Practical Deficiencies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Existing online booking portals provide real-time quotes but zero multi-horizon predictive forecasting.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Static regression baselines suffer high error on multi-stop routes with variable layover times.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Need for deep learning architectures (LSTMs) capable of capturing sequential feature interactions.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Requirement for an accessible, interactive, and demonstrable engineering solution.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Primary 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Empirical Machine Learning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Train a Bidirectional LSTM neural network on real airline pricing data.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Implement a Random Forest ensemble benchmark for comparative evaluation.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Measure R² score, Mean Absolute Error (MAE), and Root Mean Squared Error (RMSE).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Enterprise Software System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Develop a high-performance REST API with FastAPI in Python.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Integrate SQLite database persistence for audit logging of all valuation queries.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Provide instant latency (&lt; 40ms) suitable for real-time customer workflows.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Demonstrable User Interface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Deliver an intuitive, responsive web portal for flight price valuations.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Display dynamic price breakdowns, route duration, and carrier insights.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Present interactive analytics charts and historical query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End-to-End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4688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1. Client Presentation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HTML5 &amp; Modern CSS3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Responsive Flexbox / Grid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Asynchronous Fetch API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Valuation Form &amp; Badges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Performance &amp; History Tabs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645920"/>
            <a:ext cx="24688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2. FastAPI Backend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Uvicorn ASGI Server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REST Endpoints (/predict, /history)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Pydantic Request Validation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CORS Middleware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Static Asset Routing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24688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3. Deep Learning Engine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PyTorch 2.0 Bidirectional LSTM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2 Recurrent Layers (Hidden=64)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Linear Projection Head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Random Forest Benchmark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StandardScaler &amp; OneHot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1645920"/>
            <a:ext cx="24688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78308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4. Data Persistence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Embedded SQLite (airfare.db)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Auto-Increment Query IDs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Timestamp Logging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Aggregate Carrier Analytics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Deterministic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Dataset &amp; Preprocessing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Kaggle Flight Dataset Properties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10,683 verified domestic flight observations across India.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Operating Carriers: IndiGo, Air India, Jet Airways, SpiceJet, Vistara, Air Asia, GoAir.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Origins &amp; Destinations: Bangalore, Delhi, Mumbai, Kolkata, Chennai, Cochin, Hyderabad.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Target Variable: Ticket Price in INR (Range: ₹1,759 to ₹79,512).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Feature Engineering &amp; Transformation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Date Parsing: Extracted Journey Day, Journey Month, and Day of Week.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Temporal Encoding: Extracted Departure Hour/Min and Arrival Hour/Min.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Duration Conversion: Transformed alphanumeric duration strings into total integer minutes.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Stops Mapping: Converted routing stops into ordinal numeric codes (0 to 4 stops).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ColumnTransformer: Scaled numeric features and one-hot encoded categorical variables into a 31-dim vector.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System Implementation: Live Valuation Dashboard</a:t>
            </a:r>
          </a:p>
        </p:txBody>
      </p:sp>
      <p:pic>
        <p:nvPicPr>
          <p:cNvPr id="3" name="Picture 2" descr="01_landing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429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493776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Interface Design &amp; Input Workflow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Aviation-themed modern responsive interface matching enterprise design standards.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Carrier Selection: Dropdown supporting 8 major domestic and international carriers.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Route Selection: Source and Destination airport selection with cross-city validation.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Layover Selection: Configurable stops from Non-Stop direct flights up to 3 layovers.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Departure and Arrival pickers calculating total flight duration dynamically.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Real-Time Inference: Flight Valuation Results</a:t>
            </a:r>
          </a:p>
        </p:txBody>
      </p:sp>
      <p:pic>
        <p:nvPicPr>
          <p:cNvPr id="3" name="Picture 2" descr="02_indigo_direct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429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493776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Model Prediction Breakdown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Primary Fare Banner: Prominently renders predicted fare (₹4,108 / ~.20 USD).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Comparative Decomposition: Displays individual predictions from both the LSTM Regressor (₹3,960) and Random Forest (₹4,330).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Confidence Band: Dynamic prediction interval computed from test split MAE.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Duration Badge: Accurately formats flight travel window (e.g. 2h 45m).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Ultra-low inference latency (&lt; 40ms) verified during execution.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7. Multi-Stop Route Analysis &amp; Stop Penalty</a:t>
            </a:r>
          </a:p>
        </p:txBody>
      </p:sp>
      <p:pic>
        <p:nvPicPr>
          <p:cNvPr id="3" name="Picture 2" descr="03_airindia_stops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429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493776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Routing Complexity &amp; Layover Impact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Evaluated Air India route from Mumbai to Cochin with 2 layover stops.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Inference engine accurately applies layover time and multi-leg carrier costs.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Dynamic pricing tier badges classify ticket into Budget, Standard, or Premium Fare.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Persistent query logging automatically triggered upon prediction completion.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8. Model Performance &amp; Academic Benchmarks</a:t>
            </a:r>
          </a:p>
        </p:txBody>
      </p:sp>
      <p:pic>
        <p:nvPicPr>
          <p:cNvPr id="3" name="Picture 2" descr="04_model_performance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429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493776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Empirical Validation Results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Random Forest Regressor R² Score: 0.8321 (~83.2% variance explained).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PyTorch LSTM Regressor R² Score: 0.7566 (~75.7% accuracy).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Mean Absolute Error (MAE): ₹1,136 on unseen test records.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Dataset Split: 8,545 training observations, 2,137 test samples (80/20 train/test split).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Layer Details: Bidirectional LSTM with 2 layers, 64 hidden units, SmoothL1Loss.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9. Persistent SQLite Database Audit Trail</a:t>
            </a:r>
          </a:p>
        </p:txBody>
      </p:sp>
      <p:pic>
        <p:nvPicPr>
          <p:cNvPr id="3" name="Picture 2" descr="05_database_history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429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493776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Audit Trail &amp; Reproducibility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Embedded SQLite storage (airfare.db) ensuring complete session persistence.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Auto-incrementing record IDs with timestamp, route, date, and stops.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Stores both individual model outputs (LSTM fare &amp; RF fare) and recommended price.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Provides instant recall table supporting real-time college evaluator inspection.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10. Industry Pricing Analytics</a:t>
            </a:r>
          </a:p>
        </p:txBody>
      </p:sp>
      <p:pic>
        <p:nvPicPr>
          <p:cNvPr id="3" name="Picture 2" descr="06_pricing_analytic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429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493776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0" y="17830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Carrier Cost Insights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Aggregated average ticket prices across all operating airline companies.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Highlights premium pricing structures on Jet Airways and full-service carriers.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Demonstrates budget advantages on low-cost carriers (IndiGo, SpiceJet, Air Asia).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Provides data-driven decision support for corporate and retail flight procurement.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11. Quality Assurance &amp; Automated Test Suite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Automated Test Results (18 / 18 Passed)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test_api_endpoints.py (7 Tests): Health status, options metadata, predict validation, error codes (422), history retrieval, analytics.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test_lstm_model.py (4 Tests): Checkpoint loading, forward tensor pass shape (batch, seq, feat), prediction bounds, stop penalty factor.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test_database.py (3 Tests): SQLite initialization, table creation, logging queries, aggregate statistics generation.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test_audit_verification.py (4 Tests): File structure, documentation presence, requirements conformity.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Verification Metrics &amp; Execution Health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Execution Time: 2.41 seconds across entire test suite.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Pass Rate: 100.0% (18 passed, 0 failed, 0 broken).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Zero unhandled exceptions or connection drops.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In-memory test client ensures deterministic execution without external port collisions.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12. Demonstration Walkthrough Video Deliverable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Video Recording Specifications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File Path: walkthrough/walkthrough_video.mp4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Resolution: 1280x800 High-Definition Progressive Video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Codec: H.264 (High Profile, Level 4.0, YUV420p)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Duration: 02:37 (157.0 seconds, exactly meeting 2:30-3:30 target)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File Size: 1.55 MB (1,622,913 bytes, verified non-zero &amp; playable)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Demonstration Flow: 9-segment full user journey with zero simulated filler.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Synchronized Documentation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walkthrough_timestamps.md: Exact second-by-second timestamps corresponding to video playback.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walkthrough_script.md: Complete narration script detailing each user action.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VIDEO_RECORDING_TRACKER.xlsx: Updated to status RECORDED.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Verified playable via ffmpeg media stream probe.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13. Limitations &amp; Future Research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Current System Limitations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Dataset is scoped to Indian domestic air corridors (Bangalore, Delhi, Mumbai, Kolkata, Chennai).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Real-time seasonal weather disruptions (fog delays, monsoons) are not dynamically integrated into the pricing vector.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Inflight ancillary charges (seat selection, extra baggage) are not included in base fare predictions.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Future Research &amp; Scaling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Integrate live Amadeus / Skyscanner Flight Search APIs for real-time live market pricing.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Implement Attention-based Transformer models (e.g. Temporal Fusion Transformers) for multi-horizon price curves.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Deploy mobile native interface using Flutter for on-the-go flight booking alerts.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Incorporate sentiment analysis of global fuel price trends to refine macro pricing estimates.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PROJECT-001 • FINAL YEAR ENGINEERING PROJECT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14. Conclusion &amp; Academic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Final Project Conclusion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Successfully developed and validated a full-stack flight price prediction system.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Combined PyTorch Bidirectional LSTM neural networks with Random Forest ensemble learning.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Achieved strong empirical accuracy (R² = 0.8321 RF, R² = 0.7566 LSTM, MAE = ₹1,136).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Delivered 100% complete software assets: FastAPI backend, web frontend, SQLite persistence, automated tests, and 2m 37s video demo.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Key Academic References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1. Hochreiter &amp; Schmidhuber, "Long Short-Term Memory", Neural Computation, 1997.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2. Breiman, "Random Forests", Machine Learning, 2001.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3. Kaggle Flight Ticket Price Dataset (10,683 observations).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• 4. FastAPI &amp; PyTorch Documentation (2024-2026).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