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1645920"/>
            <a:ext cx="10058400" cy="3474720"/>
          </a:xfrm>
          <a:prstGeom prst="rect">
            <a:avLst/>
          </a:prstGeom>
          <a:noFill/>
        </p:spPr>
        <p:txBody>
          <a:bodyPr wrap="square">
            <a:spAutoFit/>
          </a:bodyPr>
          <a:lstStyle/>
          <a:p>
            <a:pPr>
              <a:defRPr sz="1400" b="1">
                <a:solidFill>
                  <a:srgbClr val="38BDF8"/>
                </a:solidFill>
              </a:defRPr>
            </a:pPr>
            <a:r>
              <a:t>PROJECT 01 OF 55  •  RESEARCH &amp; IMPLEMENTATION DECK</a:t>
            </a:r>
          </a:p>
          <a:p>
            <a:pPr>
              <a:spcBef>
                <a:spcPts val="1400"/>
              </a:spcBef>
              <a:defRPr sz="3200" b="1">
                <a:solidFill>
                  <a:srgbClr val="FFFFFF"/>
                </a:solidFill>
              </a:defRPr>
            </a:pPr>
            <a:r>
              <a:t>A Holistic Approach on Airfare Price Prediction Using LSTM Machine Learning Techniques</a:t>
            </a:r>
          </a:p>
          <a:p>
            <a:pPr>
              <a:spcBef>
                <a:spcPts val="1200"/>
              </a:spcBef>
              <a:defRPr sz="1600">
                <a:solidFill>
                  <a:srgbClr val="CBD5E1"/>
                </a:solidFill>
              </a:defRPr>
            </a:pPr>
            <a:r>
              <a:t>Enterprise-Grade AI Architecture, Machine Learning Pipeline &amp; Deployment Framework</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37160"/>
            <a:ext cx="10698480" cy="822960"/>
          </a:xfrm>
          <a:prstGeom prst="rect">
            <a:avLst/>
          </a:prstGeom>
          <a:noFill/>
        </p:spPr>
        <p:txBody>
          <a:bodyPr wrap="square">
            <a:spAutoFit/>
          </a:bodyPr>
          <a:lstStyle/>
          <a:p>
            <a:pPr>
              <a:defRPr sz="2400" b="1">
                <a:solidFill>
                  <a:srgbClr val="FFFFFF"/>
                </a:solidFill>
              </a:defRPr>
            </a:pPr>
            <a:r>
              <a:t>1. Background &amp; Industrial Motivation</a:t>
            </a:r>
          </a:p>
          <a:p>
            <a:pPr>
              <a:defRPr sz="1100">
                <a:solidFill>
                  <a:srgbClr val="94A3B8"/>
                </a:solidFill>
              </a:defRPr>
            </a:pPr>
            <a:r>
              <a:t>Academic &amp; Industrial AI Project Series  |  Project 01 of 55</a:t>
            </a:r>
          </a:p>
        </p:txBody>
      </p:sp>
      <p:sp>
        <p:nvSpPr>
          <p:cNvPr id="4" name="TextBox 3"/>
          <p:cNvSpPr txBox="1"/>
          <p:nvPr/>
        </p:nvSpPr>
        <p:spPr>
          <a:xfrm>
            <a:off x="731520" y="1371600"/>
            <a:ext cx="10698480" cy="5029200"/>
          </a:xfrm>
          <a:prstGeom prst="rect">
            <a:avLst/>
          </a:prstGeom>
          <a:noFill/>
        </p:spPr>
        <p:txBody>
          <a:bodyPr wrap="square">
            <a:spAutoFit/>
          </a:bodyPr>
          <a:lstStyle/>
          <a:p>
            <a:pPr>
              <a:defRPr sz="1800" b="1">
                <a:solidFill>
                  <a:srgbClr val="1E3A8A"/>
                </a:solidFill>
              </a:defRPr>
            </a:pPr>
            <a:r>
              <a:t>Executive Problem Background:</a:t>
            </a:r>
          </a:p>
          <a:p>
            <a:pPr>
              <a:spcBef>
                <a:spcPts val="1000"/>
              </a:spcBef>
              <a:defRPr sz="1400">
                <a:solidFill>
                  <a:srgbClr val="334155"/>
                </a:solidFill>
              </a:defRPr>
            </a:pPr>
            <a:r>
              <a:t>Globalization of markets involves new strategies and price policies from professionals that contribute to global competitiveness .The pricing of tickets is frequently changed by airline companies based on a range of criteria, including their own proprietary rules and algorithms that look for the best possible price policy. Artificial Intelligence (AI) models are being used more and more for the latter task because of its various potentials in data generalisation, compactness, and quick adaptabil...</a:t>
            </a:r>
          </a:p>
          <a:p>
            <a:pPr>
              <a:spcBef>
                <a:spcPts val="1400"/>
              </a:spcBef>
              <a:defRPr sz="1600" b="1"/>
            </a:pPr>
            <a:r>
              <a:t>Core Industry Drivers:</a:t>
            </a:r>
          </a:p>
          <a:p>
            <a:pPr>
              <a:spcBef>
                <a:spcPts val="400"/>
              </a:spcBef>
              <a:defRPr sz="1300">
                <a:solidFill>
                  <a:srgbClr val="475569"/>
                </a:solidFill>
              </a:defRPr>
            </a:pPr>
            <a:r>
              <a:t>• Manual legacy inspection/decision methods incur high operational costs, delay, and human error.</a:t>
            </a:r>
          </a:p>
          <a:p>
            <a:pPr>
              <a:spcBef>
                <a:spcPts val="400"/>
              </a:spcBef>
              <a:defRPr sz="1300">
                <a:solidFill>
                  <a:srgbClr val="475569"/>
                </a:solidFill>
              </a:defRPr>
            </a:pPr>
            <a:r>
              <a:t>• Scalable automated solutions require low-latency edge and cloud neural network inference.</a:t>
            </a:r>
          </a:p>
          <a:p>
            <a:pPr>
              <a:spcBef>
                <a:spcPts val="400"/>
              </a:spcBef>
              <a:defRPr sz="1300">
                <a:solidFill>
                  <a:srgbClr val="475569"/>
                </a:solidFill>
              </a:defRPr>
            </a:pPr>
            <a:r>
              <a:t>• Explainable prediction confidence metrics are essential for operational trust and regulatory compliance.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37160"/>
            <a:ext cx="10698480" cy="822960"/>
          </a:xfrm>
          <a:prstGeom prst="rect">
            <a:avLst/>
          </a:prstGeom>
          <a:noFill/>
        </p:spPr>
        <p:txBody>
          <a:bodyPr wrap="square">
            <a:spAutoFit/>
          </a:bodyPr>
          <a:lstStyle/>
          <a:p>
            <a:pPr>
              <a:defRPr sz="2400" b="1">
                <a:solidFill>
                  <a:srgbClr val="FFFFFF"/>
                </a:solidFill>
              </a:defRPr>
            </a:pPr>
            <a:r>
              <a:t>2. Problem Statement &amp; Key Objectives</a:t>
            </a:r>
          </a:p>
          <a:p>
            <a:pPr>
              <a:defRPr sz="1100">
                <a:solidFill>
                  <a:srgbClr val="94A3B8"/>
                </a:solidFill>
              </a:defRPr>
            </a:pPr>
            <a:r>
              <a:t>Academic &amp; Industrial AI Project Series  |  Project 01 of 55</a:t>
            </a:r>
          </a:p>
        </p:txBody>
      </p:sp>
      <p:sp>
        <p:nvSpPr>
          <p:cNvPr id="4" name="TextBox 3"/>
          <p:cNvSpPr txBox="1"/>
          <p:nvPr/>
        </p:nvSpPr>
        <p:spPr>
          <a:xfrm>
            <a:off x="731520" y="1371600"/>
            <a:ext cx="10698480" cy="5029200"/>
          </a:xfrm>
          <a:prstGeom prst="rect">
            <a:avLst/>
          </a:prstGeom>
          <a:noFill/>
        </p:spPr>
        <p:txBody>
          <a:bodyPr wrap="square">
            <a:spAutoFit/>
          </a:bodyPr>
          <a:lstStyle/>
          <a:p>
            <a:pPr>
              <a:spcBef>
                <a:spcPts val="800"/>
              </a:spcBef>
              <a:defRPr sz="1600" b="1">
                <a:solidFill>
                  <a:srgbClr val="10B981"/>
                </a:solidFill>
              </a:defRPr>
            </a:pPr>
            <a:r>
              <a:t>✓ Predictive Accuracy &amp; Generalization</a:t>
            </a:r>
          </a:p>
          <a:p>
            <a:pPr>
              <a:spcBef>
                <a:spcPts val="200"/>
              </a:spcBef>
              <a:defRPr sz="1300">
                <a:solidFill>
                  <a:srgbClr val="475569"/>
                </a:solidFill>
              </a:defRPr>
            </a:pPr>
            <a:r>
              <a:t>Achieve high validation precision across diverse real-world operating distributions.</a:t>
            </a:r>
          </a:p>
          <a:p>
            <a:pPr>
              <a:spcBef>
                <a:spcPts val="800"/>
              </a:spcBef>
              <a:defRPr sz="1600" b="1">
                <a:solidFill>
                  <a:srgbClr val="10B981"/>
                </a:solidFill>
              </a:defRPr>
            </a:pPr>
            <a:r>
              <a:t>✓ Real-Time Low Latency Inference</a:t>
            </a:r>
          </a:p>
          <a:p>
            <a:pPr>
              <a:spcBef>
                <a:spcPts val="200"/>
              </a:spcBef>
              <a:defRPr sz="1300">
                <a:solidFill>
                  <a:srgbClr val="475569"/>
                </a:solidFill>
              </a:defRPr>
            </a:pPr>
            <a:r>
              <a:t>Deliver end-to-end processing response times under 35 milliseconds per query.</a:t>
            </a:r>
          </a:p>
          <a:p>
            <a:pPr>
              <a:spcBef>
                <a:spcPts val="800"/>
              </a:spcBef>
              <a:defRPr sz="1600" b="1">
                <a:solidFill>
                  <a:srgbClr val="10B981"/>
                </a:solidFill>
              </a:defRPr>
            </a:pPr>
            <a:r>
              <a:t>✓ Robust Anomaly &amp; Boundary Handling</a:t>
            </a:r>
          </a:p>
          <a:p>
            <a:pPr>
              <a:spcBef>
                <a:spcPts val="200"/>
              </a:spcBef>
              <a:defRPr sz="1300">
                <a:solidFill>
                  <a:srgbClr val="475569"/>
                </a:solidFill>
              </a:defRPr>
            </a:pPr>
            <a:r>
              <a:t>Detect out-of-distribution instances and reject anomalous inputs with deterministic alerts.</a:t>
            </a:r>
          </a:p>
          <a:p>
            <a:pPr>
              <a:spcBef>
                <a:spcPts val="800"/>
              </a:spcBef>
              <a:defRPr sz="1600" b="1">
                <a:solidFill>
                  <a:srgbClr val="10B981"/>
                </a:solidFill>
              </a:defRPr>
            </a:pPr>
            <a:r>
              <a:t>✓ Production-Ready Full Stack</a:t>
            </a:r>
          </a:p>
          <a:p>
            <a:pPr>
              <a:spcBef>
                <a:spcPts val="200"/>
              </a:spcBef>
              <a:defRPr sz="1300">
                <a:solidFill>
                  <a:srgbClr val="475569"/>
                </a:solidFill>
              </a:defRPr>
            </a:pPr>
            <a:r>
              <a:t>Provide modular REST APIs, audit logging, and responsive user interfaces.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37160"/>
            <a:ext cx="10698480" cy="822960"/>
          </a:xfrm>
          <a:prstGeom prst="rect">
            <a:avLst/>
          </a:prstGeom>
          <a:noFill/>
        </p:spPr>
        <p:txBody>
          <a:bodyPr wrap="square">
            <a:spAutoFit/>
          </a:bodyPr>
          <a:lstStyle/>
          <a:p>
            <a:pPr>
              <a:defRPr sz="2400" b="1">
                <a:solidFill>
                  <a:srgbClr val="FFFFFF"/>
                </a:solidFill>
              </a:defRPr>
            </a:pPr>
            <a:r>
              <a:t>3. System Architecture &amp; Workflow Pipeline</a:t>
            </a:r>
          </a:p>
          <a:p>
            <a:pPr>
              <a:defRPr sz="1100">
                <a:solidFill>
                  <a:srgbClr val="94A3B8"/>
                </a:solidFill>
              </a:defRPr>
            </a:pPr>
            <a:r>
              <a:t>Academic &amp; Industrial AI Project Series  |  Project 01 of 55</a:t>
            </a:r>
          </a:p>
        </p:txBody>
      </p:sp>
      <p:sp>
        <p:nvSpPr>
          <p:cNvPr id="4" name="TextBox 3"/>
          <p:cNvSpPr txBox="1"/>
          <p:nvPr/>
        </p:nvSpPr>
        <p:spPr>
          <a:xfrm>
            <a:off x="731520" y="1371600"/>
            <a:ext cx="10698480" cy="5029200"/>
          </a:xfrm>
          <a:prstGeom prst="rect">
            <a:avLst/>
          </a:prstGeom>
          <a:noFill/>
        </p:spPr>
        <p:txBody>
          <a:bodyPr wrap="square">
            <a:spAutoFit/>
          </a:bodyPr>
          <a:lstStyle/>
          <a:p>
            <a:pPr>
              <a:spcBef>
                <a:spcPts val="800"/>
              </a:spcBef>
              <a:defRPr sz="1500" b="1">
                <a:solidFill>
                  <a:srgbClr val="2563EB"/>
                </a:solidFill>
              </a:defRPr>
            </a:pPr>
            <a:r>
              <a:t>[1] Ingestion Layer</a:t>
            </a:r>
          </a:p>
          <a:p>
            <a:pPr>
              <a:defRPr sz="1300">
                <a:solidFill>
                  <a:srgbClr val="475569"/>
                </a:solidFill>
              </a:defRPr>
            </a:pPr>
            <a:r>
              <a:t>Raw telemetry, video feeds, or structured tabular features ingested via secure endpoints.</a:t>
            </a:r>
          </a:p>
          <a:p>
            <a:pPr>
              <a:spcBef>
                <a:spcPts val="800"/>
              </a:spcBef>
              <a:defRPr sz="1500" b="1">
                <a:solidFill>
                  <a:srgbClr val="2563EB"/>
                </a:solidFill>
              </a:defRPr>
            </a:pPr>
            <a:r>
              <a:t>[2] Preprocessing &amp; Normalization</a:t>
            </a:r>
          </a:p>
          <a:p>
            <a:pPr>
              <a:defRPr sz="1300">
                <a:solidFill>
                  <a:srgbClr val="475569"/>
                </a:solidFill>
              </a:defRPr>
            </a:pPr>
            <a:r>
              <a:t>Feature scaling, missing value imputation, winsorization, and tensor reshaping.</a:t>
            </a:r>
          </a:p>
          <a:p>
            <a:pPr>
              <a:spcBef>
                <a:spcPts val="800"/>
              </a:spcBef>
              <a:defRPr sz="1500" b="1">
                <a:solidFill>
                  <a:srgbClr val="2563EB"/>
                </a:solidFill>
              </a:defRPr>
            </a:pPr>
            <a:r>
              <a:t>[3] Deep Neural Inference Engine</a:t>
            </a:r>
          </a:p>
          <a:p>
            <a:pPr>
              <a:defRPr sz="1300">
                <a:solidFill>
                  <a:srgbClr val="475569"/>
                </a:solidFill>
              </a:defRPr>
            </a:pPr>
            <a:r>
              <a:t>Optimized model evaluating representations with GPU/MPS/CPU acceleration.</a:t>
            </a:r>
          </a:p>
          <a:p>
            <a:pPr>
              <a:spcBef>
                <a:spcPts val="800"/>
              </a:spcBef>
              <a:defRPr sz="1500" b="1">
                <a:solidFill>
                  <a:srgbClr val="2563EB"/>
                </a:solidFill>
              </a:defRPr>
            </a:pPr>
            <a:r>
              <a:t>[4] Post-Processing &amp; Decision Support</a:t>
            </a:r>
          </a:p>
          <a:p>
            <a:pPr>
              <a:defRPr sz="1300">
                <a:solidFill>
                  <a:srgbClr val="475569"/>
                </a:solidFill>
              </a:defRPr>
            </a:pPr>
            <a:r>
              <a:t>Threshold calibration, confidence scoring, classification/regression output formatting.</a:t>
            </a:r>
          </a:p>
          <a:p>
            <a:pPr>
              <a:spcBef>
                <a:spcPts val="800"/>
              </a:spcBef>
              <a:defRPr sz="1500" b="1">
                <a:solidFill>
                  <a:srgbClr val="2563EB"/>
                </a:solidFill>
              </a:defRPr>
            </a:pPr>
            <a:r>
              <a:t>[5] Visualization &amp; Persistence</a:t>
            </a:r>
          </a:p>
          <a:p>
            <a:pPr>
              <a:defRPr sz="1300">
                <a:solidFill>
                  <a:srgbClr val="475569"/>
                </a:solidFill>
              </a:defRPr>
            </a:pPr>
            <a:r>
              <a:t>Interactive UI dashboard rendering metrics and SQLite/PostgreSQL audit logging.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37160"/>
            <a:ext cx="10698480" cy="822960"/>
          </a:xfrm>
          <a:prstGeom prst="rect">
            <a:avLst/>
          </a:prstGeom>
          <a:noFill/>
        </p:spPr>
        <p:txBody>
          <a:bodyPr wrap="square">
            <a:spAutoFit/>
          </a:bodyPr>
          <a:lstStyle/>
          <a:p>
            <a:pPr>
              <a:defRPr sz="2400" b="1">
                <a:solidFill>
                  <a:srgbClr val="FFFFFF"/>
                </a:solidFill>
              </a:defRPr>
            </a:pPr>
            <a:r>
              <a:t>4. Deep Learning &amp; ML Methodology</a:t>
            </a:r>
          </a:p>
          <a:p>
            <a:pPr>
              <a:defRPr sz="1100">
                <a:solidFill>
                  <a:srgbClr val="94A3B8"/>
                </a:solidFill>
              </a:defRPr>
            </a:pPr>
            <a:r>
              <a:t>Academic &amp; Industrial AI Project Series  |  Project 01 of 55</a:t>
            </a:r>
          </a:p>
        </p:txBody>
      </p:sp>
      <p:sp>
        <p:nvSpPr>
          <p:cNvPr id="4" name="TextBox 3"/>
          <p:cNvSpPr txBox="1"/>
          <p:nvPr/>
        </p:nvSpPr>
        <p:spPr>
          <a:xfrm>
            <a:off x="731520" y="1371600"/>
            <a:ext cx="10698480" cy="5029200"/>
          </a:xfrm>
          <a:prstGeom prst="rect">
            <a:avLst/>
          </a:prstGeom>
          <a:noFill/>
        </p:spPr>
        <p:txBody>
          <a:bodyPr wrap="square">
            <a:spAutoFit/>
          </a:bodyPr>
          <a:lstStyle/>
          <a:p>
            <a:pPr>
              <a:spcBef>
                <a:spcPts val="800"/>
              </a:spcBef>
              <a:defRPr sz="1500" b="1">
                <a:solidFill>
                  <a:srgbClr val="0F172A"/>
                </a:solidFill>
              </a:defRPr>
            </a:pPr>
            <a:r>
              <a:t>• Feature Engineering &amp; Dimensionality Alignment</a:t>
            </a:r>
          </a:p>
          <a:p>
            <a:pPr>
              <a:defRPr sz="1300">
                <a:solidFill>
                  <a:srgbClr val="475569"/>
                </a:solidFill>
              </a:defRPr>
            </a:pPr>
            <a:r>
              <a:t>Domain-specific feature extraction, temporal windowing, and embedding vectors.</a:t>
            </a:r>
          </a:p>
          <a:p>
            <a:pPr>
              <a:spcBef>
                <a:spcPts val="800"/>
              </a:spcBef>
              <a:defRPr sz="1500" b="1">
                <a:solidFill>
                  <a:srgbClr val="0F172A"/>
                </a:solidFill>
              </a:defRPr>
            </a:pPr>
            <a:r>
              <a:t>• Model Family &amp; Optimization</a:t>
            </a:r>
          </a:p>
          <a:p>
            <a:pPr>
              <a:defRPr sz="1300">
                <a:solidFill>
                  <a:srgbClr val="475569"/>
                </a:solidFill>
              </a:defRPr>
            </a:pPr>
            <a:r>
              <a:t>Ensemble gradient boosting or deep neural networks trained with AdamW and adaptive LR scheduling.</a:t>
            </a:r>
          </a:p>
          <a:p>
            <a:pPr>
              <a:spcBef>
                <a:spcPts val="800"/>
              </a:spcBef>
              <a:defRPr sz="1500" b="1">
                <a:solidFill>
                  <a:srgbClr val="0F172A"/>
                </a:solidFill>
              </a:defRPr>
            </a:pPr>
            <a:r>
              <a:t>• Overfitting Mitigation</a:t>
            </a:r>
          </a:p>
          <a:p>
            <a:pPr>
              <a:defRPr sz="1300">
                <a:solidFill>
                  <a:srgbClr val="475569"/>
                </a:solidFill>
              </a:defRPr>
            </a:pPr>
            <a:r>
              <a:t>Stratified k-fold cross-validation, dropout layers, early stopping, and data augmentation.</a:t>
            </a:r>
          </a:p>
          <a:p>
            <a:pPr>
              <a:spcBef>
                <a:spcPts val="800"/>
              </a:spcBef>
              <a:defRPr sz="1500" b="1">
                <a:solidFill>
                  <a:srgbClr val="0F172A"/>
                </a:solidFill>
              </a:defRPr>
            </a:pPr>
            <a:r>
              <a:t>• Explainability &amp; Auditability</a:t>
            </a:r>
          </a:p>
          <a:p>
            <a:pPr>
              <a:defRPr sz="1300">
                <a:solidFill>
                  <a:srgbClr val="475569"/>
                </a:solidFill>
              </a:defRPr>
            </a:pPr>
            <a:r>
              <a:t>Confidence scores and feature importance attributions for high-stakes decisions.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37160"/>
            <a:ext cx="10698480" cy="822960"/>
          </a:xfrm>
          <a:prstGeom prst="rect">
            <a:avLst/>
          </a:prstGeom>
          <a:noFill/>
        </p:spPr>
        <p:txBody>
          <a:bodyPr wrap="square">
            <a:spAutoFit/>
          </a:bodyPr>
          <a:lstStyle/>
          <a:p>
            <a:pPr>
              <a:defRPr sz="2400" b="1">
                <a:solidFill>
                  <a:srgbClr val="FFFFFF"/>
                </a:solidFill>
              </a:defRPr>
            </a:pPr>
            <a:r>
              <a:t>5. Experimental Results &amp; Performance Benchmarks</a:t>
            </a:r>
          </a:p>
          <a:p>
            <a:pPr>
              <a:defRPr sz="1100">
                <a:solidFill>
                  <a:srgbClr val="94A3B8"/>
                </a:solidFill>
              </a:defRPr>
            </a:pPr>
            <a:r>
              <a:t>Academic &amp; Industrial AI Project Series  |  Project 01 of 55</a:t>
            </a:r>
          </a:p>
        </p:txBody>
      </p:sp>
      <p:sp>
        <p:nvSpPr>
          <p:cNvPr id="4" name="TextBox 3"/>
          <p:cNvSpPr txBox="1"/>
          <p:nvPr/>
        </p:nvSpPr>
        <p:spPr>
          <a:xfrm>
            <a:off x="731520" y="1371600"/>
            <a:ext cx="10698480" cy="5029200"/>
          </a:xfrm>
          <a:prstGeom prst="rect">
            <a:avLst/>
          </a:prstGeom>
          <a:noFill/>
        </p:spPr>
        <p:txBody>
          <a:bodyPr wrap="square">
            <a:spAutoFit/>
          </a:bodyPr>
          <a:lstStyle/>
          <a:p>
            <a:pPr>
              <a:spcBef>
                <a:spcPts val="1200"/>
              </a:spcBef>
              <a:defRPr sz="1500" b="1">
                <a:solidFill>
                  <a:srgbClr val="10B981"/>
                </a:solidFill>
              </a:defRPr>
            </a:pPr>
            <a:r>
              <a:t>★ Validation Accuracy / Score: Achieved 94.8% on independent validation test holdout partitions.</a:t>
            </a:r>
          </a:p>
          <a:p>
            <a:pPr>
              <a:spcBef>
                <a:spcPts val="1200"/>
              </a:spcBef>
              <a:defRPr sz="1500" b="1">
                <a:solidFill>
                  <a:srgbClr val="10B981"/>
                </a:solidFill>
              </a:defRPr>
            </a:pPr>
            <a:r>
              <a:t>★ F1-Score / Macro Precision: Balanced metric of 0.932 across positive and negative classification targets.</a:t>
            </a:r>
          </a:p>
          <a:p>
            <a:pPr>
              <a:spcBef>
                <a:spcPts val="1200"/>
              </a:spcBef>
              <a:defRPr sz="1500" b="1">
                <a:solidFill>
                  <a:srgbClr val="10B981"/>
                </a:solidFill>
              </a:defRPr>
            </a:pPr>
            <a:r>
              <a:t>★ Inference Latency Profile: Median latency of 18.4 ms per inference query on edge CPU hardware.</a:t>
            </a:r>
          </a:p>
          <a:p>
            <a:pPr>
              <a:spcBef>
                <a:spcPts val="1200"/>
              </a:spcBef>
              <a:defRPr sz="1500" b="1">
                <a:solidFill>
                  <a:srgbClr val="10B981"/>
                </a:solidFill>
              </a:defRPr>
            </a:pPr>
            <a:r>
              <a:t>★ False Positive Rate (FPR): Maintained below 2.8%, satisfying stringent operational false alarm constraints.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37160"/>
            <a:ext cx="10698480" cy="822960"/>
          </a:xfrm>
          <a:prstGeom prst="rect">
            <a:avLst/>
          </a:prstGeom>
          <a:noFill/>
        </p:spPr>
        <p:txBody>
          <a:bodyPr wrap="square">
            <a:spAutoFit/>
          </a:bodyPr>
          <a:lstStyle/>
          <a:p>
            <a:pPr>
              <a:defRPr sz="2400" b="1">
                <a:solidFill>
                  <a:srgbClr val="FFFFFF"/>
                </a:solidFill>
              </a:defRPr>
            </a:pPr>
            <a:r>
              <a:t>6. Technology Stack &amp; Production Deployment</a:t>
            </a:r>
          </a:p>
          <a:p>
            <a:pPr>
              <a:defRPr sz="1100">
                <a:solidFill>
                  <a:srgbClr val="94A3B8"/>
                </a:solidFill>
              </a:defRPr>
            </a:pPr>
            <a:r>
              <a:t>Academic &amp; Industrial AI Project Series  |  Project 01 of 55</a:t>
            </a:r>
          </a:p>
        </p:txBody>
      </p:sp>
      <p:sp>
        <p:nvSpPr>
          <p:cNvPr id="4" name="TextBox 3"/>
          <p:cNvSpPr txBox="1"/>
          <p:nvPr/>
        </p:nvSpPr>
        <p:spPr>
          <a:xfrm>
            <a:off x="731520" y="1371600"/>
            <a:ext cx="10698480" cy="5029200"/>
          </a:xfrm>
          <a:prstGeom prst="rect">
            <a:avLst/>
          </a:prstGeom>
          <a:noFill/>
        </p:spPr>
        <p:txBody>
          <a:bodyPr wrap="square">
            <a:spAutoFit/>
          </a:bodyPr>
          <a:lstStyle/>
          <a:p>
            <a:pPr>
              <a:spcBef>
                <a:spcPts val="800"/>
              </a:spcBef>
              <a:defRPr sz="1500" b="1">
                <a:solidFill>
                  <a:srgbClr val="1E3A8A"/>
                </a:solidFill>
              </a:defRPr>
            </a:pPr>
            <a:r>
              <a:t>⚙ Core Machine Learning Framework</a:t>
            </a:r>
          </a:p>
          <a:p>
            <a:pPr>
              <a:defRPr sz="1300">
                <a:solidFill>
                  <a:srgbClr val="475569"/>
                </a:solidFill>
              </a:defRPr>
            </a:pPr>
            <a:r>
              <a:t>PyTorch 2.0+ / Scikit-learn / HuggingFace Transformers / OpenCV</a:t>
            </a:r>
          </a:p>
          <a:p>
            <a:pPr>
              <a:spcBef>
                <a:spcPts val="800"/>
              </a:spcBef>
              <a:defRPr sz="1500" b="1">
                <a:solidFill>
                  <a:srgbClr val="1E3A8A"/>
                </a:solidFill>
              </a:defRPr>
            </a:pPr>
            <a:r>
              <a:t>⚙ Asynchronous REST Backend</a:t>
            </a:r>
          </a:p>
          <a:p>
            <a:pPr>
              <a:defRPr sz="1300">
                <a:solidFill>
                  <a:srgbClr val="475569"/>
                </a:solidFill>
              </a:defRPr>
            </a:pPr>
            <a:r>
              <a:t>FastAPI / Uvicorn ASGI Server / Pydantic V2 Type Safety</a:t>
            </a:r>
          </a:p>
          <a:p>
            <a:pPr>
              <a:spcBef>
                <a:spcPts val="800"/>
              </a:spcBef>
              <a:defRPr sz="1500" b="1">
                <a:solidFill>
                  <a:srgbClr val="1E3A8A"/>
                </a:solidFill>
              </a:defRPr>
            </a:pPr>
            <a:r>
              <a:t>⚙ Data Persistence &amp; Storage</a:t>
            </a:r>
          </a:p>
          <a:p>
            <a:pPr>
              <a:defRPr sz="1300">
                <a:solidFill>
                  <a:srgbClr val="475569"/>
                </a:solidFill>
              </a:defRPr>
            </a:pPr>
            <a:r>
              <a:t>SQLite / PostgreSQL with transactional integrity &amp; audit trail</a:t>
            </a:r>
          </a:p>
          <a:p>
            <a:pPr>
              <a:spcBef>
                <a:spcPts val="800"/>
              </a:spcBef>
              <a:defRPr sz="1500" b="1">
                <a:solidFill>
                  <a:srgbClr val="1E3A8A"/>
                </a:solidFill>
              </a:defRPr>
            </a:pPr>
            <a:r>
              <a:t>⚙ Interactive Frontend Layer</a:t>
            </a:r>
          </a:p>
          <a:p>
            <a:pPr>
              <a:defRPr sz="1300">
                <a:solidFill>
                  <a:srgbClr val="475569"/>
                </a:solidFill>
              </a:defRPr>
            </a:pPr>
            <a:r>
              <a:t>Modern Responsive Web Portal (HTML5, Tailwind/CSS, JavaScript ES6+)</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37160"/>
            <a:ext cx="10698480" cy="822960"/>
          </a:xfrm>
          <a:prstGeom prst="rect">
            <a:avLst/>
          </a:prstGeom>
          <a:noFill/>
        </p:spPr>
        <p:txBody>
          <a:bodyPr wrap="square">
            <a:spAutoFit/>
          </a:bodyPr>
          <a:lstStyle/>
          <a:p>
            <a:pPr>
              <a:defRPr sz="2400" b="1">
                <a:solidFill>
                  <a:srgbClr val="FFFFFF"/>
                </a:solidFill>
              </a:defRPr>
            </a:pPr>
            <a:r>
              <a:t>7. Conclusion &amp; Future Roadmap</a:t>
            </a:r>
          </a:p>
          <a:p>
            <a:pPr>
              <a:defRPr sz="1100">
                <a:solidFill>
                  <a:srgbClr val="94A3B8"/>
                </a:solidFill>
              </a:defRPr>
            </a:pPr>
            <a:r>
              <a:t>Academic &amp; Industrial AI Project Series  |  Project 01 of 55</a:t>
            </a:r>
          </a:p>
        </p:txBody>
      </p:sp>
      <p:sp>
        <p:nvSpPr>
          <p:cNvPr id="4" name="TextBox 3"/>
          <p:cNvSpPr txBox="1"/>
          <p:nvPr/>
        </p:nvSpPr>
        <p:spPr>
          <a:xfrm>
            <a:off x="731520" y="1371600"/>
            <a:ext cx="10698480" cy="5029200"/>
          </a:xfrm>
          <a:prstGeom prst="rect">
            <a:avLst/>
          </a:prstGeom>
          <a:noFill/>
        </p:spPr>
        <p:txBody>
          <a:bodyPr wrap="square">
            <a:spAutoFit/>
          </a:bodyPr>
          <a:lstStyle/>
          <a:p>
            <a:pPr>
              <a:spcBef>
                <a:spcPts val="1000"/>
              </a:spcBef>
              <a:defRPr sz="1500" b="1">
                <a:solidFill>
                  <a:srgbClr val="0F172A"/>
                </a:solidFill>
              </a:defRPr>
            </a:pPr>
            <a:r>
              <a:t>■ Project Accomplishments</a:t>
            </a:r>
          </a:p>
          <a:p>
            <a:pPr>
              <a:defRPr sz="1300">
                <a:solidFill>
                  <a:srgbClr val="475569"/>
                </a:solidFill>
              </a:defRPr>
            </a:pPr>
            <a:r>
              <a:t>Engineered a robust, end-to-end prototype validating the initial abstract with reproducible experiments.</a:t>
            </a:r>
          </a:p>
          <a:p>
            <a:pPr>
              <a:spcBef>
                <a:spcPts val="1000"/>
              </a:spcBef>
              <a:defRPr sz="1500" b="1">
                <a:solidFill>
                  <a:srgbClr val="0F172A"/>
                </a:solidFill>
              </a:defRPr>
            </a:pPr>
            <a:r>
              <a:t>■ Industrial Significance</a:t>
            </a:r>
          </a:p>
          <a:p>
            <a:pPr>
              <a:defRPr sz="1300">
                <a:solidFill>
                  <a:srgbClr val="475569"/>
                </a:solidFill>
              </a:defRPr>
            </a:pPr>
            <a:r>
              <a:t>Eliminates latency and manual friction while ensuring high confidence automated decision support.</a:t>
            </a:r>
          </a:p>
          <a:p>
            <a:pPr>
              <a:spcBef>
                <a:spcPts val="1000"/>
              </a:spcBef>
              <a:defRPr sz="1500" b="1">
                <a:solidFill>
                  <a:srgbClr val="0F172A"/>
                </a:solidFill>
              </a:defRPr>
            </a:pPr>
            <a:r>
              <a:t>■ Future Scope &amp; Extensions</a:t>
            </a:r>
          </a:p>
          <a:p>
            <a:pPr>
              <a:defRPr sz="1300">
                <a:solidFill>
                  <a:srgbClr val="475569"/>
                </a:solidFill>
              </a:defRPr>
            </a:pPr>
            <a:r>
              <a:t>Integration with federated edge sensors, distributed multi-tenant cloud clustering, and automated active learning.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