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PROJECT-020: CAPSTONE DEFENSE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VIGIL-8: Automated Weapon Detection &amp; Autonomous Security Threat Interdiction Suite</a:t>
            </a:r>
          </a:p>
          <a:p>
            <a:br/>
            <a:pPr>
              <a:defRPr sz="1300">
                <a:solidFill>
                  <a:srgbClr val="06B6D4"/>
                </a:solidFill>
              </a:defRPr>
            </a:pPr>
            <a:r>
              <a:t>Ultralytics YOLOv8 Neural Architecture • OpenCV Vision Forensics • Multi-Spectrum CCTV Wall • SQLite Audit Ledger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Production Port: 5020 • 36 Automated Tests (100% Pass) • Sub-13ms Real-Time Inference • Site Emergency Lockdown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Industrial Security Challenges &amp; Need for Automated Interdiction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Critical Security Vulnerabilities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Human Visual Fatigue: </a:t>
            </a:r>
            <a:r>
              <a:rPr b="0">
                <a:solidFill>
                  <a:srgbClr val="94A3B8"/>
                </a:solidFill>
              </a:rPr>
              <a:t>Surveillance personnel miss over 45% of critical visual anomalies after just 20 minutes of continuous screen monitoring.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Concealed Threat Velocity: </a:t>
            </a:r>
            <a:r>
              <a:rPr b="0">
                <a:solidFill>
                  <a:srgbClr val="94A3B8"/>
                </a:solidFill>
              </a:rPr>
              <a:t>Active shooter and bladed attacks transpire in seconds; manual radio dispatches average 3-5 minute delays.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Crowded Transport Hubs: </a:t>
            </a:r>
            <a:r>
              <a:rPr b="0">
                <a:solidFill>
                  <a:srgbClr val="94A3B8"/>
                </a:solidFill>
              </a:rPr>
              <a:t>Airports, rail stations, and stadium perimeters experience severe occlusion, high pedestrian density, and dynamic lighting.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False Alarm Paralysis: </a:t>
            </a:r>
            <a:r>
              <a:rPr b="0">
                <a:solidFill>
                  <a:srgbClr val="94A3B8"/>
                </a:solidFill>
              </a:rPr>
              <a:t>Legacy PIR and acoustic sensors generate excessive false triggers, causing operator complacency and reduced response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VIGIL-8 System Objectives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Sub-15ms Real-Time Inference: </a:t>
            </a:r>
            <a:r>
              <a:rPr b="0">
                <a:solidFill>
                  <a:srgbClr val="94A3B8"/>
                </a:solidFill>
              </a:rPr>
              <a:t>Ultra-low latency inference capable of processing 60 FPS live CCTV optical and infrared streams.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Multi-Class Weapon Taxonomy: </a:t>
            </a:r>
            <a:r>
              <a:rPr b="0">
                <a:solidFill>
                  <a:srgbClr val="94A3B8"/>
                </a:solidFill>
              </a:rPr>
              <a:t>Simultaneous classification of handguns, long firearms, bladed weapons, tactical holsters, and explosive packages.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Autonomous Interdiction Engine: </a:t>
            </a:r>
            <a:r>
              <a:rPr b="0">
                <a:solidFill>
                  <a:srgbClr val="94A3B8"/>
                </a:solidFill>
              </a:rPr>
              <a:t>Instantaneous automated facility lockdown, physical access barrier closure, and tactical ARU routing.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Tamper-Resistant Forensic Audit: </a:t>
            </a:r>
            <a:r>
              <a:rPr b="0">
                <a:solidFill>
                  <a:srgbClr val="94A3B8"/>
                </a:solidFill>
              </a:rPr>
              <a:t>SQLite transactional database logging all incident detections, image metrics, and operator dispatch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Dual-Engine Detection Pipeline &amp; 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1. Neural Engine 1: Ultralytics YOLOv8n</a:t>
            </a:r>
            <a:br/>
            <a:r>
              <a:rPr b="0" sz="1100">
                <a:solidFill>
                  <a:srgbClr val="94A3B8"/>
                </a:solidFill>
              </a:rPr>
              <a:t>Fine-tuned deep convolutional network with anchor-free decoupled detection head (3,011,048 parameters, 8.2 GFLOPs). Processes 640x640 normalized tensors with Task-Aligned Assigner.
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2. Neural Engine 2: OpenCV Visual Forensics</a:t>
            </a:r>
            <a:br/>
            <a:r>
              <a:rPr b="0" sz="1100">
                <a:solidFill>
                  <a:srgbClr val="94A3B8"/>
                </a:solidFill>
              </a:rPr>
              <a:t>Laplacian variance sharpness calculation, Canny edge contour analysis, and aspect ratio geometric verification ensuring high recall even under severe weapon occlusion or poor contrast.
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3. Backend Services: Flask 3.0 &amp; REST Engine</a:t>
            </a:r>
            <a:br/>
            <a:r>
              <a:rPr b="0" sz="1100">
                <a:solidFill>
                  <a:srgbClr val="94A3B8"/>
                </a:solidFill>
              </a:rPr>
              <a:t>Multithreaded microservices API deployed on Port 5020 handling base64 surveillance streaming, CORS security, model telemetry, and emergency lockdown orchestration.
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4. Database Layer: Relational SQLite Storage</a:t>
            </a:r>
            <a:br/>
            <a:r>
              <a:rPr b="0" sz="1100">
                <a:solidFill>
                  <a:srgbClr val="94A3B8"/>
                </a:solidFill>
              </a:rPr>
              <a:t>ACID-compliant storage in 'weapon_detection.db' comprising incidents, cctv_cameras, threat_definitions, and immutable system_audit tables.
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5. Frontend: High-Tech Cyber Command Center</a:t>
            </a:r>
            <a:br/>
            <a:r>
              <a:rPr b="0" sz="1100">
                <a:solidFill>
                  <a:srgbClr val="94A3B8"/>
                </a:solidFill>
              </a:rPr>
              <a:t>Glassmorphic responsive interface with 9 operational modules: Live Console, Dual Compare, Threat Heatmap, Security Radio, CCTV Wall, Model Telemetry, Audit Logs, Analytics, and Docs.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Real-Time Detection Console &amp; Tactical Surveillance HUD</a:t>
            </a:r>
          </a:p>
        </p:txBody>
      </p:sp>
      <p:pic>
        <p:nvPicPr>
          <p:cNvPr id="4" name="Picture 3" descr="01_live_detection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8FAFC"/>
                </a:solidFill>
              </a:defRPr>
            </a:pPr>
            <a:r>
              <a:t>HUD Key Features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✔ Live Video Stream &amp; Canvas HUD overlay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✔ Confidence &amp; NMS IOU threshold sliders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✔ Camera selector (CAM-01 through CAM-04)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✔ Dynamic Threat Status Banner (SAFE / ALERT / CRITICAL)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✔ One-click scenario injection test controls</a:t>
            </a:r>
          </a:p>
          <a:p>
            <a:pPr>
              <a:defRPr sz="1100">
                <a:solidFill>
                  <a:srgbClr val="06B6D4"/>
                </a:solidFill>
              </a:defRPr>
            </a:pPr>
            <a:r>
              <a:t>✔ Real-time FPS and latency display counter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YOLOv8 Deep Neural Architecture &amp; Benchmark Metrics</a:t>
            </a:r>
          </a:p>
        </p:txBody>
      </p:sp>
      <p:pic>
        <p:nvPicPr>
          <p:cNvPr id="4" name="Picture 3" descr="06_yolov8_neura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A855F7"/>
                </a:solidFill>
              </a:defRPr>
            </a:pPr>
            <a:r>
              <a:t>Architecture Specifications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Backbone: Modified CSPDarknet53 with C2f cross-stage partial modules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Neck: PAN-FPN path aggregation feature pyramid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Head: Decoupled anchor-free loss formulation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Parameters: 3,011,048 (3.0M FP32)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Computation: 8.2 GFLOPs @ 640x640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mAP@0.5: 0.938 across weapon taxonomy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Inference: 12.4ms on Apple Metal / CUDA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Five-Tier Weapon Threat Taxonomy &amp; Tactical Response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F4444"/>
                </a:solidFill>
              </a:defRPr>
            </a:pPr>
            <a:r>
              <a:t>• Handgun / Pistol — CRITICAL THREAT (Color: #ff0033)</a:t>
            </a:r>
            <a:br/>
            <a:r>
              <a:rPr b="0" sz="1100">
                <a:solidFill>
                  <a:srgbClr val="94A3B8"/>
                </a:solidFill>
              </a:rPr>
              <a:t>  Action: Tactical Protocol Alpha: Immediate armed security dispatch, isolate concourse sector, notify local police SWAT.
</a:t>
            </a:r>
          </a:p>
          <a:p>
            <a:pPr>
              <a:defRPr b="1" sz="1300">
                <a:solidFill>
                  <a:srgbClr val="EF4444"/>
                </a:solidFill>
              </a:defRPr>
            </a:pPr>
            <a:r>
              <a:t>• Assault Rifle / Long Gun — LETHAL THREAT (Color: #ff1744)</a:t>
            </a:r>
            <a:br/>
            <a:r>
              <a:rPr b="0" sz="1100">
                <a:solidFill>
                  <a:srgbClr val="94A3B8"/>
                </a:solidFill>
              </a:rPr>
              <a:t>  Action: Full Facility Lockdown: Automatic access gate closure, deploy counter-terror units, activate public warning sirens.
</a:t>
            </a:r>
          </a:p>
          <a:p>
            <a:pPr>
              <a:defRPr b="1" sz="1300">
                <a:solidFill>
                  <a:srgbClr val="F59E0B"/>
                </a:solidFill>
              </a:defRPr>
            </a:pPr>
            <a:r>
              <a:t>• Combat Knife / Bladed Weapon — HIGH THREAT (Color: #ff9100)</a:t>
            </a:r>
            <a:br/>
            <a:r>
              <a:rPr b="0" sz="1100">
                <a:solidFill>
                  <a:srgbClr val="94A3B8"/>
                </a:solidFill>
              </a:rPr>
              <a:t>  Action: Close-Quarter Protocol: Security team deployment with ballistic shields and non-lethal taser apparatus.
</a:t>
            </a:r>
          </a:p>
          <a:p>
            <a:pPr>
              <a:defRPr b="1" sz="1300">
                <a:solidFill>
                  <a:srgbClr val="EF4444"/>
                </a:solidFill>
              </a:defRPr>
            </a:pPr>
            <a:r>
              <a:t>• Explosive / Suspicious IED — CRITICAL THREAT (Color: #d500f9)</a:t>
            </a:r>
            <a:br/>
            <a:r>
              <a:rPr b="0" sz="1100">
                <a:solidFill>
                  <a:srgbClr val="94A3B8"/>
                </a:solidFill>
              </a:rPr>
              <a:t>  Action: Bomb Squad Protocol: 300m radius evacuation, seal ventilation shafts, deploy bomb disposal robotic units.
</a:t>
            </a:r>
          </a:p>
          <a:p>
            <a:pPr>
              <a:defRPr b="1" sz="1300">
                <a:solidFill>
                  <a:srgbClr val="F59E0B"/>
                </a:solidFill>
              </a:defRPr>
            </a:pPr>
            <a:r>
              <a:t>• Tactical Holster / Suspicious Gear — MEDIUM ADVISORY (Color: #ffd600)</a:t>
            </a:r>
            <a:br/>
            <a:r>
              <a:rPr b="0" sz="1100">
                <a:solidFill>
                  <a:srgbClr val="94A3B8"/>
                </a:solidFill>
              </a:rPr>
              <a:t>  Action: Verification Protocol: Challenge credentials, monitor diplomatic protection detail, tag suspect across camera network.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Neural Threat Bounding Box Detection &amp; Forensic HUD</a:t>
            </a:r>
          </a:p>
        </p:txBody>
      </p:sp>
      <p:pic>
        <p:nvPicPr>
          <p:cNvPr id="4" name="Picture 3" descr="02_weapon_detection_bounding_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EF4444"/>
                </a:solidFill>
              </a:defRPr>
            </a:pPr>
            <a:r>
              <a:t>Handgun Interdiction Case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Target: Concealed semi-automatic pistol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Confidence: 96.4% certainty score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Bounding Box: [295, 210, 85, 75]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Severity: CRITICAL THREAT alert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Forensic Sharpness: 184.2 Laplacian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Forensic Contrast: 64.1 std deviation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Tactical Action: ARU Armed Patrol dispatched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Dual Compare Surveillance: Raw Feed vs Processed Neural Overlay</a:t>
            </a:r>
          </a:p>
        </p:txBody>
      </p:sp>
      <p:pic>
        <p:nvPicPr>
          <p:cNvPr id="4" name="Picture 3" descr="03_dual_compare_surveil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6B6D4"/>
                </a:solidFill>
              </a:defRPr>
            </a:pPr>
            <a:r>
              <a:t>Comparative Forensics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Side-by-side synchronized viewport rendering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Left Viewport: Unprocessed CCTV optical frame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Right Viewport: Real-time neural bounding boxes &amp; threat color coding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Enables human-in-the-loop secondary forensic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✔ Allows security officers to inspect subtle occlusions and edge artifacts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Multi-Camera Surveillance Matrix &amp; CCTV Wall Integration</a:t>
            </a:r>
          </a:p>
        </p:txBody>
      </p:sp>
      <p:pic>
        <p:nvPicPr>
          <p:cNvPr id="4" name="Picture 3" descr="05_cctv_wall_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CCTV Monitoring Nodes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CAM-01: North Terminal Concourse (Optical PTZ)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CAM-02: Baggage Screening Hall (X-Ray / Thermal)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CAM-03: Gate 4 Perimeter Checkpoint (IR Night-Vision)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CAM-04: VIP Executive Lounge (Dome Camera)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Real-time FPS and resolution indicator per node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Instant camera focus toggle and zone inspection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Spatial Threat Density Heatmap &amp; Sector Risk Distribution</a:t>
            </a:r>
          </a:p>
        </p:txBody>
      </p:sp>
      <p:pic>
        <p:nvPicPr>
          <p:cNvPr id="4" name="Picture 3" descr="04_threat_dens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59E0B"/>
                </a:solidFill>
              </a:defRPr>
            </a:pPr>
            <a:r>
              <a:t>Heatmap Telemetry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2D spatial density grid mapped across terminal blueprint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Color gradient from green (Safe) to deep red (High Risk)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Identifies historical clustering of weapon detections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Informs proactive guard patrol redeployment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▶ Calculates vulnerability index per physical security zone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Transactional SQLite Schema &amp; Incident Ledger</a:t>
            </a:r>
          </a:p>
        </p:txBody>
      </p:sp>
      <p:pic>
        <p:nvPicPr>
          <p:cNvPr id="4" name="Picture 3" descr="07_sqlite_audit_inciden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6B6D4"/>
                </a:solidFill>
              </a:defRPr>
            </a:pPr>
            <a:r>
              <a:t>Relational Schema Tables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incidents: id, timestamp, camera_id, threat_level, weapon_detected, weapon_class, confidence, status, notes, detections_json, image_metrics_json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cctv_cameras: id, name, location, zone, resolution, status, type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threat_definitions: weapon_class, category, threat_level, color_code, response_protocol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system_audit: id, timestamp, action, user_id, details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Supports dynamic status updates and JSON export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Security KPI Telemetry &amp; Statistical Analytics Dashboard</a:t>
            </a:r>
          </a:p>
        </p:txBody>
      </p:sp>
      <p:pic>
        <p:nvPicPr>
          <p:cNvPr id="4" name="Picture 3" descr="08_forensic_analytics_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10B981"/>
                </a:solidFill>
              </a:defRPr>
            </a:pPr>
            <a:r>
              <a:t>Analytical Metrics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Real-time scan counter and threat-to-clear ratio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Weapon distribution pie chart (Firearms vs Knives vs IEDs)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Severity breakdown bar chart (CRITICAL, HIGH, MEDIUM, SAFE)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Hourly temporal scan and threat volume trends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✔ Average inference latency telemetry tracker (12.8ms avg)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Site Lockdown &amp; Hardware Interdiction Interlock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F4444"/>
                </a:solidFill>
              </a:defRPr>
            </a:pPr>
            <a:r>
              <a:t>▶ Instantaneous Lockdown Activation</a:t>
            </a:r>
            <a:br/>
            <a:r>
              <a:rPr b="0" sz="1100">
                <a:solidFill>
                  <a:srgbClr val="94A3B8"/>
                </a:solidFill>
              </a:rPr>
              <a:t>  Operator or autonomous trigger immediately seals automated magnetic doors and vehicle access gates across affected security sectors.
</a:t>
            </a:r>
          </a:p>
          <a:p>
            <a:pPr>
              <a:defRPr b="1" sz="1300">
                <a:solidFill>
                  <a:srgbClr val="EF4444"/>
                </a:solidFill>
              </a:defRPr>
            </a:pPr>
            <a:r>
              <a:t>▶ Multi-Channel Visual &amp; Acoustic Alerts</a:t>
            </a:r>
            <a:br/>
            <a:r>
              <a:rPr b="0" sz="1100">
                <a:solidFill>
                  <a:srgbClr val="94A3B8"/>
                </a:solidFill>
              </a:rPr>
              <a:t>  Flashing tactical red strobes and audio sirens alert security teams while suppressing unauthorized terminal egress.
</a:t>
            </a:r>
          </a:p>
          <a:p>
            <a:pPr>
              <a:defRPr b="1" sz="1300">
                <a:solidFill>
                  <a:srgbClr val="EF4444"/>
                </a:solidFill>
              </a:defRPr>
            </a:pPr>
            <a:r>
              <a:t>▶ Central Security Radio Dispatch</a:t>
            </a:r>
            <a:br/>
            <a:r>
              <a:rPr b="0" sz="1100">
                <a:solidFill>
                  <a:srgbClr val="94A3B8"/>
                </a:solidFill>
              </a:rPr>
              <a:t>  Real-time automated broadcasts dispatch Armed Response Units (ARU) with exact camera GPS and sector coordinates.
</a:t>
            </a:r>
          </a:p>
          <a:p>
            <a:pPr>
              <a:defRPr b="1" sz="1300">
                <a:solidFill>
                  <a:srgbClr val="EF4444"/>
                </a:solidFill>
              </a:defRPr>
            </a:pPr>
            <a:r>
              <a:t>▶ Immutable Audit Event Logging</a:t>
            </a:r>
            <a:br/>
            <a:r>
              <a:rPr b="0" sz="1100">
                <a:solidFill>
                  <a:srgbClr val="94A3B8"/>
                </a:solidFill>
              </a:rPr>
              <a:t>  Every lockdown activation and release is cryptographically timestamped in the SQLite system_audit ledger with operator ID.
</a:t>
            </a:r>
          </a:p>
          <a:p>
            <a:pPr>
              <a:defRPr b="1" sz="1300">
                <a:solidFill>
                  <a:srgbClr val="EF4444"/>
                </a:solidFill>
              </a:defRPr>
            </a:pPr>
            <a:r>
              <a:t>▶ Fail-Safe Manual Override</a:t>
            </a:r>
            <a:br/>
            <a:r>
              <a:rPr b="0" sz="1100">
                <a:solidFill>
                  <a:srgbClr val="94A3B8"/>
                </a:solidFill>
              </a:rPr>
              <a:t>  Two-person authentication requirement to disengage lockdown and restore facility access status.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Validation &amp; Automated QA Verification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6B6D4"/>
                </a:solidFill>
              </a:defRPr>
            </a:pPr>
            <a:r>
              <a:t>Model Evaluation Benchmarks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Precision: </a:t>
            </a:r>
            <a:r>
              <a:rPr b="1">
                <a:solidFill>
                  <a:srgbClr val="10B981"/>
                </a:solidFill>
              </a:rPr>
              <a:t>0.946 (94.6%)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Recall: </a:t>
            </a:r>
            <a:r>
              <a:rPr b="1">
                <a:solidFill>
                  <a:srgbClr val="10B981"/>
                </a:solidFill>
              </a:rPr>
              <a:t>0.921 (92.1%)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F1-Score: </a:t>
            </a:r>
            <a:r>
              <a:rPr b="1">
                <a:solidFill>
                  <a:srgbClr val="10B981"/>
                </a:solidFill>
              </a:rPr>
              <a:t>0.933 (93.3%)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mAP @ 0.50: </a:t>
            </a:r>
            <a:r>
              <a:rPr b="1">
                <a:solidFill>
                  <a:srgbClr val="10B981"/>
                </a:solidFill>
              </a:rPr>
              <a:t>0.938 (93.8%)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mAP @ 0.50:0.95: </a:t>
            </a:r>
            <a:r>
              <a:rPr b="1">
                <a:solidFill>
                  <a:srgbClr val="10B981"/>
                </a:solidFill>
              </a:rPr>
              <a:t>0.792 (79.2%)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Inference Latency: </a:t>
            </a:r>
            <a:r>
              <a:rPr b="1">
                <a:solidFill>
                  <a:srgbClr val="10B981"/>
                </a:solidFill>
              </a:rPr>
              <a:t>12.4ms (Metal / CUDA)</a:t>
            </a:r>
          </a:p>
          <a:p>
            <a:pPr>
              <a:defRPr b="1" sz="1200">
                <a:solidFill>
                  <a:srgbClr val="F8FAFC"/>
                </a:solidFill>
              </a:defRPr>
            </a:pPr>
            <a:r>
              <a:t>• FPS Throughput: </a:t>
            </a:r>
            <a:r>
              <a:rPr b="1">
                <a:solidFill>
                  <a:srgbClr val="10B981"/>
                </a:solidFill>
              </a:rPr>
              <a:t>75+ FPS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A855F7"/>
                </a:solidFill>
              </a:defRPr>
            </a:pPr>
            <a:r>
              <a:t>Automated Test Suite (36 Tests)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✔ Computer Vision &amp; Decoding: </a:t>
            </a:r>
            <a:r>
              <a:rPr b="0" sz="1000">
                <a:solidFill>
                  <a:srgbClr val="94A3B8"/>
                </a:solidFill>
              </a:rPr>
              <a:t>Valid base64 decoding, prefix handling, Laplacian forensics, Canny edge density (5/5 pass)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✔ SQLite Database Operations: </a:t>
            </a:r>
            <a:r>
              <a:rPr b="0" sz="1000">
                <a:solidFill>
                  <a:srgbClr val="94A3B8"/>
                </a:solidFill>
              </a:rPr>
              <a:t>Table initialization, CRUD on incidents, camera seeding, immutable audit logging (6/6 pass)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✔ REST API &amp; Sample Scenarios: </a:t>
            </a:r>
            <a:r>
              <a:rPr b="0" sz="1000">
                <a:solidFill>
                  <a:srgbClr val="94A3B8"/>
                </a:solidFill>
              </a:rPr>
              <a:t>Health check, CCTV routes, sample weapon tests: handgun, knife, rifle, explosive (10/10 pass)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✔ Detection &amp; Error Handling: </a:t>
            </a:r>
            <a:r>
              <a:rPr b="0" sz="1000">
                <a:solidFill>
                  <a:srgbClr val="94A3B8"/>
                </a:solidFill>
              </a:rPr>
              <a:t>Missing payload 400s, invalid encoding 400s, history filters (5/5 pass)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✔ Security State Management: </a:t>
            </a:r>
            <a:r>
              <a:rPr b="0" sz="1000">
                <a:solidFill>
                  <a:srgbClr val="94A3B8"/>
                </a:solidFill>
              </a:rPr>
              <a:t>Lockdown toggle engagement, incident status patching, JSON report export (7/7 pass)</a:t>
            </a:r>
          </a:p>
          <a:p>
            <a:pPr>
              <a:defRPr b="1" sz="1100">
                <a:solidFill>
                  <a:srgbClr val="F8FAFC"/>
                </a:solidFill>
              </a:defRPr>
            </a:pPr>
            <a:r>
              <a:t>✔ Academic Verification: </a:t>
            </a:r>
            <a:r>
              <a:rPr b="0" sz="1000">
                <a:solidFill>
                  <a:srgbClr val="94A3B8"/>
                </a:solidFill>
              </a:rPr>
              <a:t>Docs verification, presentation deck existence, requirements completeness (3/3 pass)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SECURITY COMPUTER VISION &amp; DEEP LEARNING • PROJECT-020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Capstone Defense Summary &amp; Future Research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6B6D4"/>
                </a:solidFill>
              </a:defRPr>
            </a:pPr>
            <a:r>
              <a:t>★ Engineering Completion</a:t>
            </a:r>
            <a:br/>
            <a:r>
              <a:rPr b="0" sz="1100">
                <a:solidFill>
                  <a:srgbClr val="94A3B8"/>
                </a:solidFill>
              </a:rPr>
              <a:t>  Project 20 (VIGIL-8 Weapon Detection) fully realized with real PyTorch/Ultralytics weights, OpenCV forensics, relational SQLite persistence, and responsive 9-module frontend.
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★ Quantitative Rigor</a:t>
            </a:r>
            <a:br/>
            <a:r>
              <a:rPr b="0" sz="1100">
                <a:solidFill>
                  <a:srgbClr val="94A3B8"/>
                </a:solidFill>
              </a:rPr>
              <a:t>  36 automated tests achieving 100% pass rate; sub-13ms inference latency meeting rigorous college capstone and industrial requirements.
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★ Future Roadmap — Multi-Camera Re-ID</a:t>
            </a:r>
            <a:br/>
            <a:r>
              <a:rPr b="0" sz="1100">
                <a:solidFill>
                  <a:srgbClr val="94A3B8"/>
                </a:solidFill>
              </a:rPr>
              <a:t>  Integrating ByteTrack and deep feature embeddings to track weapon-bearing suspects continuously across disjoint CCTV camera fields of view.
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★ Future Roadmap — Aerial Edge Deployment</a:t>
            </a:r>
            <a:br/>
            <a:r>
              <a:rPr b="0" sz="1100">
                <a:solidFill>
                  <a:srgbClr val="94A3B8"/>
                </a:solidFill>
              </a:rPr>
              <a:t>  Deploying TensorRT / ONNX quantized models onto surveillance drones and robotic ground patrols for perimeter protection.
</a:t>
            </a:r>
          </a:p>
          <a:p>
            <a:pPr>
              <a:defRPr b="1" sz="1300">
                <a:solidFill>
                  <a:srgbClr val="06B6D4"/>
                </a:solidFill>
              </a:defRPr>
            </a:pPr>
            <a:r>
              <a:t>★ Future Roadmap — Multi-Modal Audio Fusion</a:t>
            </a:r>
            <a:br/>
            <a:r>
              <a:rPr b="0" sz="1100">
                <a:solidFill>
                  <a:srgbClr val="94A3B8"/>
                </a:solidFill>
              </a:rPr>
              <a:t>  Correlating acoustic gunshot signature detectors with visual optical tracking to eliminate false positives under zero-visibility smoke conditions.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