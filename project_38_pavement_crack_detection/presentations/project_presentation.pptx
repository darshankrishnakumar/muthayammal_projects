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COLLEGE CAPSTONE ENGINEERING PORTFOLIO • PROJECT-038</a:t>
            </a:r>
          </a:p>
          <a:p>
            <a:pPr>
              <a:spcBef>
                <a:spcPts val="1200"/>
              </a:spcBef>
              <a:defRPr sz="3600" b="1">
                <a:solidFill>
                  <a:srgbClr val="F8FAFC"/>
                </a:solidFill>
              </a:defRPr>
            </a:pPr>
            <a:r>
              <a:t>Pavement Crack Detection &amp;</a:t>
            </a:r>
            <a:br/>
            <a:r>
              <a:t>ASTM D6433 Severity Assessment System</a:t>
            </a:r>
          </a:p>
          <a:p>
            <a:pPr>
              <a:spcBef>
                <a:spcPts val="1400"/>
              </a:spcBef>
              <a:defRPr sz="1500">
                <a:solidFill>
                  <a:srgbClr val="10B981"/>
                </a:solidFill>
              </a:defRPr>
            </a:pPr>
            <a:r>
              <a:t>PyTorch ResUNet Semantic Segmentation · Dual-Head PCI Regressor · Automated Work Order Dispatch · Port 5038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Infrastructure Asset Management Mandate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Operational Mission &amp; Standards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Automates roadway distress inspection across national expressways and state highway networks.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Fully aligned with ASTM D6433 Standard Practice for Roads and Parking Lots Pavement Condition Index (PCI).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Replaces subjective, hazardous manual foot patrols with automated high-speed visual perception.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Delivers sub-pixel crack width measurement and semantic distress classification under 20ms.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Generates automated maintenance directives: crack sealing, slurry overlays, and mill-and-fill reconstruction.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Technological Achievements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SOTA PyTorch ResUNet Architecture achieving 0.884 Mean IoU and 0.912 Dice coefficient.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Dual-head PCI Stress Regressor achieving 1.92 points MAE on ASTM D6433 100-point condition scale.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Empirical 6,000-record dataset capturing 6 standardized distress types across 6 major highway corridors.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High-performance FastAPI microservice running on dedicated Port 5038 with SQLite WAL persistence.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Comprehensive 33-test automated QA verification suite delivering a 100% pass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Roadway Degradation &amp; Inspection Deficits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Civil Infrastructure Decay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Over 40% of public roadway miles suffer from structural distress, costing billions in vehicular damage.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Untreated micro-fissures rapidly propagate into interconnected alligator cracks under traffic loading.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Moisture infiltration during freeze-thaw cycles leads to base course saturation and catastrophic pothole failure.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Delayed maintenance escalates lifecycle repair costs by 400% to 500% within a 2-3 year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Inspection Bottlenecks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Manual windshield surveys and visual tape measurements are hazardous, slow, and highly subjective.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Heavy LiDAR profilometer survey vans cost over $500,000, limiting municipal audit frequency.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Legacy edge-detection filters fail under variable shadow, aggregate texture, and nighttime illumination.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Disconnected inspection logs lack cryptographic chain of custody for federal grant auditing.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SOTA AI Solution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Continuous 50 Hz optical survey scanning using edge-deployable ResUNet deep neural networks.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Real-time ASTM D6433 PCI deduction scoring and distress density calculations.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work order dispatching with estimated contractor patching budgets.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Cryptographic SHA-256 block hash chaining guaranteeing tamper-evident inspection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Multi-Stage Deep Learning &amp; Infrastructure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1. Optical Telemetry Sensing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High-speed survey vehicle cameras capture 4K pavement patches at calibrated spatial resolutions.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Spatial calibration establishes 0.5 mm/pixel resolution across the transverse roadway lane.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Multi-band contrast enhancement mitigates asphalt aggregate noise and dynamic tree shadows.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Extracts 64x64 sub-patches and 5-dimensional kinematic and roughness telemetry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Neural ResUNet Segmentation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ResUNet encoder-decoder architecture with residual skip connections preserves fine crack tips.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Global severity classification head predicts Low, Medium, High structural distress levels.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Morphological post-processing extracts mean crack width (mm), total length (cm), and surface density.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Dual-head PCI Regressor outputs continuous condition index (0-100) and structural failure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Work Orders &amp; Ledger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Maps distress metrics to ASTM D6433 maintenance directives and budget estimations.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Dispatches automated work orders (WO-2026-XXX) with priority tiers (URGENT / SCHEDULED).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Persists incidents into SQLite Write-Ahead Logging (WAL) database with zero locking.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Appends immutable SHA-256 block hash to cryptographic chain of custody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6,000-Record Empirical Pavement Telemetry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Dataset Structure &amp; Stratification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6,000 structured telemetry records saved to pavement_crack_telemetry_6000.csv.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Exactly 1,000 records per crack distress category ensuring zero training bias.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Captures 6 standardized ASTM distress types: Alligator, Longitudinal, Transverse, Block, Edge, Pothole.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Surveys 6 representative roadway corridors: Interstate 80, State Route 17, Broadway, PCH, El Camino.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Simulates varying pavement materials: Asphalt Concrete, Portland Cement Concrete, Composite Bituminous.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Key Physical Distress Features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crack_type_idx: Discrete distress index (0 to 5) mapping specific failure mechanisms.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mean_width_mm: Calibrated crack aperture width (0.5 mm to 35.0 mm).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total_length_cm: Total crack propagation length per survey patch (15 cm to 450 cm).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density_percentage: Ratio of distressed surface area to total survey frame (2.5% to 60.0%).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roughness_iri: International Roughness Index (IRI: 1.8 to 8.5 m/km).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pci_score: Ground-truth ASTM D6433 Pavement Condition Index (5.0 to 98.0).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structural_failure_risk: Continuous structural breakdown probability (0.05 to 0.99).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PyTorch ResUNet Semantic Segmentation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Architecture &amp; Skip Connections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Encoder: Input 3-channel patch -&gt; DoubleConv(3, 16) -&gt; MaxPool -&gt; DoubleConv(16, 32) -&gt; MaxPool -&gt; DoubleConv(32, 64).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Decoder: TransposeConv2d upsamplers with residual concatenation ([u1, x2], [u2, x1]).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Output Conv: 1x1 convolution yielding raw logit mask for pixel-wise crack probability.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Severity Classification Head: AdaptiveAvgPool2d((1,1)) -&gt; Flatten() -&gt; Linear(64, 32) -&gt; Linear(32, 3).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Serialized model footprint: 496 KB stored in phase2_model.pt.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Empirical Validation Metrics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Intersection over Union (mIoU): 0.884 (+44.4% improvement over 0.612 baseline).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Dice Similarity Coefficient: 0.912 (+33.3% improvement over 0.684 baseline).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 Deduction Mean Absolute Error: Reduced from 14.2 points to 4.1 points (71.1% error reduction).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Inference Latency: 18.2 milliseconds per patch on standard edge compute.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Robust to asphalt aggregate texture variations and partial shade occlusion.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PyTorch Dual-Head PCI &amp; Stress Regressor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Multi-Target Regression Pipeline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Shared Backbone: Linear(5, 64) -&gt; LayerNorm -&gt; GELU -&gt; Linear(64, 48) -&gt; LayerNorm -&gt; GELU -&gt; Dropout(0.10).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1 (PCI Condition Index): Linear(48, 24) -&gt; GELU -&gt; Linear(24, 1) -&gt; Sigmoid() * 100.0.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2 (Structural Failure Risk): Linear(48, 24) -&gt; GELU -&gt; Linear(24, 1) -&gt; Sigmoid().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Joint Loss: Weighted MSE (0.01 * MSE_PCI + 10.0 * MSE_Risk) trained using AdamW (lr=0.003).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Serialized weights footprint: 30,759 bytes (30 KB) stored in pci_regressor_weights.pt.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Predictive Accuracy &amp; Convergence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 Score MAE: 1.92 points on a 100-point scale across 1,200 held-out test instances.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Structural Failure Risk MAE: 0.0175 probability error across diverse pavement types.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Calibrated against ASTM D6433 empirical deduct curves for standard pavement distresses.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training-serving skew guaranteed via standardized features in pavement_scalers.json.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Enables instant municipal pavement lifecycle cost analysis and budgeting.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Central Pavement Command HUD &amp; Port 5038 Dashboard</a:t>
            </a:r>
          </a:p>
        </p:txBody>
      </p:sp>
      <p:pic>
        <p:nvPicPr>
          <p:cNvPr id="4" name="Picture 3" descr="01_pavement_inspe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1: Full-screen command console on Port 5038 showing active distress telemetry, PCI ratings, and model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Dashboard Features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Dedicated Port 5038 microservice with real-time Segmenter Active health pill.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Distress Logs counter tracking audited roadway survey records across the network.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Network Mean PCI KPI displaying overall roadway quality (72.4 / 100: Satisfactory).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Crack Width display with sub-pixel 0.5 mm/pixel optical calibration.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Seamless corridor switcher tabs and interactive scenario injection buttons.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Real-Time Optical Telemetry &amp; Crack Mask Canvas</a:t>
            </a:r>
          </a:p>
        </p:txBody>
      </p:sp>
      <p:pic>
        <p:nvPicPr>
          <p:cNvPr id="4" name="Picture 3" descr="02_optical_scan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2: Animated canvas rendering asphalt pavement aggregate, laser radar scanlines, and crack segmentation masks.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Optical Canvas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Simulates realistic aggregate asphalt texture with randomized mineral distribution.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 high-contrast crimson crack segmentation overlays indicating distress geometry.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Animated amber laser radar scanline showing active 50 Hz optical survey pass.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Live chainage marker HUD overlay displaying current roadway kilometer coordinate.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Responsive canvas automatically adjusts to full viewport width across mobile and desktop.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Highway Corridor Geofencing &amp; Chainage Tracking</a:t>
            </a:r>
          </a:p>
        </p:txBody>
      </p:sp>
      <p:pic>
        <p:nvPicPr>
          <p:cNvPr id="4" name="Picture 3" descr="03_corridor_selection_hig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3: Selection of Interstate 80 Westbound with chainage marker 114.2 km and updated road audit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Multi-Corridor Management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State Route 17 (Mile 22): Mountain highway with heavy thermal cracking and slope stress.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Interstate 80 Westbound: High-volume freight expressway with fatigue alligator cracking.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Broadway Boulevard: Urban arterial with frequent utility trenching and joint failures.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Pacific Coast Highway: Coastal route exposed to marine salt spray and edge erosion.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Instant corridor re-indexing with precise chainage tracking and historical log filtering.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High-Severity Alligator Fatigue Cracking Assessment</a:t>
            </a:r>
          </a:p>
        </p:txBody>
      </p:sp>
      <p:pic>
        <p:nvPicPr>
          <p:cNvPr id="4" name="Picture 3" descr="04_alligator_fatigue_di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4: Injected alligator cracking scenario showing severe distress pattern, critical PCI rating, and mill-and-fill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Alligator Fatigue Analysis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Detects interconnected polygonal crack networks caused by repeated heavy axle loading.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crack width measured at 12.0 mm with elevated surface density exceeding 45%.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 condition score drops to 15.0 / 100 ('Serious / Failed' condition category).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Maintenance directive automatically assigned to 'FULL DEPTH MILL AND FILL RECONSTRUCTION'.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Generates urgent maintenance work order with estimated $4,500 contractor allocation.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Transverse Thermal Shrinkage Crack Detection</a:t>
            </a:r>
          </a:p>
        </p:txBody>
      </p:sp>
      <p:pic>
        <p:nvPicPr>
          <p:cNvPr id="4" name="Picture 3" descr="05_transverse_thermal_c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5: Transverse crack running perpendicular to traffic flow evaluated with medium severity and sealing directive.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Transverse Crack Dynamics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Evaluates thermal shrinkage cracks extending perpendicular to the roadway centerline.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crack width measured at 3.2 mm with moderate crack propagation length.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 condition score rated at 62.0 / 100 ('Fair / Satisfactory' pavement state).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Maintenance directive triggers 'PREVENTIVE CRACK SEALING OR SLURRY OVERLAY'.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Timely intervention prevents water ingress into base course, saving 80% in lifecycle costs.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Localized Pothole Emergency Distress &amp; Safety Interventions</a:t>
            </a:r>
          </a:p>
        </p:txBody>
      </p:sp>
      <p:pic>
        <p:nvPicPr>
          <p:cNvPr id="4" name="Picture 3" descr="06_pothole_emergency_di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6: Severe localized pothole depression with high vehicular hazard index and emergency priority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Pothole Emergency Response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Detects severe bowl-shaped localized depressions with bowl depth exceeding 30 mm.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 International Roughness Index (IRI &gt; 5.5) represents immediate vehicular tire hazard.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 score plunges to critical threshold with structural failure risk evaluated at 0.95+.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Instant dispatch of emergency maintenance crew with automated work order generation.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Coordinates with traffic warning advisories to alert approaching connected vehicles.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Dispatched Maintenance Work Orders &amp; Budget Allocation</a:t>
            </a:r>
          </a:p>
        </p:txBody>
      </p:sp>
      <p:pic>
        <p:nvPicPr>
          <p:cNvPr id="4" name="Picture 3" descr="07_dispatched_work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7: Dispatched work orders grid displaying unique IDs, chainage locations, treatment types, and estimated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Work Order Pipeline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Generates unique tracking identifiers (e.g. WO-2026-402) for municipal maintenance crews.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Calculates objective treatment cost estimates based on surface density and crack width.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Classifies priority tiers: URGENT (&lt;40 PCI), SCHEDULED (40-70 PCI), MONITOR (&gt;70 PCI).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Persists work orders into SQLite maintenance_work_orders table with DISPATCHED status.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Provides municipal civil engineering departments with actionable capital budgeting reports.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&amp; COMPUTER VISION • PROJECT-038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Cryptographic Audit Ledger &amp; AASHTO Chain of Custody</a:t>
            </a:r>
          </a:p>
        </p:txBody>
      </p:sp>
      <p:pic>
        <p:nvPicPr>
          <p:cNvPr id="4" name="Picture 3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080759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Figure 8: Cryptographic audit ledger table displaying SHA-256 block hash chaining for all roadway inspection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Forensic Evidentiary Guarantee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Every pavement inspection event and work order dispatch creates an immutable cryptographic block.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Calculates current block hash from event details, UTC timestamp, and previous block's SHA-256 hash.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Guarantees compliance with federal roadway infrastructure reporting standards (AASHTO R 85).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regression test test_12_crypto_hash_tamper_detection proves tamper resistance.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33 automated QA tests passing with 100% verification rate, completing Project 38.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