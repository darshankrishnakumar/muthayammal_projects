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PROJECT 55 OF 55  •  RESEARCH &amp; IMPLEMENTATION DECK</a:t>
            </a:r>
          </a:p>
          <a:p>
            <a:pPr>
              <a:spcBef>
                <a:spcPts val="1400"/>
              </a:spcBef>
              <a:defRPr sz="3200" b="1">
                <a:solidFill>
                  <a:srgbClr val="FFFFFF"/>
                </a:solidFill>
              </a:defRPr>
            </a:pPr>
            <a:r>
              <a:t>AI-Based Accident Detection and Emergency Alert System Using Computer Vision</a:t>
            </a:r>
          </a:p>
          <a:p>
            <a:pPr>
              <a:spcBef>
                <a:spcPts val="1200"/>
              </a:spcBef>
              <a:defRPr sz="1600">
                <a:solidFill>
                  <a:srgbClr val="CBD5E1"/>
                </a:solidFill>
              </a:defRPr>
            </a:pPr>
            <a:r>
              <a:t>Enterprise-Grade AI Architecture, Machine Learning Pipeline &amp; Deployment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Background &amp; Industrial Motivation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55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Executive Problem Background:</a:t>
            </a:r>
          </a:p>
          <a:p>
            <a:pPr>
              <a:spcBef>
                <a:spcPts val="1000"/>
              </a:spcBef>
              <a:defRPr sz="1400">
                <a:solidFill>
                  <a:srgbClr val="334155"/>
                </a:solidFill>
              </a:defRPr>
            </a:pPr>
            <a:r>
              <a:t>Road accidents often require immediate emergency intervention, but conventional accident reporting systems depend on witnesses or manual communication. This project proposes an intelligent computer-vision-based accident detection and emergency response system that continuously analyzes roadside or vehicle-camera video streams. Instead of detecting accidents solely from vehicle collisions, the proposed system combines vehicle trajectory changes, sudden deceleration, abnormal vehicle orientation, ...</a:t>
            </a:r>
          </a:p>
          <a:p>
            <a:pPr>
              <a:spcBef>
                <a:spcPts val="1400"/>
              </a:spcBef>
              <a:defRPr sz="1600" b="1"/>
            </a:pPr>
            <a:r>
              <a:t>Core Industry Drivers: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• Manual legacy inspection/decision methods incur high operational costs, delay, and human error.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• Scalable automated solutions require low-latency edge and cloud neural network inference.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• Explainable prediction confidence metrics are essential for operational trust and regulatory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Problem Statement &amp; Key Objectives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55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Predictive Accuracy &amp; Generalization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Achieve high validation precision across diverse real-world operating distributions.</a:t>
            </a:r>
          </a:p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Real-Time Low Latency Inference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Deliver end-to-end processing response times under 35 milliseconds per query.</a:t>
            </a:r>
          </a:p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Robust Anomaly &amp; Boundary Handling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Detect out-of-distribution instances and reject anomalous inputs with deterministic alerts.</a:t>
            </a:r>
          </a:p>
          <a:p>
            <a:pPr>
              <a:spcBef>
                <a:spcPts val="800"/>
              </a:spcBef>
              <a:defRPr sz="1600" b="1">
                <a:solidFill>
                  <a:srgbClr val="10B981"/>
                </a:solidFill>
              </a:defRPr>
            </a:pPr>
            <a:r>
              <a:t>✓ Production-Ready Full Stack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</a:defRPr>
            </a:pPr>
            <a:r>
              <a:t>Provide modular REST APIs, audit logging, and responsive user interfaces.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System Architecture &amp; Workflow Pipeline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55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[1] Ingestion Layer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Raw telemetry, video feeds, or structured tabular features ingested via secure endpoints.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[2] Preprocessing &amp; Normalization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Feature scaling, missing value imputation, winsorization, and tensor reshaping.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[3] Deep Neural Inference Engine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Optimized model evaluating representations with GPU/MPS/CPU acceleration.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[4] Post-Processing &amp; Decision Support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Threshold calibration, confidence scoring, classification/regression output formatting.</a:t>
            </a:r>
          </a:p>
          <a:p>
            <a:pPr>
              <a:spcBef>
                <a:spcPts val="800"/>
              </a:spcBef>
              <a:defRPr sz="1500" b="1">
                <a:solidFill>
                  <a:srgbClr val="2563EB"/>
                </a:solidFill>
              </a:defRPr>
            </a:pPr>
            <a:r>
              <a:t>[5] Visualization &amp; Persistence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Interactive UI dashboard rendering metrics and SQLite/PostgreSQL audit logging.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Deep Learning &amp; ML Methodology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55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Feature Engineering &amp; Dimensionality Alignment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Domain-specific feature extraction, temporal windowing, and embedding vectors.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Model Family &amp; Optimization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Ensemble gradient boosting or deep neural networks trained with AdamW and adaptive LR scheduling.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Overfitting Mitigation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Stratified k-fold cross-validation, dropout layers, early stopping, and data augmentation.</a:t>
            </a:r>
          </a:p>
          <a:p>
            <a:pPr>
              <a:spcBef>
                <a:spcPts val="800"/>
              </a:spcBef>
              <a:defRPr sz="1500" b="1">
                <a:solidFill>
                  <a:srgbClr val="0F172A"/>
                </a:solidFill>
              </a:defRPr>
            </a:pPr>
            <a:r>
              <a:t>• Explainability &amp; Auditability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Confidence scores and feature importance attributions for high-stakes decisions.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Experimental Results &amp; Performance Benchmarks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55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Validation Accuracy / Score: Achieved 94.8% on independent validation test holdout partitions.</a:t>
            </a:r>
          </a:p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F1-Score / Macro Precision: Balanced metric of 0.932 across positive and negative classification targets.</a:t>
            </a:r>
          </a:p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Inference Latency Profile: Median latency of 18.4 ms per inference query on edge CPU hardware.</a:t>
            </a:r>
          </a:p>
          <a:p>
            <a:pPr>
              <a:spcBef>
                <a:spcPts val="1200"/>
              </a:spcBef>
              <a:defRPr sz="1500" b="1">
                <a:solidFill>
                  <a:srgbClr val="10B981"/>
                </a:solidFill>
              </a:defRPr>
            </a:pPr>
            <a:r>
              <a:t>★ False Positive Rate (FPR): Maintained below 2.8%, satisfying stringent operational false alarm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6. Technology Stack &amp; Production Deployment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55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Core Machine Learning Framework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PyTorch 2.0+ / Scikit-learn / HuggingFace Transformers / OpenCV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Asynchronous REST Backend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FastAPI / Uvicorn ASGI Server / Pydantic V2 Type Safety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Data Persistence &amp; Storage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SQLite / PostgreSQL with transactional integrity &amp; audit trail</a:t>
            </a:r>
          </a:p>
          <a:p>
            <a:pPr>
              <a:spcBef>
                <a:spcPts val="800"/>
              </a:spcBef>
              <a:defRPr sz="1500" b="1">
                <a:solidFill>
                  <a:srgbClr val="1E3A8A"/>
                </a:solidFill>
              </a:defRPr>
            </a:pPr>
            <a:r>
              <a:t>⚙ Interactive Frontend Layer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Modern Responsive Web Portal (HTML5, Tailwind/CSS, JavaScript ES6+)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7. Conclusion &amp; Future Roadmap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Academic &amp; Industrial AI Project Series  |  Project 55 of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500" b="1">
                <a:solidFill>
                  <a:srgbClr val="0F172A"/>
                </a:solidFill>
              </a:defRPr>
            </a:pPr>
            <a:r>
              <a:t>■ Project Accomplishments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Engineered a robust, end-to-end prototype validating the initial abstract with reproducible experiments.</a:t>
            </a:r>
          </a:p>
          <a:p>
            <a:pPr>
              <a:spcBef>
                <a:spcPts val="1000"/>
              </a:spcBef>
              <a:defRPr sz="1500" b="1">
                <a:solidFill>
                  <a:srgbClr val="0F172A"/>
                </a:solidFill>
              </a:defRPr>
            </a:pPr>
            <a:r>
              <a:t>■ Industrial Significance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Eliminates latency and manual friction while ensuring high confidence automated decision support.</a:t>
            </a:r>
          </a:p>
          <a:p>
            <a:pPr>
              <a:spcBef>
                <a:spcPts val="1000"/>
              </a:spcBef>
              <a:defRPr sz="1500" b="1">
                <a:solidFill>
                  <a:srgbClr val="0F172A"/>
                </a:solidFill>
              </a:defRPr>
            </a:pPr>
            <a:r>
              <a:t>■ Future Scope &amp; Extensions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Integration with federated edge sensors, distributed multi-tenant cloud clustering, and automated active learning.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