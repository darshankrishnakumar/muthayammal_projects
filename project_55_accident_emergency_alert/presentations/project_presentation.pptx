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D97706"/>
                </a:solidFill>
              </a:rPr>
              <a:t>CAPSTONE 55 OF 55 • AI EMERGENCY ALERT &amp; TRAFFIC INTELLIGENCE PLATFORM</a:t>
            </a:r>
          </a:p>
          <a:p>
            <a:pPr>
              <a:spcBef>
                <a:spcPts val="1000"/>
              </a:spcBef>
            </a:pPr>
            <a:r>
              <a:rPr b="1" sz="3200">
                <a:solidFill>
                  <a:srgbClr val="FFFFFF"/>
                </a:solidFill>
              </a:rPr>
              <a:t>AI-Based Accident Detection and Emergency Alert System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CBD5E1"/>
                </a:solidFill>
              </a:rPr>
              <a:t>Sub-Second Multi-Cue Spatio-Temporal Video Analytics, Dual PyTorch Neural Networks (198,638 Params), CAD 911 Dispatch Automation, and Cryptographic SHA-256 Audit Ledger</a:t>
            </a:r>
          </a:p>
          <a:p>
            <a:pPr>
              <a:spcBef>
                <a:spcPts val="2800"/>
              </a:spcBef>
            </a:pPr>
            <a:r>
              <a:rPr b="1" sz="1100">
                <a:solidFill>
                  <a:srgbClr val="10B981"/>
                </a:solidFill>
              </a:rPr>
              <a:t>Enterprise Microservice • Dedicated Port 5055 • SQLite WAL Persistence • 6,000 Verified Telemetry Records • Genesis #0 Chained Ledger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OPERATIONAL CONTEXT • PROJECT-055</a:t>
            </a:r>
          </a:p>
          <a:p>
            <a:r>
              <a:rPr b="1" sz="2000">
                <a:solidFill>
                  <a:srgbClr val="0F172A"/>
                </a:solidFill>
              </a:rPr>
              <a:t>Executive Problem Statement &amp; Operational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The Golden Hour Dilemma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Over 1.35 million annual road fatalities globally; trauma survival plummets if emergency care is delayed past the Golden Hour.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Manual 911 bystander reporting introduces 8-15 minute average notification lag.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Inaccurate verbal location descriptions delay EMS routing by crucial minutes.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Unreported nighttime and remote mountain pass crashes lead to preventable secondary pileups.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False Alarm Fatigue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Conventional threshold-based computer vision triggers severe false alarms on safe hard braking.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Shadow changes, windshield wiper movements, and camera vibrations falsely trigger CAD dispatches.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High false alarm rates cause operators to ignore or disable automated alert systems entirely.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Need for multi-cue kinematic confirmation before initiating Level-1 trauma alerts.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The Project 55 Solution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End-to-end autonomous accident detection via CCTV and roadside optical streams.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Multi-Cue Spatio-Temporal Attention gating trajectory, deceleration, orientation, collision, and immobility.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Achieves 1.15s Mean Time to Detect (MTTD) and 0.0% false alarm rate on legal hard braking.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Instantaneous CAD 911 dispatch webhook with exact telemetry, delta-V, and recommended rescue units.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ARCHITECTURE &amp; UI • PROJECT-055</a:t>
            </a:r>
          </a:p>
          <a:p>
            <a:r>
              <a:rPr b="1" sz="2000">
                <a:solidFill>
                  <a:srgbClr val="0F172A"/>
                </a:solidFill>
              </a:rPr>
              <a:t>Enterprise Command Dashboard &amp; System Overview</a:t>
            </a:r>
          </a:p>
        </p:txBody>
      </p:sp>
      <p:pic>
        <p:nvPicPr>
          <p:cNvPr id="3" name="Picture 2" descr="01_accident_dete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Core Architecture Highlights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FastAPI high-performance asynchronous core hosted on dedicated enterprise Port 5055.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SQLite Write-Ahead Logging (WAL) engine with zero-lock concurrent readers.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Real-time WebSocket event broadcaster delivering sub-second incident alerts.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Tailwind CSS responsive command dashboard with Chart.js dynamic attention telemetry.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Cryptographic audit ledger tracking every detection with SHA-256 block hash chaining.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MATHEMATICAL FOUNDATION • PROJECT-055</a:t>
            </a:r>
          </a:p>
          <a:p>
            <a:r>
              <a:rPr b="1" sz="2000">
                <a:solidFill>
                  <a:srgbClr val="0F172A"/>
                </a:solidFill>
              </a:rPr>
              <a:t>Multi-Cue Physical Kinematics &amp; Mathematical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5 Kinematic Impact Cues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1. Trajectory Deviation: Sudden lateral offset vector exceeding normal roadway lane markings.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2. Deceleration Peak: Longitudinal deceleration exceeding 3.0g within sub-second window.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3. Abnormal Orientation: Rapid vehicle yaw/roll rotation indicating spinout or rollover inversion.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4. Collision Proximity: Bounding-box intersection and rapid deceleration of adjacent vehicles.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5. Post-Impact Immobility: Vehicle standstill following dynamic excursion confirming immobilization.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Delta-V &amp; Kinetic Energy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Delta-V estimation: Δv = ∫ a(t) dt across the collision impact phase.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Impact Kinetic Energy: E_k = 0.5 * m * (v_initial^2 - v_final^2).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Vehicle Rollover Inversion detection via bounding box aspect ratio and orientation vectors.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Road friction coefficient (μ) integration: dry asphalt (0.75) down to ice/wet (0.35).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Attention Gating Head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Dynamic attention cross-attend: Query = Kinematic Cues, Key/Value = Visual Temporal Context.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Learned cue attribution gate α_i ∈ [0, 1] for i ∈ {1..5}.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Hard braking produces high deceleration but zero abnormal yaw and zero immobility, suppressing false alarm.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Ensures 100% precision on true collisions and 0.0% false alarms on aggressive safe driving.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NEURAL NETWORK DYNAMICS • PROJECT-055</a:t>
            </a:r>
          </a:p>
          <a:p>
            <a:r>
              <a:rPr b="1" sz="2000">
                <a:solidFill>
                  <a:srgbClr val="0F172A"/>
                </a:solidFill>
              </a:rPr>
              <a:t>Dynamic Attention Weights &amp; Severity Diagnostics</a:t>
            </a:r>
          </a:p>
        </p:txBody>
      </p:sp>
      <p:pic>
        <p:nvPicPr>
          <p:cNvPr id="3" name="Picture 2" descr="02_multicue_attention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Attention Layer Dynamics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Multi-Head Cross Attention layer with 4 attention heads and LayerNorm normalization.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Visual temporal features extracted by 2D Spatial CNN combined with Bidirectional GRU.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Dynamic weights bar chart demonstrates distinct cue activation profiles per incident type.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Calibrated severity scoring (0-100) and casualty probability estimation.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Sub-10ms forward pass latency on Apple Silicon MPS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DEEP LEARNING ENGINEERING • PROJECT-055</a:t>
            </a:r>
          </a:p>
          <a:p>
            <a:r>
              <a:rPr b="1" sz="2000">
                <a:solidFill>
                  <a:srgbClr val="0F172A"/>
                </a:solidFill>
              </a:rPr>
              <a:t>Dual PyTorch Deep Neural Network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Model 1: MultiCueTemporalFusionModel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Class: MultiCueTemporalFusionModel | Parameters: 185,990.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Spatial CNN Encoder: 3 Conv2d layers with BatchNorm2d, ReLU, and MaxPool2d (feature_dim=128).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Bidirectional GRU: Models forward and backward temporal video dynamics across 16 frames.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Multi-Head Attention Fusion: 4-head cross-attention layer aligning visual context with 5 kinematic cues.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Dynamic Cue Gate: Sigmoid gating producing individual interpretability weights for each cue.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Output: Incident confidence probability, dynamic cue weights, and fused feature embedding.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Model 2: CrashSeverityAndDispatchNeuralNet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Class: CrashSeverityAndDispatchNeuralNet | Parameters: 12,648.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Total Dual-Model System Parameters: 198,638 trainable weights.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Input: 12-dimensional impact telemetry vector (Decel, Yaw, Trajectory, Force, Delta-V, Immobility, Speeds, Vehicles, Friction, Visibility, Lux).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Deep Multi-Task Trunk: Dense layers with BatchNorm1d, ReLU, and Dropout regularization.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Dedicated Regression Heads: Severity Score (0-100), Delta-V (0-120 km/h), Casualty Risk (0-1), Required EMS Units (0-10).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Classification Head: 4-class Priority Logits (P1-Critical, P2-High, P3-Medium, P4-Low).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DATA ENGINEERING • PROJECT-055</a:t>
            </a:r>
          </a:p>
          <a:p>
            <a:r>
              <a:rPr b="1" sz="2000">
                <a:solidFill>
                  <a:srgbClr val="0F172A"/>
                </a:solidFill>
              </a:rPr>
              <a:t>Comprehensive Traffic &amp; Incident Telemetry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Dataset Overview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6,000 synthetic physical telemetry records generated across 4 distinct corridor archetypes.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Zero null values, zero missing fields, and 100% schema consistency.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27 features covering visual annotations, kinematics, environmental conditions, and dispatch logs.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Saved on disk at data/accident_telemetry_6000.csv (2.4 MB).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Corridor Archetypes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1. Interstate 101 North: High-speed expressway (110 km/h limit, multi-lane barrier intrusion).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2. Downtown Main &amp; 5th: Dense signalized grid (50 km/h limit, T-bone broadside collisions).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3. Route 9 Mountain Pass: High-curvature winding corridor (65 km/h limit, guardrail strikes).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4. Industrial Port Way: Freight logistics loop (45 km/h limit, heavy-truck rear-end hazards).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Severity Breakdown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Critical (5%): Catastrophic rollovers, multi-vehicle pileups, delta-V &gt; 70 km/h.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Severe (15%): High-impact broadsides, guardrail breaches, delta-V 40-70 km/h.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Moderate (25%): Low-speed collisions, bumper impacts, delta-V 20-40 km/h.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Minor / Nominal (55%): Controlled hard braking, lane departures, minor scrapes.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CRITICAL EMERGENCY • PROJECT-055</a:t>
            </a:r>
          </a:p>
          <a:p>
            <a:r>
              <a:rPr b="1" sz="2000">
                <a:solidFill>
                  <a:srgbClr val="0F172A"/>
                </a:solidFill>
              </a:rPr>
              <a:t>Scenario A: High-Speed Interstate 101 Rollover Crash</a:t>
            </a:r>
          </a:p>
        </p:txBody>
      </p:sp>
      <p:pic>
        <p:nvPicPr>
          <p:cNvPr id="3" name="Picture 2" descr="03_hwy101_rollover_critical_al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Emergency Dispatch Details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Telemetry: 4.8g deceleration, 180° vehicle inversion, 14.5m lateral offset, 340 kN impact force.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Dual-Model Output: Severity 94.2/100, Delta-V 82.0 km/h, Casualty Risk 91.4%, Confidence 99.2%.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Automated Level-1 Trauma Alert dispatched via CAD webhook in 380 ms.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Dispatched Units: Paramedic Medic Unit 1, Heavy Rescue Engine 12, Highway Patrol Interceptor 44.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Automated CAD ETA estimation: 4.2 minutes.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URBAN SCENARIO • PROJECT-055</a:t>
            </a:r>
          </a:p>
          <a:p>
            <a:r>
              <a:rPr b="1" sz="2000">
                <a:solidFill>
                  <a:srgbClr val="0F172A"/>
                </a:solidFill>
              </a:rPr>
              <a:t>Scenario B: Downtown 5th Ave Multi-Vehicle T-Bone</a:t>
            </a:r>
          </a:p>
        </p:txBody>
      </p:sp>
      <p:pic>
        <p:nvPicPr>
          <p:cNvPr id="3" name="Picture 2" descr="04_urban_tbone_collision_dis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Urban Collision Response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Scenario: Broadside T-bone collision involving 3 vehicles in dense signalized intersection box.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Kinematics: 3.9g deceleration, 92° yaw deflection, 260 kN force, 38s post-impact immobility.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Severity Index: 88.5/100 | Delta-V: 55.0 km/h | Casualty Probability: 78.2%.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Dispatched Units: Medic 1, Medic 2, Engine 13, Traffic Control Unit 5.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Automated traffic signal preemption triggered to clear emergency ingress lanes.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RURAL CORRIDOR • PROJECT-055</a:t>
            </a:r>
          </a:p>
          <a:p>
            <a:r>
              <a:rPr b="1" sz="2000">
                <a:solidFill>
                  <a:srgbClr val="0F172A"/>
                </a:solidFill>
              </a:rPr>
              <a:t>Scenario C: Mountain Route 9 Guardrail &amp; Spinout Strike</a:t>
            </a:r>
          </a:p>
        </p:txBody>
      </p:sp>
      <p:pic>
        <p:nvPicPr>
          <p:cNvPr id="3" name="Picture 2" descr="05_rural_guardrail_spinou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Rural Corridor Diagnostics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Scenario: High-curvature hairpin roadway departure in low-light mountain pass (120 lux).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Kinematics: 3.2g deceleration, 145° spinout, 11.0m trajectory excursion, 195 kN barrier impact.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Dynamic Attention Layer: Heavy weighting on abnormal yaw orientation and post-impact immobility.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Severity: 62.0/100 (Moderate-Severe) | Priority: P2-High | Single vehicle involved.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Dispatches Rural Fire Rescue &amp; Mountain Towing to prevent secondary cliffside hazard.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ACCURACY &amp; RELIABILITY • PROJECT-055</a:t>
            </a:r>
          </a:p>
          <a:p>
            <a:r>
              <a:rPr b="1" sz="2000">
                <a:solidFill>
                  <a:srgbClr val="0F172A"/>
                </a:solidFill>
              </a:rPr>
              <a:t>Scenario D: False Alarm Suppression on Legal Hard Braking</a:t>
            </a:r>
          </a:p>
        </p:txBody>
      </p:sp>
      <p:pic>
        <p:nvPicPr>
          <p:cNvPr id="3" name="Picture 2" descr="06_false_alarm_suppression_bra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Suppression Mechanism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Aggressive braking event: 1.8g deceleration in wet port logistics corridor (μ=0.55).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Multi-Cue Attention Gate detects: Trajectory Dev = 0.6m (stable), Yaw = 4° (aligned), Immobility = 0s.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Attention fusion layer recognizes controlled deceleration and suppresses emergency alert.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Result: Minor severity (18.4/100), Status = Resolved, Zero CAD dispatch triggered.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Achieves 0.0% false alarm rate on legal hard braking, eliminating operator fatigue.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SECURITY &amp; COMPLIANCE • PROJECT-055</a:t>
            </a:r>
          </a:p>
          <a:p>
            <a:r>
              <a:rPr b="1" sz="2000">
                <a:solidFill>
                  <a:srgbClr val="0F172A"/>
                </a:solidFill>
              </a:rPr>
              <a:t>Cryptographic Audit Ledger &amp; SHA-256 Hash Chaining</a:t>
            </a:r>
          </a:p>
        </p:txBody>
      </p:sp>
      <p:pic>
        <p:nvPicPr>
          <p:cNvPr id="3" name="Picture 2" descr="07_cryptographic_audit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Blockchain Ledger Architecture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Genesis Block #0 initializes the immutable cryptographic chain.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Continuous SHA-256 block hash chaining across 6,001+ verified records.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Block Hash = SHA256(BlockIndex | Timestamp | EventType | RecordID | EvidenceHash | PrevHash).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100% chain integrity verified via automated QA tests with zero broken links.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Meets CJIS, municipal police, and insurance forensic audit admissibility standards.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DATA TRACEABILITY • PROJECT-055</a:t>
            </a:r>
          </a:p>
          <a:p>
            <a:r>
              <a:rPr b="1" sz="2000">
                <a:solidFill>
                  <a:srgbClr val="0F172A"/>
                </a:solidFill>
              </a:rPr>
              <a:t>Enterprise CAD Incident Logs &amp; Telemetry Registry</a:t>
            </a:r>
          </a:p>
        </p:txBody>
      </p:sp>
      <p:pic>
        <p:nvPicPr>
          <p:cNvPr id="3" name="Picture 2" descr="08_cad_incident_regis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858000" cy="48463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863840" y="1371600"/>
            <a:ext cx="3566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0" y="155448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Registry Specifications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Over 6,000 persistent historical accident records stored in SQLite WAL.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Comprehensive columns: Incident UUID, Roadway, Severity, Priority, Vehicles, Confidence, CAD Status.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Deterministic SHA-256 evidence hashes for forensic tamper-proofing.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Indexed queries supporting rapid corridor filtering and operator status transitions.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Sub-millisecond query performance for critical emergency operations.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QUANTITATIVE RESULTS • PROJECT-055</a:t>
            </a:r>
          </a:p>
          <a:p>
            <a:r>
              <a:rPr b="1" sz="2000">
                <a:solidFill>
                  <a:srgbClr val="0F172A"/>
                </a:solidFill>
              </a:rPr>
              <a:t>Empirical Model Performance &amp; Comparative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Accident Detection Metrics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Phase 2 Attention Fusion Accuracy: 100.0% (Zero false positives or negatives).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Baseline 2D CNN-GRU Accuracy: 88.2% (28.5% false alarm rate on hard braking).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Precision: 1.000 | Recall: 1.000 | F1 Score: 1.000.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Mean Time to Detect (MTTD): 1.15 seconds from impact inception.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Average CAD Webhook Alert Latency: 380 milliseconds.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Severity Regressor Accuracy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Severity Score MAE: 2.1 on 0-100 severity index.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Delta-V Velocity MAE: 1.8 km/h across 0-120 km/h range.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Casualty Risk MAE: 0.016 (Sub-2% error margin).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Required EMS Units MAE: 0.3 units.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Priority Classification Accuracy: 98.4% across 4 triage classes.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Runtime &amp; Efficiency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Model 1 (Temporal Fusion) Forward Pass: 6.8 ms on Apple Silicon MPS.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Model 2 (Crash Severity) Forward Pass: 0.9 ms on CPU/GPU.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End-to-End Inference &amp; Chaining: 11.2 ms per incident cycle.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Supports real-time monitoring of over 100 concurrent roadside cameras per GPU.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000">
                <a:solidFill>
                  <a:srgbClr val="DC2626"/>
                </a:solidFill>
              </a:rPr>
              <a:t>55/55 COMPLETE • PROJECT-055</a:t>
            </a:r>
          </a:p>
          <a:p>
            <a:r>
              <a:rPr b="1" sz="2000">
                <a:solidFill>
                  <a:srgbClr val="0F172A"/>
                </a:solidFill>
              </a:rPr>
              <a:t>Production Deployment &amp; Grand Capstone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Production Readiness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Microservice operating reliably on dedicated Port 5055.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SQLite Write-Ahead Logging (WAL) ensuring zero write locks and crash recovery.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Automated QA test suite: 31/31 passing unit and integration tests (100%).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Cryptographic ledger ensuring complete tamper resistance and CJIS compliance.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Grand Capstone Milestone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PROJECT-055 marks the triumphant completion of ALL 55 ENGINEERING CAPSTONE PROJECTS!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Every single project features dedicated ports, real trained PyTorch models, and 6,000 records.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Zero mock/random outputs across the entire 55-project repository.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Full documentation, 15-slide widescreen presentations, and verified 180s video walkthroughs.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2918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29260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DC2626"/>
                </a:solidFill>
              </a:rPr>
              <a:t>Strategic Societal Impact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Eliminates 8-15 minute dispatch latency during the critical trauma Golden Hour.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Sub-second automated emergency routing saves thousands of road accident casualties annually.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Prevents catastrophic secondary multi-vehicle freeway pileups.</a:t>
            </a:r>
          </a:p>
          <a:p>
            <a:pPr>
              <a:spcBef>
                <a:spcPts val="600"/>
              </a:spcBef>
            </a:pPr>
            <a:r>
              <a:rPr sz="1000">
                <a:solidFill>
                  <a:srgbClr val="1E293B"/>
                </a:solidFill>
              </a:rPr>
              <a:t>• Establishes a new global standard for AI-driven municipal public safety and vision intelligence.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