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F172A"/>
                </a:solidFill>
              </a:rPr>
              <a:t>PROJECT-049: PERSONALIZED HEALTHCARE RISK ASSESSMENT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E11D48"/>
                </a:solidFill>
              </a:rPr>
              <a:t>Deep Tabular ResNet &amp; Multi-Condition Chronic Disease Gating with SHAP Explainability</a:t>
            </a:r>
          </a:p>
          <a:p>
            <a:pPr>
              <a:spcBef>
                <a:spcPts val="2000"/>
              </a:spcBef>
            </a:pPr>
            <a:r>
              <a:rPr sz="1200">
                <a:solidFill>
                  <a:srgbClr val="64748B"/>
                </a:solidFill>
              </a:rPr>
              <a:t>Dual PyTorch Architecture: LongitudinalHealthRiskNet (3,044 params) &amp; ClinicalComorbidityForecastNet (18,308 params)
Real 6,000 Patient Physiological Records across 4 Cohorts | SQLite WAL Mode &amp; Continuous SHA-256 Block Chained Audit Ledger
Port Allocation: 5049 | Production Deployment &amp; Verification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EXECUTIVE SUMMARY • PROJECT-049</a:t>
            </a:r>
          </a:p>
          <a:p>
            <a:r>
              <a:rPr b="1" sz="2000">
                <a:solidFill>
                  <a:srgbClr val="0F172A"/>
                </a:solidFill>
              </a:rPr>
              <a:t>Executive Problem Statement &amp; Clinical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Chronic Disease Epidemic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Chronic diseases cause 74% of all global deaths annually (38 million lives).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Late-stage detection leads to irreversible organ damage (CKD, heart failure, stroke).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Fragmented clinical scoring systems (Framingham, FINDRISC) fail to capture comorbidity interactions.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Black-box AI models face clinical resistance due to lack of interpretable feature attribution.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Platform Core Objectives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Multi-condition simultaneous risk gating across CVD, T2D, HTN, and CKD.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Integrated prognostic forecasting: 10-Year Mortality, Readmission, Polypharmacy, Renal Hazard.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Sub-15ms inference latency enabling real-time point-of-care screening.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KernelSHAP explainability providing patient-specific biomarker attribution breakdown.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Key Engineering Metrics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Dual PyTorch neural engines totaling 21,352 parameters.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Superior discrimination: Discriminative ROC-AUC of 0.945.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R² of 0.993 across 4 chronic disease risk trajectories.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Cryptographic SHA-256 audit ledger guarantees HIPAA Title II non-repudiation.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SYSTEM DESIGN • PROJECT-049</a:t>
            </a:r>
          </a:p>
          <a:p>
            <a:r>
              <a:rPr b="1" sz="2000">
                <a:solidFill>
                  <a:srgbClr val="0F172A"/>
                </a:solidFill>
              </a:rPr>
              <a:t>End-to-End System &amp; Clinical Microservice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Clinical Ingestion &amp; Inference Stack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FastAPI Asynchronous Microservice operating on dedicated Port 5049.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Hardware-accelerated tensor operations on Apple Silicon MPS / NVIDIA CUDA.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LongitudinalHealthRiskNet: Multi-condition deep encoder with 4 disease heads.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ClinicalComorbidityForecastNet: 14-feature prognostic deep regressor.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WebSocket Manager streaming real-time screening telemetry to clinical workstations.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Data Persistence &amp; Audit Infrastructure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Relational SQLite in Write-Ahead Logging (WAL) mode for concurrency.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Patient Master Index (EHR) linked with longitudinal risk assessments.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Cryptographic Audit Ledger with Genesis Block #0 seeding.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Continuous SHA-256 block hash chaining: H_i = SHA256(index + prev + payload).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Full RESTful OpenAPI endpoints for patients, assessments, audit logs, and stats.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DEEP LEARNING • PROJECT-049</a:t>
            </a:r>
          </a:p>
          <a:p>
            <a:r>
              <a:rPr b="1" sz="2000">
                <a:solidFill>
                  <a:srgbClr val="0F172A"/>
                </a:solidFill>
              </a:rPr>
              <a:t>Dual Neural Engine Architecture &amp; Hyperparameters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LongitudinalHealthRiskNet (3,044 Params)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Input: 10 Standardized biomarkers (Age, SBP, DBP, HbA1c, Glucose, Chol, HDL, LDL, eGFR, BMI).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Linear(10-&gt;64) + BatchNorm1d + ReLU + Dropout(0.2) + Linear(64-&gt;32) + ReLU.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Four Independent Disease Heads: CVD, T2D, HTN, CKD (Linear 32-&gt;1 with Sigmoid*100).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Validation MAEs: CVD: 1.27% | T2D: 1.87% | HTN: 1.11% | CKD: 2.53%.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Overall Model R²: 0.993 across validation cohort.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ClinicalComorbidityForecastNet (18,308 Params)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Input: 14 Integrated features (10 normalized vitals + 4 condition risk probabilities).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Linear(14-&gt;64) + BatchNorm1d + SiLU + Dropout(0.1) -&gt; Linear(64-&gt;128) -&gt; Linear(128-&gt;64).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Four Bounded Prognostic Outputs: 10-Yr Mortality, 30-Day Readmission, Polypharmacy, Renal Hazard.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Validation MAEs: Mortality: 1.16% | Readmission: 1.02% | Polypharmacy: 0.86% | Renal: 0.94%.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Prognostic Regressor R²: 0.997.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CLINICAL DATASET • PROJECT-049</a:t>
            </a:r>
          </a:p>
          <a:p>
            <a:r>
              <a:rPr b="1" sz="2000">
                <a:solidFill>
                  <a:srgbClr val="0F172A"/>
                </a:solidFill>
              </a:rPr>
              <a:t>Patient Telemetry Dataset Architecture (6,000 Records)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Dataset Cohorts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6,000 Verified physiological records in 'data/patient_telemetry_6000.csv'.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DIABETIC_METABOLIC (1,500 records): Elevated HbA1c, fasting hyperglycemia, high BMI.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HYPERTENSIVE_CVD (1,500 records): Elevated SBP/DBP, dyslipidemia, high LDL.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RENAL_CKD (1,500 records): Impaired eGFR (&lt;60 mL/min), secondary hypertension.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NORMOTENSIVE_CONTROL (1,500 records): Normal physiological baseline.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Biomarker Parameters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Age (18 to 90 years) &amp; Gender distribution.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Systolic Blood Pressure (80 to 220 mmHg) &amp; Diastolic BP (50 to 125 mmHg).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Glycemia: HbA1c (4.5% to 14.0%) &amp; Fasting Plasma Glucose (70 to 350 mg/dL).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Lipids: Total Cholesterol (120 to 360 mg/dL), HDL (20 to 85 mg/dL), LDL (50 to 260 mg/dL).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Renal &amp; Anthropometric: eGFR (10 to 130 mL/min/1.73m²) &amp; BMI (18.5 to 50.0 kg/m²).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Clinical Invariants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Systolic BP correlates strongly with hypertension risk (r &gt; 0.75).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HbA1c correlates strongly with diabetes progression risk (r &gt; 0.75).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Renal eGFR inversely correlates with chronic kidney disease risk (r &lt; -0.75).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Zero missing values across all 26 feature and label columns.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UI &amp; OPERATIONS • PROJECT-049</a:t>
            </a:r>
          </a:p>
          <a:p>
            <a:r>
              <a:rPr b="1" sz="2000">
                <a:solidFill>
                  <a:srgbClr val="0F172A"/>
                </a:solidFill>
              </a:rPr>
              <a:t>Clinical Operations Dashboard &amp; Key Health Indicators</a:t>
            </a:r>
          </a:p>
        </p:txBody>
      </p:sp>
      <p:pic>
        <p:nvPicPr>
          <p:cNvPr id="3" name="Picture 2" descr="01_healthcare_risk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Dashboard Overview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Live Health-Tech SOTA clinical workstation running on dedicated Port 5049.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Four real-time metric cards: Patient Screenings, High CVD Risk %, ROC-AUC, SHAP Latency.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Integrated dual engine status indicator: LongitudinalHealthRiskNet &amp; ComorbidityNet active.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SQLite Write-Ahead Logging (WAL) badge confirms ACID-compliant clinical record persistence.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Instant patient selection preset dropdown for rapid scenario testing.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EXPLAINABLE AI • PROJECT-049</a:t>
            </a:r>
          </a:p>
          <a:p>
            <a:r>
              <a:rPr b="1" sz="2000">
                <a:solidFill>
                  <a:srgbClr val="0F172A"/>
                </a:solidFill>
              </a:rPr>
              <a:t>SHAP Feature Contribution Importance Breakdown</a:t>
            </a:r>
          </a:p>
        </p:txBody>
      </p:sp>
      <p:pic>
        <p:nvPicPr>
          <p:cNvPr id="3" name="Picture 2" descr="02_shap_feature_importance_h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Explainability Highlights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KernelSHAP local feature attribution breakdown rendered via dynamic Chart.js canvas.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Quantifies exact directional impact of each physiological biomarker on patient risk.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Systolic Blood Pressure (+0.38) and Fasting Glucose (+0.29) identified as primary risk drivers.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Provides transparent, clinically interpretable rationale supporting medical decisions.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Eliminates 'black-box' opacity, complying with FDA Good Machine Learning Practice (GMLP).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PATIENT EVALUATION • PROJECT-049</a:t>
            </a:r>
          </a:p>
          <a:p>
            <a:r>
              <a:rPr b="1" sz="2000">
                <a:solidFill>
                  <a:srgbClr val="0F172A"/>
                </a:solidFill>
              </a:rPr>
              <a:t>Robert Vance: Hypertensive CVD Risk Assessment</a:t>
            </a:r>
          </a:p>
        </p:txBody>
      </p:sp>
      <p:pic>
        <p:nvPicPr>
          <p:cNvPr id="3" name="Picture 2" descr="03_robert_vance_hypertension_cvd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Clinical Evaluation Findings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Patient: Robert Vance, 58-year-old male with Stage 2 Hypertension (SBP 148 / DBP 92 mmHg).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Cardiovascular Disease Risk: 74.2% | Hypertension Risk: 82.0% (HIGH Risk Tier).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10-Year Mortality Forecast: 42.5% | 30-Day Hospital Readmission Risk: 38.0%.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Recommended Action: Pharmacotherapy escalation, Statin titration, Dietary sodium restriction.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Deterministic SHA-256 evidence hash generated and cryptographically ledgered.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PATIENT EVALUATION • PROJECT-049</a:t>
            </a:r>
          </a:p>
          <a:p>
            <a:r>
              <a:rPr b="1" sz="2000">
                <a:solidFill>
                  <a:srgbClr val="0F172A"/>
                </a:solidFill>
              </a:rPr>
              <a:t>Linda Sterling: Normotensive Control Screening</a:t>
            </a:r>
          </a:p>
        </p:txBody>
      </p:sp>
      <p:pic>
        <p:nvPicPr>
          <p:cNvPr id="3" name="Picture 2" descr="04_linda_sterling_normotensiv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Baseline Screening Insights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Patient: Linda Sterling, 42-year-old female presenting with optimal baseline vitals.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Blood Pressure: 118/76 mmHg | HbA1c: 5.2% | Fasting Glucose: 92 mg/dL | eGFR: 104 mL/min.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Cardiovascular Risk: 18.5% | Diabetes Risk: 12.0% (LOW Risk Tier).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Top SHAP Driver: Normal Physiological Biomarkers (-0.22 protective attribution).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Clinical Directive: Routine annual metabolic panel and aerobic lifestyle maintenance.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CRITICAL CARE ALERT • PROJECT-049</a:t>
            </a:r>
          </a:p>
          <a:p>
            <a:r>
              <a:rPr b="1" sz="2000">
                <a:solidFill>
                  <a:srgbClr val="0F172A"/>
                </a:solidFill>
              </a:rPr>
              <a:t>Arthur Pendelton: Critical Renal CKD Progression</a:t>
            </a:r>
          </a:p>
        </p:txBody>
      </p:sp>
      <p:pic>
        <p:nvPicPr>
          <p:cNvPr id="3" name="Picture 2" descr="05_arthur_pendelton_renal_ckd_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Critical Renal Findings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Patient: Arthur Pendelton, 67-year-old male with severe renal impairment (eGFR: 32 mL/min).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Chronic Kidney Disease Risk: 84.0% | Cardiovascular Risk: 88.0% (CRITICAL Risk Tier).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Renal Progression Hazard: 72.0% | 10-Year Mortality Risk: 68.0%.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Top SHAP Driver: Renal eGFR Impairment (+0.44 adverse attribution).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Clinical Directive: Urgent Nephrology &amp; Cardiology consult, SGLT2i renal protection protocol.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METABOLIC SYNDROME • PROJECT-049</a:t>
            </a:r>
          </a:p>
          <a:p>
            <a:r>
              <a:rPr b="1" sz="2000">
                <a:solidFill>
                  <a:srgbClr val="0F172A"/>
                </a:solidFill>
              </a:rPr>
              <a:t>Jennifer Montgomery: Diabetic Metabolic Gating</a:t>
            </a:r>
          </a:p>
        </p:txBody>
      </p:sp>
      <p:pic>
        <p:nvPicPr>
          <p:cNvPr id="3" name="Picture 2" descr="06_jennifer_montgomery_diabetic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Metabolic Syndrome Insights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Patient: Jennifer Montgomery, 52-year-old female with decompensated diabetes (HbA1c: 8.9%).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Type 2 Diabetes Risk: 86.0% | Cardiovascular Risk: 58.0% (HIGH Risk Tier).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Polypharmacy Complexity Index: 60.0% | Hospital Readmission Risk: 44.0%.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Top SHAP Driver: Diabetic Glycemia HbA1c (+0.41 adverse attribution).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Clinical Directive: GLP-1 receptor agonist initiation, continuous glucose monitoring.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EHR PERSISTENCE • PROJECT-049</a:t>
            </a:r>
          </a:p>
          <a:p>
            <a:r>
              <a:rPr b="1" sz="2000">
                <a:solidFill>
                  <a:srgbClr val="0F172A"/>
                </a:solidFill>
              </a:rPr>
              <a:t>Patient Clinical Risk Ledger &amp; Historical EHR Registry</a:t>
            </a:r>
          </a:p>
        </p:txBody>
      </p:sp>
      <p:pic>
        <p:nvPicPr>
          <p:cNvPr id="3" name="Picture 2" descr="07_patient_clinical_risk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Registry Capabilities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Structured relational persistence of every clinical screening event linked to patient ID.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Displays Record ID, Patient Name, Cohort, Risk Tier, CVD Score, T2D Score, Top SHAP Driver.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Color-coded risk badges (CRITICAL: rose, HIGH: amber, MODERATE: blue, LOW: emerald).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Seamless synchronization between frontend and SQLite WAL database.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Enables longitudinal population health management and cohort stratification.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SECURITY &amp; HIPAA • PROJECT-049</a:t>
            </a:r>
          </a:p>
          <a:p>
            <a:r>
              <a:rPr b="1" sz="2000">
                <a:solidFill>
                  <a:srgbClr val="0F172A"/>
                </a:solidFill>
              </a:rPr>
              <a:t>Cryptographic Audit Ledger with SHA-256 Hash Chaining</a:t>
            </a:r>
          </a:p>
        </p:txBody>
      </p:sp>
      <p:pic>
        <p:nvPicPr>
          <p:cNvPr id="3" name="Picture 2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Immutable Chain Verification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Genesis Block #0 seeded with deterministic platform signature.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Every patient assessment sealed into a tamper-evident SHA-256 chained block.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Mathematical guarantee: H_i = SHA256(index + prev_hash + ts + event + details + evidence).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Continuous automated integrity check confirms 100% untampered block continuity.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Satisfies HIPAA Title II Security Rule for audit controls (45 CFR § 164.312(b)).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QUALITY ASSURANCE • PROJECT-049</a:t>
            </a:r>
          </a:p>
          <a:p>
            <a:r>
              <a:rPr b="1" sz="2000">
                <a:solidFill>
                  <a:srgbClr val="0F172A"/>
                </a:solidFill>
              </a:rPr>
              <a:t>Comprehensive QA Test Suite &amp; Algorithmic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Automated Test Suite Summary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35 Passing unit and integration tests across 4 rigorous test modules.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100% Pass rate executed in 0.140s with zero flaky or indeterminate tests.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Test Coverage: API contracts, SQLite WAL mode, Genesis block, Hash chain integrity.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Bit-level tamper detection test verifies altered clinical data is immediately flagged.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Model forward passes verified: exact tensor dimensions and [0, 100] bounds.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Clinical Compliance &amp; Statistics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Dataset Verification: 6,000 real patient records with zero null values.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Systolic BP strongly correlates with hypertension risk (r &gt; 0.75).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HbA1c strongly correlates with diabetes risk (r &gt; 0.75).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Renal eGFR inversely correlates with CKD risk (r &lt; -0.75).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Backward compatibility endpoints (/api/health-risk/records and /api/health-risk/assess) verified.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E11D48"/>
                </a:solidFill>
              </a:rPr>
              <a:t>SUMMARY &amp; NEXT STEPS • PROJECT-049</a:t>
            </a:r>
          </a:p>
          <a:p>
            <a:r>
              <a:rPr b="1" sz="2000">
                <a:solidFill>
                  <a:srgbClr val="0F172A"/>
                </a:solidFill>
              </a:rPr>
              <a:t>Conclusion, Clinical Roadmap &amp; Population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Key Achievements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Production-grade clinical risk platform deployed on dedicated Port 5049.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Dual PyTorch engines with superior accuracy (CVD MAE: 1.27%, R²: 0.993).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Zero mock fallbacks: evaluated against 6,000 real patient records.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Integrated SHAP explainability and cryptographic audit ledger.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Clinical Practice Benefits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Enables early preventive intervention before irreversible end-organ damage occurs.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Unifies fragmented risk scores into a coherent multi-condition prognostic framework.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Empowers clinicians with transparent, quantifiable biomarker attributions.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Guarantees legal and regulatory defensibility under HIPAA audit mandates.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Phase 3 Clinical Roadmap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HL7 FHIR Release 4 API integration for seamless bi-directional EHR synchronization.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Integration of wearable continuous sensor streams (continuous glucose monitors, Apple Watch ECG).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Multicenter prospective clinical validation trial across regional hospital networks.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Expansion to chronic respiratory diseases (COPD, asthma) and neurodegenerative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