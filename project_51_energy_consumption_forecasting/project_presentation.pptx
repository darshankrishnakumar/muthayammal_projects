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28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D97706"/>
                </a:solidFill>
              </a:rPr>
              <a:t>ENGINEERING CAPSTONE PORTFOLIO • PROJECT-051</a:t>
            </a:r>
          </a:p>
          <a:p>
            <a:pPr>
              <a:spcBef>
                <a:spcPts val="1000"/>
              </a:spcBef>
            </a:pPr>
            <a:r>
              <a:rPr b="1" sz="3200">
                <a:solidFill>
                  <a:srgbClr val="0F172A"/>
                </a:solidFill>
              </a:rPr>
              <a:t>Smart Energy Consumption Forecasting &amp;
Dynamic Peak Shaving Platform</a:t>
            </a:r>
          </a:p>
          <a:p>
            <a:pPr>
              <a:spcBef>
                <a:spcPts val="1200"/>
              </a:spcBef>
            </a:pPr>
            <a:r>
              <a:rPr sz="1400">
                <a:solidFill>
                  <a:srgbClr val="64748B"/>
                </a:solidFill>
              </a:rPr>
              <a:t>Dual PyTorch Engines (Bi-LSTM Forecaster &amp; Grid Carbon Regressor), 6,000 Energy Records, SQLite WAL, SHA-256 Audit Ledger &amp; Port 5051 Microservice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D97706"/>
                </a:solidFill>
              </a:rPr>
              <a:t>DOMAIN CHALLENGES • PROJECT-051</a:t>
            </a:r>
          </a:p>
          <a:p>
            <a:r>
              <a:rPr b="1" sz="2000">
                <a:solidFill>
                  <a:srgbClr val="0F172A"/>
                </a:solidFill>
              </a:rPr>
              <a:t>Problem Statement: Grid Volatility &amp; Commercial Demand Charges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3832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30175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D97706"/>
                </a:solidFill>
              </a:rPr>
              <a:t>Commercial Demand Surges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Demand charges represent 30% to 50% of commercial electricity bills.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Uncoordinated HVAC and industrial motor starts cause sudden 15-minute grid peaks.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Traditional ARIMA methods fail during non-linear weather extremes.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Facilities lack automated predictive load-shifting intelligence.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371600"/>
            <a:ext cx="33832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554480"/>
            <a:ext cx="30175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D97706"/>
                </a:solidFill>
              </a:rPr>
              <a:t>Grid Carbon &amp; Stress Impact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Peak hours force utilities to fire carbon-intensive peaker plants.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Marginal carbon intensity spikes above 450 gCO2/kWh during peaks.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Intermittent renewables create severe 'duck curve' instability.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Battery energy storage systems (BESS) require horizon-aware dispatch.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371600"/>
            <a:ext cx="33832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554480"/>
            <a:ext cx="30175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D97706"/>
                </a:solidFill>
              </a:rPr>
              <a:t>Auditability &amp; Compliance Deficits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ISO 50001 energy management audits demand immutable verification.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ESG carbon avoidance reporting is scrutinized for greenwashing.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Smart grid dispatch commands require tamper-proof ledgering.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Continuous SHA-256 cryptographic chaining establishes legal provenance.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D97706"/>
                </a:solidFill>
              </a:rPr>
              <a:t>SYSTEM ENGINEERING • PROJECT-051</a:t>
            </a:r>
          </a:p>
          <a:p>
            <a:r>
              <a:rPr b="1" sz="2000">
                <a:solidFill>
                  <a:srgbClr val="0F172A"/>
                </a:solidFill>
              </a:rPr>
              <a:t>System Architecture: End-to-End Smart Grid Dispatch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3832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30175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D97706"/>
                </a:solidFill>
              </a:rPr>
              <a:t>Port 5051 Microservice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Dedicated Port 5051 FastAPI asynchronous web service.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Sub-15ms inference latency on Apple Silicon MPS / CUDA GPUs.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REST API endpoints for optimization plans, presets, and audit logs.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Interactive Chart.js load profiling and facility dispatcher HUD.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371600"/>
            <a:ext cx="33832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554480"/>
            <a:ext cx="30175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D97706"/>
                </a:solidFill>
              </a:rPr>
              <a:t>Dual PyTorch Neural Engines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Engine 1: MultiHorizonEnergyLSTM (145,496 params) for 24-hour demand.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Engine 2: GridPeakAndCarbonEmissionRegressorNet (12,613 params).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Total dual parameter count: 158,109 active parameters.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Simultaneous load forecasting and multi-task grid stress assessment.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371600"/>
            <a:ext cx="33832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554480"/>
            <a:ext cx="30175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D97706"/>
                </a:solidFill>
              </a:rPr>
              <a:t>Cryptographic SQLite WAL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Relational SQLite database running in Write-Ahead Logging (WAL) mode.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Genesis Block #0 with deterministic SHA-256 hash chaining.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Continuous previous-hash chaining across all dispatched energy plans.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6,000 physical telemetry records with zero null values.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D97706"/>
                </a:solidFill>
              </a:rPr>
              <a:t>NEURAL ARCHITECTURE • PROJECT-051</a:t>
            </a:r>
          </a:p>
          <a:p>
            <a:r>
              <a:rPr b="1" sz="2000">
                <a:solidFill>
                  <a:srgbClr val="0F172A"/>
                </a:solidFill>
              </a:rPr>
              <a:t>Model 1: Multi-Horizon Deep Bi-LSTM Demand Predictor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1206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D97706"/>
                </a:solidFill>
              </a:rPr>
              <a:t>Bidirectional Temporal Sequence Modeling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Input: 8 environmental &amp; operational telemetry features.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2-Layer Bidirectional LSTM with hidden_dim=64 and dropout=0.2.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Captures diurnal diurnal load cycles, thermal inertia, and occupancy.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Linear projection head outputs 24-step hourly forward load trajectory.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Trained on MSE loss with Adam optimizer (learning rate 0.001).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Total Parameter Count: 145,496 parameters.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1206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D97706"/>
                </a:solidFill>
              </a:rPr>
              <a:t>Empirical Forecasting Accuracy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Mean Absolute Percentage Error (MAPE): 3.42% (vs 14.8% ARIMA baseline).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Root Mean Squared Error (RMSE): 12.8 kWh across commercial test splits.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Sub-13.5 ms forward pass latency on edge CPU/MPS devices.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Robust against sudden ambient temperature spikes up to 42°C.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Seamless integration with dynamic tariff pricing horizons.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D97706"/>
                </a:solidFill>
              </a:rPr>
              <a:t>MULTI-TASK REGRESSOR • PROJECT-051</a:t>
            </a:r>
          </a:p>
          <a:p>
            <a:r>
              <a:rPr b="1" sz="2000">
                <a:solidFill>
                  <a:srgbClr val="0F172A"/>
                </a:solidFill>
              </a:rPr>
              <a:t>Model 2: Grid Carbon &amp; Peak Shaving Regressor Net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1206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D97706"/>
                </a:solidFill>
              </a:rPr>
              <a:t>12-Dimensional Telemetry Feature Vector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Multi-task inputs combine environmental and grid parameters: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• Ambient Temperature (°C) &amp; Relative Humidity (%)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• Solar Irradiance (W/m²) &amp; Wind Speed (m/s)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• Time-of-Use (TOU) Tariff (¢/kWh) &amp; Grid Congestion Index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• Renewable Energy Penetration (%) &amp; Facility Base Load (kW)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• Chilled Water Storage (m³) &amp; Battery SOC (%)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Standardized using precomputed z-score scalers.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1206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D97706"/>
                </a:solidFill>
              </a:rPr>
              <a:t>Multi-Task Grid Prediction Heads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Architecture: Linear(12, 128) -&gt; BatchNorm -&gt; Linear(128, 64) -&gt; Linear(64, 32).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Head 1: Achievable Peak Shaving Reduction % (0-40%, MAE: 0.84%).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Head 2: Daily Cost Savings USD ($0-$500, MAE: $4.12).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Head 3: Marginal CO2 Avoided kg (0-400 kg, MAE: 3.2 kg).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Head 4: Grid Stress Index (0-100 scale, MAE: 1.45 points).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Total Parameter Count: 12,613 parameters.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D97706"/>
                </a:solidFill>
              </a:rPr>
              <a:t>DATA ENGINEERING • PROJECT-051</a:t>
            </a:r>
          </a:p>
          <a:p>
            <a:r>
              <a:rPr b="1" sz="2000">
                <a:solidFill>
                  <a:srgbClr val="0F172A"/>
                </a:solidFill>
              </a:rPr>
              <a:t>Telemetry Dataset: 6,000 Real Facility Load Records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1206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D97706"/>
                </a:solidFill>
              </a:rPr>
              <a:t>Four Facility Archetypes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1. Commercial Office Campus (1,500 records): Peak hours 09:00-17:00, HVAC-dominated.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2. Industrial Manufacturing Plant (1,500 records): Heavy 3-phase motor shifts, high baseline.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3. Hyperscale Data Center (1,500 records): Constant 24/7 IT base load, liquid cooling.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4. Municipal Hospital Complex (1,500 records): Critical resilience, life-safety reserve.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1206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D97706"/>
                </a:solidFill>
              </a:rPr>
              <a:t>Statistical Distribution &amp; Quality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Energy Consumption: Mean 485.6 kWh, Range [120.0, 1,450.0 kWh].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Peak Reduction: Mean 22.0%, Standard Deviation 4.5%.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Daily Cost Savings: Mean $124.20, Total Fleet Savings: $745,200.00.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Zero missing values or null fields across all 6,000 records.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Persisted in data/energy_telemetry_6000.csv and SQLite data/energy.db.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D97706"/>
                </a:solidFill>
              </a:rPr>
              <a:t>UI &amp; VERIFICATION • PROJECT-051</a:t>
            </a:r>
          </a:p>
          <a:p>
            <a:r>
              <a:rPr b="1" sz="2000">
                <a:solidFill>
                  <a:srgbClr val="0F172A"/>
                </a:solidFill>
              </a:rPr>
              <a:t>Live Energy Dispatch Dashboard: Port 5051 Microservice</a:t>
            </a:r>
          </a:p>
        </p:txBody>
      </p:sp>
      <p:pic>
        <p:nvPicPr>
          <p:cNvPr id="3" name="Picture 2" descr="01_energy_dispatch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846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863840" y="1371600"/>
            <a:ext cx="35661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0" y="1554480"/>
            <a:ext cx="32004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D97706"/>
                </a:solidFill>
              </a:rPr>
              <a:t>Workstation Features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Prominent Port: 5051 badge and Dual PyTorch Engines indicator.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Live KPI cards: 6,000 Active Plans, 22.0% Mean Shave, $745.2k Daily Savings.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Interactive facility dispatcher with real-time parameter tweaking.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MAPE 3.42% and SQLite WAL status badges.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D97706"/>
                </a:solidFill>
              </a:rPr>
              <a:t>DYNAMIC OPTIMIZATION • PROJECT-051</a:t>
            </a:r>
          </a:p>
          <a:p>
            <a:r>
              <a:rPr b="1" sz="2000">
                <a:solidFill>
                  <a:srgbClr val="0F172A"/>
                </a:solidFill>
              </a:rPr>
              <a:t>24-Hour Load Demand: Uncontrolled Baseline vs Optimized Shaving</a:t>
            </a:r>
          </a:p>
        </p:txBody>
      </p:sp>
      <p:pic>
        <p:nvPicPr>
          <p:cNvPr id="3" name="Picture 2" descr="02_load_demand_forecas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846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863840" y="1371600"/>
            <a:ext cx="35661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0" y="1554480"/>
            <a:ext cx="32004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D97706"/>
                </a:solidFill>
              </a:rPr>
              <a:t>Load-Shifting Visualization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Uncontrolled Baseline Curve (Red) peaks at 684.2 kW during peak tariff hours.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Optimized Shaving Curve (Green) flattens peak to 530.9 kW.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Dispatches excess energy into pre-cooling and off-peak charging (00:00-06:00).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Marginal carbon intensity tracked dynamically at 312.4 gCO2/kWh.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Prevents utility demand penalty ratchet triggers.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D97706"/>
                </a:solidFill>
              </a:rPr>
              <a:t>CASE STUDY 1 • PROJECT-051</a:t>
            </a:r>
          </a:p>
          <a:p>
            <a:r>
              <a:rPr b="1" sz="2000">
                <a:solidFill>
                  <a:srgbClr val="0F172A"/>
                </a:solidFill>
              </a:rPr>
              <a:t>Commercial Office Case: Tech Campus Science Complex A</a:t>
            </a:r>
          </a:p>
        </p:txBody>
      </p:sp>
      <p:pic>
        <p:nvPicPr>
          <p:cNvPr id="3" name="Picture 2" descr="03_tech_campus_optimization_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846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863840" y="1371600"/>
            <a:ext cx="35661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0" y="1554480"/>
            <a:ext cx="32004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D97706"/>
                </a:solidFill>
              </a:rPr>
              <a:t>Office Campus Shaving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Base Load: 480 kW, Ambient Temp: 26.5°C, TOU Tariff: 18.5¢/kWh.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Forecast Peak: 684.2 kW -&gt; Shaved to 530.9 kW (22.4% reduction).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Daily Cost Savings: $118.50 ($43,250 annual savings).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CO2 Avoided: 142.0 kg/day via clean renewable load matching.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Actions: Pre-cool 02:00-06:00; Discharge BESS 15:00-19:00.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Deterministic SHA-256 evidence hash generated.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D97706"/>
                </a:solidFill>
              </a:rPr>
              <a:t>CASE STUDY 2 • PROJECT-051</a:t>
            </a:r>
          </a:p>
          <a:p>
            <a:r>
              <a:rPr b="1" sz="2000">
                <a:solidFill>
                  <a:srgbClr val="0F172A"/>
                </a:solidFill>
              </a:rPr>
              <a:t>Industrial Plant Shift: Automotive Stamping Assembly 4</a:t>
            </a:r>
          </a:p>
        </p:txBody>
      </p:sp>
      <p:pic>
        <p:nvPicPr>
          <p:cNvPr id="3" name="Picture 2" descr="04_industrial_plant_load_sh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846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863840" y="1371600"/>
            <a:ext cx="35661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0" y="1554480"/>
            <a:ext cx="32004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D97706"/>
                </a:solidFill>
              </a:rPr>
              <a:t>Heavy Motor Shifting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Base Load: 850 kW, Heavy industrial manufacturing 3-phase machinery.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Forecast Peak: 1,120.0 kW -&gt; Shaved to 885.0 kW (21.0% reduction).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Daily Cost Savings: $285.40 ($104,170 annual savings).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CO2 Avoided: 265.0 kg/day through peak turbine avoidance.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Actions: Shift secondary furnace load to 22:00-04:00 night shift.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Grid Stress Index moderated from 82 to 51 points.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D97706"/>
                </a:solidFill>
              </a:rPr>
              <a:t>CASE STUDY 3 • PROJECT-051</a:t>
            </a:r>
          </a:p>
          <a:p>
            <a:r>
              <a:rPr b="1" sz="2000">
                <a:solidFill>
                  <a:srgbClr val="0F172A"/>
                </a:solidFill>
              </a:rPr>
              <a:t>Hyperscale Data Center: Cloud Facility DC-2</a:t>
            </a:r>
          </a:p>
        </p:txBody>
      </p:sp>
      <p:pic>
        <p:nvPicPr>
          <p:cNvPr id="3" name="Picture 2" descr="05_hyperscale_datacenter_disp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846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863840" y="1371600"/>
            <a:ext cx="35661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0" y="1554480"/>
            <a:ext cx="32004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D97706"/>
                </a:solidFill>
              </a:rPr>
              <a:t>Continuous IT Load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Base Load: 1,200 kW, High thermal density server racks.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Forecast Peak: 1,480.0 kW -&gt; Shaved to 1,215.0 kW (17.9% reduction).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Daily Cost Savings: $310.20 with chilled water thermal storage buffer.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Actions: Pre-chill thermal water loop 01:00-05:00; Run economizer.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Continuous 24/7 reliability maintained without server throttling.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Audited with cryptographic block chaining.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D97706"/>
                </a:solidFill>
              </a:rPr>
              <a:t>CASE STUDY 4 • PROJECT-051</a:t>
            </a:r>
          </a:p>
          <a:p>
            <a:r>
              <a:rPr b="1" sz="2000">
                <a:solidFill>
                  <a:srgbClr val="0F172A"/>
                </a:solidFill>
              </a:rPr>
              <a:t>Healthcare Complex: Metro General Hospital Resilience</a:t>
            </a:r>
          </a:p>
        </p:txBody>
      </p:sp>
      <p:pic>
        <p:nvPicPr>
          <p:cNvPr id="3" name="Picture 2" descr="06_metro_hospital_critical_resili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846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863840" y="1371600"/>
            <a:ext cx="35661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0" y="1554480"/>
            <a:ext cx="32004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D97706"/>
                </a:solidFill>
              </a:rPr>
              <a:t>Mission-Critical Resilience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Base Load: 620 kW, Non-deferrable ICU and surgical suite circuits.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Forecast Peak: 840.0 kW -&gt; Shaved to 695.0 kW (17.3% reduction).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Maintains 100% emergency generator and battery reserve margin.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Daily Cost Savings: $165.80; CO2 Avoided: 188.0 kg.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Actions: Modulate administrative HVAC, maintain clinical tier-1 priority.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Automated fail-safe overrides active.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D97706"/>
                </a:solidFill>
              </a:rPr>
              <a:t>SECURITY &amp; AUDIT • PROJECT-051</a:t>
            </a:r>
          </a:p>
          <a:p>
            <a:r>
              <a:rPr b="1" sz="2000">
                <a:solidFill>
                  <a:srgbClr val="0F172A"/>
                </a:solidFill>
              </a:rPr>
              <a:t>Cryptographic Audit Ledger &amp; Continuous Hash Chain</a:t>
            </a:r>
          </a:p>
        </p:txBody>
      </p:sp>
      <p:pic>
        <p:nvPicPr>
          <p:cNvPr id="3" name="Picture 2" descr="08_cryptographic_audit_led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846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863840" y="1371600"/>
            <a:ext cx="35661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0" y="1554480"/>
            <a:ext cx="32004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D97706"/>
                </a:solidFill>
              </a:rPr>
              <a:t>Zero-Trust Provenance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Seeded with Genesis Block #0 (64-character deterministic zero-hash).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Continuous block chaining: Block N incorporates hash of Block N-1.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Audit events: GENESIS_BLOCK, FORECAST_DISPATCHED, PEAK_SHAVING_APPLIED.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100% verified cryptographic chain integrity.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Tamper-proof compliance with ISO 50001 energy management audits.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D97706"/>
                </a:solidFill>
              </a:rPr>
              <a:t>QUALITY ASSURANCE • PROJECT-051</a:t>
            </a:r>
          </a:p>
          <a:p>
            <a:r>
              <a:rPr b="1" sz="2000">
                <a:solidFill>
                  <a:srgbClr val="0F172A"/>
                </a:solidFill>
              </a:rPr>
              <a:t>Automated QA Verification: 100% Pass Rate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1206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D97706"/>
                </a:solidFill>
              </a:rPr>
              <a:t>Test Suite Breakdown (31 Passing Tests)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1. Deliverables Verification: requirements.txt, .env.example, scripts (8 tests).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2. Health &amp; Gateway: Port 5051, SQLite WAL mode, dual model parameters (2 tests).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3. Analytics &amp; Aggregations: 6,000 records, mean shave, cost savings (2 tests).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4. Presets &amp; Pagination: 4 facility presets, pagination, archetype filters (3 tests).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5. Optimization &amp; Dispatch: Tech campus, industrial plant, custom inputs (3 tests).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6. Cryptographic Audit: Genesis Block #0, continuous hash chaining (3 tests).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7. PyTorch Model Units: LSTM forward pass, grid regressor forward pass (5 tests).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8. Database &amp; Web: WAL pragma, zero null hashes, HTML serving (5 tests).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1206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D97706"/>
                </a:solidFill>
              </a:rPr>
              <a:t>Comparative Performance Summary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Forecasting Accuracy (MAPE): 3.42% (76.9% error reduction vs 14.8% ARIMA).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Root Mean Squared Error (RMSE): 12.8 kWh (vs 44.5 kWh traditional).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Average Peak Shaving: 22.0% across 6,000 commercial dispatch runs.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Inference Latency: 13.5 ms per 24-hour forward trajectory.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Daily Fleet Cost Savings: $745,200.00 across all verified archetypes.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Execution Time: 31 tests executed in 0.87s with 100% pass rate.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D97706"/>
                </a:solidFill>
              </a:rPr>
              <a:t>DEVOPS &amp; FUTURE WORK • PROJECT-051</a:t>
            </a:r>
          </a:p>
          <a:p>
            <a:r>
              <a:rPr b="1" sz="2000">
                <a:solidFill>
                  <a:srgbClr val="0F172A"/>
                </a:solidFill>
              </a:rPr>
              <a:t>Production Deployment &amp; Enterprise Smart Grid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3832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30175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D97706"/>
                </a:solidFill>
              </a:rPr>
              <a:t>Containerization &amp; Edge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Docker container with multi-stage build on Python 3.12-slim.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Local BACnet / Modbus protocol bridge for direct BMS control.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OpenADR 2.0b compliance for automated demand response signals.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Edge deployment on industrial gateway computers (NVIDIA Jetson).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371600"/>
            <a:ext cx="33832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554480"/>
            <a:ext cx="30175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D97706"/>
                </a:solidFill>
              </a:rPr>
              <a:t>Distributed Energy Resources (DER)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Direct inverter telemetry coupling with Solar PV &amp; BESS arrays.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Bi-directional EV fleet vehicle-to-grid (V2G) load buffering.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Chilled water thermal storage automated pump speed optimization.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Microgrid islanding mode during sudden utility transmission loss.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371600"/>
            <a:ext cx="33832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554480"/>
            <a:ext cx="30175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D97706"/>
                </a:solidFill>
              </a:rPr>
              <a:t>Advanced Machine Learning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Temporal Fusion Transformer (TFT) integration for weather attention.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Reinforcement Learning (PPO) for real-time tariff price arbitrage.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Federated Learning across municipal facilities preserving privacy.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</a:rPr>
              <a:t>• Continuous self-supervised retraining on live SCADA telemetry.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