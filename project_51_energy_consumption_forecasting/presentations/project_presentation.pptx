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1645920"/>
            <a:ext cx="100584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38BDF8"/>
                </a:solidFill>
              </a:defRPr>
            </a:pPr>
            <a:r>
              <a:t>PROJECT 51 OF 55  •  RESEARCH &amp; IMPLEMENTATION DECK</a:t>
            </a:r>
          </a:p>
          <a:p>
            <a:pPr>
              <a:spcBef>
                <a:spcPts val="1400"/>
              </a:spcBef>
              <a:defRPr sz="3200" b="1">
                <a:solidFill>
                  <a:srgbClr val="FFFFFF"/>
                </a:solidFill>
              </a:defRPr>
            </a:pPr>
            <a:r>
              <a:t>Smart Energy Consumption Forecasting and Optimization Using Machine Learning</a:t>
            </a:r>
          </a:p>
          <a:p>
            <a:pPr>
              <a:spcBef>
                <a:spcPts val="1200"/>
              </a:spcBef>
              <a:defRPr sz="1600">
                <a:solidFill>
                  <a:srgbClr val="CBD5E1"/>
                </a:solidFill>
              </a:defRPr>
            </a:pPr>
            <a:r>
              <a:t>Enterprise-Grade AI Architecture, Machine Learning Pipeline &amp; Deployment Framework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1. Background &amp; Industrial Motivation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Academic &amp; Industrial AI Project Series  |  Project 51 of 55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E3A8A"/>
                </a:solidFill>
              </a:defRPr>
            </a:pPr>
            <a:r>
              <a:t>Executive Problem Background:</a:t>
            </a:r>
          </a:p>
          <a:p>
            <a:pPr>
              <a:spcBef>
                <a:spcPts val="1000"/>
              </a:spcBef>
              <a:defRPr sz="1400">
                <a:solidFill>
                  <a:srgbClr val="334155"/>
                </a:solidFill>
              </a:defRPr>
            </a:pPr>
            <a:r>
              <a:t>Energy-management systems commonly forecast electricity consumption but do not always translate predictions into actionable optimization strategies. This project proposes an intelligent energy-management framework that learns consumption patterns from historical electricity usage, time of day, occupancy behavior, environmental conditions, and appliance-level information. A forecasting model predicts near-future energy demand, while an optimization module identifies high-consumption periods and p...</a:t>
            </a:r>
          </a:p>
          <a:p>
            <a:pPr>
              <a:spcBef>
                <a:spcPts val="1400"/>
              </a:spcBef>
              <a:defRPr sz="1600" b="1"/>
            </a:pPr>
            <a:r>
              <a:t>Core Industry Drivers:</a:t>
            </a:r>
          </a:p>
          <a:p>
            <a:pPr>
              <a:spcBef>
                <a:spcPts val="400"/>
              </a:spcBef>
              <a:defRPr sz="1300">
                <a:solidFill>
                  <a:srgbClr val="475569"/>
                </a:solidFill>
              </a:defRPr>
            </a:pPr>
            <a:r>
              <a:t>• Manual legacy inspection/decision methods incur high operational costs, delay, and human error.</a:t>
            </a:r>
          </a:p>
          <a:p>
            <a:pPr>
              <a:spcBef>
                <a:spcPts val="400"/>
              </a:spcBef>
              <a:defRPr sz="1300">
                <a:solidFill>
                  <a:srgbClr val="475569"/>
                </a:solidFill>
              </a:defRPr>
            </a:pPr>
            <a:r>
              <a:t>• Scalable automated solutions require low-latency edge and cloud neural network inference.</a:t>
            </a:r>
          </a:p>
          <a:p>
            <a:pPr>
              <a:spcBef>
                <a:spcPts val="400"/>
              </a:spcBef>
              <a:defRPr sz="1300">
                <a:solidFill>
                  <a:srgbClr val="475569"/>
                </a:solidFill>
              </a:defRPr>
            </a:pPr>
            <a:r>
              <a:t>• Explainable prediction confidence metrics are essential for operational trust and regulatory compliance.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2. Problem Statement &amp; Key Objectives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Academic &amp; Industrial AI Project Series  |  Project 51 of 55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defRPr sz="1600" b="1">
                <a:solidFill>
                  <a:srgbClr val="10B981"/>
                </a:solidFill>
              </a:defRPr>
            </a:pPr>
            <a:r>
              <a:t>✓ Predictive Accuracy &amp; Generalization</a:t>
            </a:r>
          </a:p>
          <a:p>
            <a:pPr>
              <a:spcBef>
                <a:spcPts val="200"/>
              </a:spcBef>
              <a:defRPr sz="1300">
                <a:solidFill>
                  <a:srgbClr val="475569"/>
                </a:solidFill>
              </a:defRPr>
            </a:pPr>
            <a:r>
              <a:t>Achieve high validation precision across diverse real-world operating distributions.</a:t>
            </a:r>
          </a:p>
          <a:p>
            <a:pPr>
              <a:spcBef>
                <a:spcPts val="800"/>
              </a:spcBef>
              <a:defRPr sz="1600" b="1">
                <a:solidFill>
                  <a:srgbClr val="10B981"/>
                </a:solidFill>
              </a:defRPr>
            </a:pPr>
            <a:r>
              <a:t>✓ Real-Time Low Latency Inference</a:t>
            </a:r>
          </a:p>
          <a:p>
            <a:pPr>
              <a:spcBef>
                <a:spcPts val="200"/>
              </a:spcBef>
              <a:defRPr sz="1300">
                <a:solidFill>
                  <a:srgbClr val="475569"/>
                </a:solidFill>
              </a:defRPr>
            </a:pPr>
            <a:r>
              <a:t>Deliver end-to-end processing response times under 35 milliseconds per query.</a:t>
            </a:r>
          </a:p>
          <a:p>
            <a:pPr>
              <a:spcBef>
                <a:spcPts val="800"/>
              </a:spcBef>
              <a:defRPr sz="1600" b="1">
                <a:solidFill>
                  <a:srgbClr val="10B981"/>
                </a:solidFill>
              </a:defRPr>
            </a:pPr>
            <a:r>
              <a:t>✓ Robust Anomaly &amp; Boundary Handling</a:t>
            </a:r>
          </a:p>
          <a:p>
            <a:pPr>
              <a:spcBef>
                <a:spcPts val="200"/>
              </a:spcBef>
              <a:defRPr sz="1300">
                <a:solidFill>
                  <a:srgbClr val="475569"/>
                </a:solidFill>
              </a:defRPr>
            </a:pPr>
            <a:r>
              <a:t>Detect out-of-distribution instances and reject anomalous inputs with deterministic alerts.</a:t>
            </a:r>
          </a:p>
          <a:p>
            <a:pPr>
              <a:spcBef>
                <a:spcPts val="800"/>
              </a:spcBef>
              <a:defRPr sz="1600" b="1">
                <a:solidFill>
                  <a:srgbClr val="10B981"/>
                </a:solidFill>
              </a:defRPr>
            </a:pPr>
            <a:r>
              <a:t>✓ Production-Ready Full Stack</a:t>
            </a:r>
          </a:p>
          <a:p>
            <a:pPr>
              <a:spcBef>
                <a:spcPts val="200"/>
              </a:spcBef>
              <a:defRPr sz="1300">
                <a:solidFill>
                  <a:srgbClr val="475569"/>
                </a:solidFill>
              </a:defRPr>
            </a:pPr>
            <a:r>
              <a:t>Provide modular REST APIs, audit logging, and responsive user interfaces.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3. System Architecture &amp; Workflow Pipeline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Academic &amp; Industrial AI Project Series  |  Project 51 of 55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defRPr sz="1500" b="1">
                <a:solidFill>
                  <a:srgbClr val="2563EB"/>
                </a:solidFill>
              </a:defRPr>
            </a:pPr>
            <a:r>
              <a:t>[1] Ingestion Layer</a:t>
            </a:r>
          </a:p>
          <a:p>
            <a:pPr>
              <a:defRPr sz="1300">
                <a:solidFill>
                  <a:srgbClr val="475569"/>
                </a:solidFill>
              </a:defRPr>
            </a:pPr>
            <a:r>
              <a:t>Raw telemetry, video feeds, or structured tabular features ingested via secure endpoints.</a:t>
            </a:r>
          </a:p>
          <a:p>
            <a:pPr>
              <a:spcBef>
                <a:spcPts val="800"/>
              </a:spcBef>
              <a:defRPr sz="1500" b="1">
                <a:solidFill>
                  <a:srgbClr val="2563EB"/>
                </a:solidFill>
              </a:defRPr>
            </a:pPr>
            <a:r>
              <a:t>[2] Preprocessing &amp; Normalization</a:t>
            </a:r>
          </a:p>
          <a:p>
            <a:pPr>
              <a:defRPr sz="1300">
                <a:solidFill>
                  <a:srgbClr val="475569"/>
                </a:solidFill>
              </a:defRPr>
            </a:pPr>
            <a:r>
              <a:t>Feature scaling, missing value imputation, winsorization, and tensor reshaping.</a:t>
            </a:r>
          </a:p>
          <a:p>
            <a:pPr>
              <a:spcBef>
                <a:spcPts val="800"/>
              </a:spcBef>
              <a:defRPr sz="1500" b="1">
                <a:solidFill>
                  <a:srgbClr val="2563EB"/>
                </a:solidFill>
              </a:defRPr>
            </a:pPr>
            <a:r>
              <a:t>[3] Deep Neural Inference Engine</a:t>
            </a:r>
          </a:p>
          <a:p>
            <a:pPr>
              <a:defRPr sz="1300">
                <a:solidFill>
                  <a:srgbClr val="475569"/>
                </a:solidFill>
              </a:defRPr>
            </a:pPr>
            <a:r>
              <a:t>Optimized model evaluating representations with GPU/MPS/CPU acceleration.</a:t>
            </a:r>
          </a:p>
          <a:p>
            <a:pPr>
              <a:spcBef>
                <a:spcPts val="800"/>
              </a:spcBef>
              <a:defRPr sz="1500" b="1">
                <a:solidFill>
                  <a:srgbClr val="2563EB"/>
                </a:solidFill>
              </a:defRPr>
            </a:pPr>
            <a:r>
              <a:t>[4] Post-Processing &amp; Decision Support</a:t>
            </a:r>
          </a:p>
          <a:p>
            <a:pPr>
              <a:defRPr sz="1300">
                <a:solidFill>
                  <a:srgbClr val="475569"/>
                </a:solidFill>
              </a:defRPr>
            </a:pPr>
            <a:r>
              <a:t>Threshold calibration, confidence scoring, classification/regression output formatting.</a:t>
            </a:r>
          </a:p>
          <a:p>
            <a:pPr>
              <a:spcBef>
                <a:spcPts val="800"/>
              </a:spcBef>
              <a:defRPr sz="1500" b="1">
                <a:solidFill>
                  <a:srgbClr val="2563EB"/>
                </a:solidFill>
              </a:defRPr>
            </a:pPr>
            <a:r>
              <a:t>[5] Visualization &amp; Persistence</a:t>
            </a:r>
          </a:p>
          <a:p>
            <a:pPr>
              <a:defRPr sz="1300">
                <a:solidFill>
                  <a:srgbClr val="475569"/>
                </a:solidFill>
              </a:defRPr>
            </a:pPr>
            <a:r>
              <a:t>Interactive UI dashboard rendering metrics and SQLite/PostgreSQL audit logging.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4. Deep Learning &amp; ML Methodology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Academic &amp; Industrial AI Project Series  |  Project 51 of 55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defRPr sz="1500" b="1">
                <a:solidFill>
                  <a:srgbClr val="0F172A"/>
                </a:solidFill>
              </a:defRPr>
            </a:pPr>
            <a:r>
              <a:t>• Feature Engineering &amp; Dimensionality Alignment</a:t>
            </a:r>
          </a:p>
          <a:p>
            <a:pPr>
              <a:defRPr sz="1300">
                <a:solidFill>
                  <a:srgbClr val="475569"/>
                </a:solidFill>
              </a:defRPr>
            </a:pPr>
            <a:r>
              <a:t>Domain-specific feature extraction, temporal windowing, and embedding vectors.</a:t>
            </a:r>
          </a:p>
          <a:p>
            <a:pPr>
              <a:spcBef>
                <a:spcPts val="800"/>
              </a:spcBef>
              <a:defRPr sz="1500" b="1">
                <a:solidFill>
                  <a:srgbClr val="0F172A"/>
                </a:solidFill>
              </a:defRPr>
            </a:pPr>
            <a:r>
              <a:t>• Model Family &amp; Optimization</a:t>
            </a:r>
          </a:p>
          <a:p>
            <a:pPr>
              <a:defRPr sz="1300">
                <a:solidFill>
                  <a:srgbClr val="475569"/>
                </a:solidFill>
              </a:defRPr>
            </a:pPr>
            <a:r>
              <a:t>Ensemble gradient boosting or deep neural networks trained with AdamW and adaptive LR scheduling.</a:t>
            </a:r>
          </a:p>
          <a:p>
            <a:pPr>
              <a:spcBef>
                <a:spcPts val="800"/>
              </a:spcBef>
              <a:defRPr sz="1500" b="1">
                <a:solidFill>
                  <a:srgbClr val="0F172A"/>
                </a:solidFill>
              </a:defRPr>
            </a:pPr>
            <a:r>
              <a:t>• Overfitting Mitigation</a:t>
            </a:r>
          </a:p>
          <a:p>
            <a:pPr>
              <a:defRPr sz="1300">
                <a:solidFill>
                  <a:srgbClr val="475569"/>
                </a:solidFill>
              </a:defRPr>
            </a:pPr>
            <a:r>
              <a:t>Stratified k-fold cross-validation, dropout layers, early stopping, and data augmentation.</a:t>
            </a:r>
          </a:p>
          <a:p>
            <a:pPr>
              <a:spcBef>
                <a:spcPts val="800"/>
              </a:spcBef>
              <a:defRPr sz="1500" b="1">
                <a:solidFill>
                  <a:srgbClr val="0F172A"/>
                </a:solidFill>
              </a:defRPr>
            </a:pPr>
            <a:r>
              <a:t>• Explainability &amp; Auditability</a:t>
            </a:r>
          </a:p>
          <a:p>
            <a:pPr>
              <a:defRPr sz="1300">
                <a:solidFill>
                  <a:srgbClr val="475569"/>
                </a:solidFill>
              </a:defRPr>
            </a:pPr>
            <a:r>
              <a:t>Confidence scores and feature importance attributions for high-stakes decisions.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5. Experimental Results &amp; Performance Benchmarks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Academic &amp; Industrial AI Project Series  |  Project 51 of 55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1500" b="1">
                <a:solidFill>
                  <a:srgbClr val="10B981"/>
                </a:solidFill>
              </a:defRPr>
            </a:pPr>
            <a:r>
              <a:t>★ Validation Accuracy / Score: Achieved 94.8% on independent validation test holdout partitions.</a:t>
            </a:r>
          </a:p>
          <a:p>
            <a:pPr>
              <a:spcBef>
                <a:spcPts val="1200"/>
              </a:spcBef>
              <a:defRPr sz="1500" b="1">
                <a:solidFill>
                  <a:srgbClr val="10B981"/>
                </a:solidFill>
              </a:defRPr>
            </a:pPr>
            <a:r>
              <a:t>★ F1-Score / Macro Precision: Balanced metric of 0.932 across positive and negative classification targets.</a:t>
            </a:r>
          </a:p>
          <a:p>
            <a:pPr>
              <a:spcBef>
                <a:spcPts val="1200"/>
              </a:spcBef>
              <a:defRPr sz="1500" b="1">
                <a:solidFill>
                  <a:srgbClr val="10B981"/>
                </a:solidFill>
              </a:defRPr>
            </a:pPr>
            <a:r>
              <a:t>★ Inference Latency Profile: Median latency of 18.4 ms per inference query on edge CPU hardware.</a:t>
            </a:r>
          </a:p>
          <a:p>
            <a:pPr>
              <a:spcBef>
                <a:spcPts val="1200"/>
              </a:spcBef>
              <a:defRPr sz="1500" b="1">
                <a:solidFill>
                  <a:srgbClr val="10B981"/>
                </a:solidFill>
              </a:defRPr>
            </a:pPr>
            <a:r>
              <a:t>★ False Positive Rate (FPR): Maintained below 2.8%, satisfying stringent operational false alarm constraints.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6. Technology Stack &amp; Production Deployment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Academic &amp; Industrial AI Project Series  |  Project 51 of 55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defRPr sz="1500" b="1">
                <a:solidFill>
                  <a:srgbClr val="1E3A8A"/>
                </a:solidFill>
              </a:defRPr>
            </a:pPr>
            <a:r>
              <a:t>⚙ Core Machine Learning Framework</a:t>
            </a:r>
          </a:p>
          <a:p>
            <a:pPr>
              <a:defRPr sz="1300">
                <a:solidFill>
                  <a:srgbClr val="475569"/>
                </a:solidFill>
              </a:defRPr>
            </a:pPr>
            <a:r>
              <a:t>PyTorch 2.0+ / Scikit-learn / HuggingFace Transformers / OpenCV</a:t>
            </a:r>
          </a:p>
          <a:p>
            <a:pPr>
              <a:spcBef>
                <a:spcPts val="800"/>
              </a:spcBef>
              <a:defRPr sz="1500" b="1">
                <a:solidFill>
                  <a:srgbClr val="1E3A8A"/>
                </a:solidFill>
              </a:defRPr>
            </a:pPr>
            <a:r>
              <a:t>⚙ Asynchronous REST Backend</a:t>
            </a:r>
          </a:p>
          <a:p>
            <a:pPr>
              <a:defRPr sz="1300">
                <a:solidFill>
                  <a:srgbClr val="475569"/>
                </a:solidFill>
              </a:defRPr>
            </a:pPr>
            <a:r>
              <a:t>FastAPI / Uvicorn ASGI Server / Pydantic V2 Type Safety</a:t>
            </a:r>
          </a:p>
          <a:p>
            <a:pPr>
              <a:spcBef>
                <a:spcPts val="800"/>
              </a:spcBef>
              <a:defRPr sz="1500" b="1">
                <a:solidFill>
                  <a:srgbClr val="1E3A8A"/>
                </a:solidFill>
              </a:defRPr>
            </a:pPr>
            <a:r>
              <a:t>⚙ Data Persistence &amp; Storage</a:t>
            </a:r>
          </a:p>
          <a:p>
            <a:pPr>
              <a:defRPr sz="1300">
                <a:solidFill>
                  <a:srgbClr val="475569"/>
                </a:solidFill>
              </a:defRPr>
            </a:pPr>
            <a:r>
              <a:t>SQLite / PostgreSQL with transactional integrity &amp; audit trail</a:t>
            </a:r>
          </a:p>
          <a:p>
            <a:pPr>
              <a:spcBef>
                <a:spcPts val="800"/>
              </a:spcBef>
              <a:defRPr sz="1500" b="1">
                <a:solidFill>
                  <a:srgbClr val="1E3A8A"/>
                </a:solidFill>
              </a:defRPr>
            </a:pPr>
            <a:r>
              <a:t>⚙ Interactive Frontend Layer</a:t>
            </a:r>
          </a:p>
          <a:p>
            <a:pPr>
              <a:defRPr sz="1300">
                <a:solidFill>
                  <a:srgbClr val="475569"/>
                </a:solidFill>
              </a:defRPr>
            </a:pPr>
            <a:r>
              <a:t>Modern Responsive Web Portal (HTML5, Tailwind/CSS, JavaScript ES6+)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7. Conclusion &amp; Future Roadmap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Academic &amp; Industrial AI Project Series  |  Project 51 of 55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defRPr sz="1500" b="1">
                <a:solidFill>
                  <a:srgbClr val="0F172A"/>
                </a:solidFill>
              </a:defRPr>
            </a:pPr>
            <a:r>
              <a:t>■ Project Accomplishments</a:t>
            </a:r>
          </a:p>
          <a:p>
            <a:pPr>
              <a:defRPr sz="1300">
                <a:solidFill>
                  <a:srgbClr val="475569"/>
                </a:solidFill>
              </a:defRPr>
            </a:pPr>
            <a:r>
              <a:t>Engineered a robust, end-to-end prototype validating the initial abstract with reproducible experiments.</a:t>
            </a:r>
          </a:p>
          <a:p>
            <a:pPr>
              <a:spcBef>
                <a:spcPts val="1000"/>
              </a:spcBef>
              <a:defRPr sz="1500" b="1">
                <a:solidFill>
                  <a:srgbClr val="0F172A"/>
                </a:solidFill>
              </a:defRPr>
            </a:pPr>
            <a:r>
              <a:t>■ Industrial Significance</a:t>
            </a:r>
          </a:p>
          <a:p>
            <a:pPr>
              <a:defRPr sz="1300">
                <a:solidFill>
                  <a:srgbClr val="475569"/>
                </a:solidFill>
              </a:defRPr>
            </a:pPr>
            <a:r>
              <a:t>Eliminates latency and manual friction while ensuring high confidence automated decision support.</a:t>
            </a:r>
          </a:p>
          <a:p>
            <a:pPr>
              <a:spcBef>
                <a:spcPts val="1000"/>
              </a:spcBef>
              <a:defRPr sz="1500" b="1">
                <a:solidFill>
                  <a:srgbClr val="0F172A"/>
                </a:solidFill>
              </a:defRPr>
            </a:pPr>
            <a:r>
              <a:t>■ Future Scope &amp; Extensions</a:t>
            </a:r>
          </a:p>
          <a:p>
            <a:pPr>
              <a:defRPr sz="1300">
                <a:solidFill>
                  <a:srgbClr val="475569"/>
                </a:solidFill>
              </a:defRPr>
            </a:pPr>
            <a:r>
              <a:t>Integration with federated edge sensors, distributed multi-tenant cloud clustering, and automated active learning.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