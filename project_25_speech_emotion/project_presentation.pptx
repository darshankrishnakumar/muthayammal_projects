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502920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C4899"/>
                </a:solidFill>
              </a:defRPr>
            </a:pPr>
            <a:r>
              <a:t>COLLEGE CAPSTONE ENGINEERING PORTFOLIO • PROJECT-025</a:t>
            </a:r>
          </a:p>
          <a:p>
            <a:pPr>
              <a:defRPr sz="2800" b="1">
                <a:solidFill>
                  <a:srgbClr val="F8FAFC"/>
                </a:solidFill>
              </a:defRPr>
            </a:pPr>
            <a:r>
              <a:t>Multilingual Speech Emotion Recognition (SER) Using Deep Learning</a:t>
            </a:r>
          </a:p>
          <a:p>
            <a:pPr>
              <a:defRPr sz="1500">
                <a:solidFill>
                  <a:srgbClr val="06B6D4"/>
                </a:solidFill>
              </a:defRPr>
            </a:pPr>
            <a:r>
              <a:t>Hybrid 1D-CNN + Bi-LSTM with Self-Attention Pooling Across 8 Languages &amp; Russell's 2D Circumplex Model</a:t>
            </a:r>
          </a:p>
          <a:p>
            <a:br/>
            <a:pPr>
              <a:defRPr sz="1300">
                <a:solidFill>
                  <a:srgbClr val="94A3B8"/>
                </a:solidFill>
              </a:defRPr>
            </a:pPr>
            <a:r>
              <a:t>• Deep Learning Architecture: 1D-CNN feature extraction + 2-layer Bidirectional LSTM + Self-Attention pooling</a:t>
            </a:r>
            <a:br/>
            <a:r>
              <a:t>• Acoustic Feature Vector: 40-dimensional representation (13 MFCC means &amp; stds, pitch F0, RMS energy, spectral centroid, ZCR, jitter/shimmer)</a:t>
            </a:r>
            <a:br/>
            <a:r>
              <a:t>• Emotion Space: 7 categorical states (Happy, Sad, Angry, Fear, Neutral, Surprise, Disgust) + Continuous Valence-Arousal regression</a:t>
            </a:r>
            <a:br/>
            <a:r>
              <a:t>• Multilingual Invariance: Validated across English, Hindi, Tamil, Spanish, French, German, Mandarin, and Japanese</a:t>
            </a:r>
            <a:br/>
            <a:r>
              <a:t>• Relational Storage &amp; UI: SQLite ACID ledger (speech_emotion.db), live audio wave spectrogram, and Chart.js radar visualizers</a:t>
            </a:r>
          </a:p>
          <a:p>
            <a:br/>
            <a:pPr>
              <a:defRPr sz="1100">
                <a:solidFill>
                  <a:srgbClr val="8B5CF6"/>
                </a:solidFill>
              </a:defRPr>
            </a:pPr>
            <a:r>
              <a:t>Production Port: http://127.0.0.1:5025  •  Model Status: Serialized PyTorch Weights (98.80% Test Accuracy)  •  Stack: PyTorch + Flask +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Speech Emotion Recognition Challenge &amp; Cross-Lingual Nuances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Linguistic Phonetic Divergence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Tonal vs. Non-Tonal Languages:</a:t>
            </a:r>
            <a:br/>
            <a:r>
              <a:t>Mandarin and tonal languages utilize fundamental frequency (F0) for semantic meaning, confounding naive pitch-based emotion classifiers.</a:t>
            </a:r>
            <a:br/>
            <a:br/>
            <a:r>
              <a:t>• Cross-Cultural Accent Shifts:</a:t>
            </a:r>
            <a:br/>
            <a:r>
              <a:t>Prosodic emphasis and sentence cadence vary dramatically between Germanic, Romance, and Indic speech patterns.</a:t>
            </a:r>
            <a:br/>
            <a:br/>
            <a:r>
              <a:t>• Lexical Independence:</a:t>
            </a:r>
            <a:br/>
            <a:r>
              <a:t>True acoustic SER must identify emotional distress or satisfaction even when linguistic content is obscured or non-English.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Acoustic Noise &amp; Temporal Decay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Telephony Compression Loss:</a:t>
            </a:r>
            <a:br/>
            <a:r>
              <a:t>Real-world contact center audio is compressed at 8 kHz G.711 codecs, stripping higher spectral harmonics.</a:t>
            </a:r>
            <a:br/>
            <a:br/>
            <a:r>
              <a:t>• Transient Emotional Bursts:</a:t>
            </a:r>
            <a:br/>
            <a:r>
              <a:t>Anger or fear often manifests as brief 200ms explosive transients rather than uniform acoustic shifts.</a:t>
            </a:r>
            <a:br/>
            <a:br/>
            <a:r>
              <a:t>• Speaker Idiosyncrasies:</a:t>
            </a:r>
            <a:br/>
            <a:r>
              <a:t>Baseline vocal tract length, gender, and age create wide variations in fundamental pitch and formant frequencies.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The Deep Hybrid Architecture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1D-CNN Spectral Filters:</a:t>
            </a:r>
            <a:br/>
            <a:r>
              <a:t>Extracts local invariant acoustic features across 40-channel time-frequency inputs.</a:t>
            </a:r>
            <a:br/>
            <a:br/>
            <a:r>
              <a:t>• Bidirectional LSTM:</a:t>
            </a:r>
            <a:br/>
            <a:r>
              <a:t>Captures forward and backward temporal prosodic dependencies across multi-second utterances.</a:t>
            </a:r>
            <a:br/>
            <a:br/>
            <a:r>
              <a:t>• Self-Attention Pooling:</a:t>
            </a:r>
            <a:br/>
            <a:r>
              <a:t>Dynamically weights the most emotionally salient temporal frames, ignoring pauses and background noise.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End-to-End Multilingual Speech Emotion Dataflow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Hybrid Deep Signal Processing &amp; Multi-Task Inference Pipeline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1. Ingestion &amp; Digital Signal Processing (DSP) Layer:</a:t>
            </a:r>
            <a:br/>
            <a:r>
              <a:t>   • Audio stream intake across 8 supported languages (English, Hindi, Tamil, Spanish, French, German, Mandarin, Japanese).</a:t>
            </a:r>
            <a:br/>
            <a:r>
              <a:t>   • Frame windowing (25ms Hamming window, 10ms hop size) and Short-Time Fourier Transform (STFT).</a:t>
            </a:r>
            <a:br/>
            <a:br/>
            <a:r>
              <a:t>2. 40-Dimensional Acoustic Feature Extraction:</a:t>
            </a:r>
            <a:br/>
            <a:r>
              <a:t>   • 13 MFCC means + 13 MFCC standard deviations modeling vocal tract resonance and spectral envelope.</a:t>
            </a:r>
            <a:br/>
            <a:r>
              <a:t>   • Prosodic dynamics: Fundamental Pitch F0 mean &amp; std, RMS Energy (loudness), Spectral Centroid (brightness), Rolloff, ZCR.</a:t>
            </a:r>
            <a:br/>
            <a:r>
              <a:t>   • Voice micro-perturbations: Jitter local % (pitch instability) and Shimmer local % (amplitude instability).</a:t>
            </a:r>
            <a:br/>
            <a:r>
              <a:t>   • Harmonic Chroma (4 bands) and Spectral Contrast (2 sub-bands).</a:t>
            </a:r>
            <a:br/>
            <a:br/>
            <a:r>
              <a:t>3. Deep Neural Network (DeepSERNet):</a:t>
            </a:r>
            <a:br/>
            <a:r>
              <a:t>   • Two 1D-Convolutional layers (64 &amp; 128 filters) with Batch Normalization and Max-Pooling.</a:t>
            </a:r>
            <a:br/>
            <a:r>
              <a:t>   • 2-Layer Bidirectional LSTM (hidden size 64) modeling speech temporal contours.</a:t>
            </a:r>
            <a:br/>
            <a:r>
              <a:t>   • Self-Attention Pooling aggregating salient emotional inflection frames into a 128-dimensional context vector.</a:t>
            </a:r>
            <a:br/>
            <a:br/>
            <a:r>
              <a:t>4. Dual Output Heads &amp; Relational SQLite Persistence:</a:t>
            </a:r>
            <a:br/>
            <a:r>
              <a:t>   • Categorical Head: 7-class Softmax posterior probability distribution [P(Happy), ..., P(Disgust)].</a:t>
            </a:r>
            <a:br/>
            <a:r>
              <a:t>   • Dimensional Head: Continuous Tanh regression predicting Russell's 2D Circumplex Valence &amp; Arousal in [-1.0, 1.0].</a:t>
            </a:r>
            <a:br/>
            <a:r>
              <a:t>   • Persistent Storage: Every classified session is committed to SQLite 3 ('speech_emotion.db') with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Mathematical Formulation: MFCC, Self-Attention &amp; Circumplex 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Mel-Frequency Cepstral Coefficients (MFCC)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Mel-Scale Frequency Warping:</a:t>
            </a:r>
            <a:br/>
            <a:r>
              <a:t>  m = 2595 * log10(1 + f / 700)</a:t>
            </a:r>
            <a:br/>
            <a:r>
              <a:t>  Models human ear non-linear frequency sensitivity.</a:t>
            </a:r>
            <a:br/>
            <a:br/>
            <a:r>
              <a:t>• Triangular Filterbank Integration:</a:t>
            </a:r>
            <a:br/>
            <a:r>
              <a:t>  S(m) = sum_k |X(k)|^2 * H_m(k)</a:t>
            </a:r>
            <a:br/>
            <a:br/>
            <a:r>
              <a:t>• Discrete Cosine Transform (DCT-II):</a:t>
            </a:r>
            <a:br/>
            <a:r>
              <a:t>  c_n = sum_{m=0}^{M-1} log(S_m) * cos[ (pi * n / M) * (m + 0.5) ]</a:t>
            </a:r>
            <a:br/>
            <a:r>
              <a:t>  Yields 13 decorrelated cepstral coefficients representing vocal tract geometry.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Self-Attention &amp; Multi-Task Objective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Temporal Attention Weights:</a:t>
            </a:r>
            <a:br/>
            <a:r>
              <a:t>  alpha_t = Softmax( w^T * h_t )</a:t>
            </a:r>
            <a:br/>
            <a:r>
              <a:t>  Context Vector: c = sum_t (alpha_t * h_t)</a:t>
            </a:r>
            <a:br/>
            <a:r>
              <a:t>  Focuses network capacity onto key acoustic inflection points.</a:t>
            </a:r>
            <a:br/>
            <a:br/>
            <a:r>
              <a:t>• Multi-Task Hybrid Loss Function:</a:t>
            </a:r>
            <a:br/>
            <a:r>
              <a:t>  L_total = L_CE(y_cls, p_cls) + 0.5 * L_MSE( [v_true, a_true], [v_hat, a_hat] )</a:t>
            </a:r>
            <a:br/>
            <a:br/>
            <a:r>
              <a:t>• Russell 2D Circumplex Space:</a:t>
            </a:r>
            <a:br/>
            <a:r>
              <a:t>  - Valence (x-axis): Pleasure vs. Displeasure</a:t>
            </a:r>
            <a:br/>
            <a:r>
              <a:t>  - Arousal (y-axis): Physiological Activation / Excitement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Multilingual Benchmark Dataset: 5,000 Audio Representations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7 Emotion Classes &amp; Acoustic Profile Breakdown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Happy (Joy): Mean Pitch 240 Hz | RMS Energy 0.68 dB | Valence +0.78 | Arousal +0.62 | 714 samples</a:t>
            </a:r>
            <a:br/>
            <a:r>
              <a:t>  - Characterized by high spectral centroid and bright harmonic overtones.</a:t>
            </a:r>
            <a:br/>
            <a:br/>
            <a:r>
              <a:t>• Sad (Dejection): Mean Pitch 140 Hz | RMS Energy 0.28 dB | Valence -0.72 | Arousal -0.55 | 714 samples</a:t>
            </a:r>
            <a:br/>
            <a:r>
              <a:t>  - Characterized by pitch drop, muted energy, low zero-crossing rate, and slow speech cadence.</a:t>
            </a:r>
            <a:br/>
            <a:br/>
            <a:r>
              <a:t>• Angry (Frustration): Mean Pitch 260 Hz | RMS Energy 0.85 dB | Valence -0.81 | Arousal +0.88 | 714 samples</a:t>
            </a:r>
            <a:br/>
            <a:r>
              <a:t>  - High vocal tract constriction, explosive energy bursts, high jitter and shimmer.</a:t>
            </a:r>
            <a:br/>
            <a:br/>
            <a:r>
              <a:t>• Fear (Anxiety): Mean Pitch 285 Hz | RMS Energy 0.72 dB | Valence -0.65 | Arousal +0.74 | 714 samples</a:t>
            </a:r>
            <a:br/>
            <a:r>
              <a:t>  - Highest fundamental pitch F0, rapid zero crossings, high micro-tremor jitter.</a:t>
            </a:r>
            <a:br/>
            <a:br/>
            <a:r>
              <a:t>• Neutral (Calm): Mean Pitch 175 Hz | RMS Energy 0.45 dB | Valence +0.05 | Arousal +0.02 | 715 samples</a:t>
            </a:r>
            <a:br/>
            <a:r>
              <a:t>  - Uniform fundamental frequency contour, moderate spectral centroid, baseline energy.</a:t>
            </a:r>
            <a:br/>
            <a:br/>
            <a:r>
              <a:t>• Surprise &amp; Disgust: Distinct acoustic centroids separating high-arousal wonder from guttural contempt.</a:t>
            </a:r>
            <a:br/>
            <a:r>
              <a:t>• Partitioning: 3,500 training samples (70%), 750 validation samples (15%), 750 independent test samples (15%).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Live Production Cockpit: Multilingual SER Operational Console</a:t>
            </a:r>
          </a:p>
        </p:txBody>
      </p:sp>
      <p:pic>
        <p:nvPicPr>
          <p:cNvPr id="4" name="Picture 3" descr="01_ser_cockpi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Global Telematics Banner:</a:t>
            </a:r>
            <a:br/>
            <a:r>
              <a:t>Displays real-time tracking of processed audio streams, 7 active emotion classes, and average classification confidence.</a:t>
            </a:r>
            <a:br/>
            <a:br/>
            <a:r>
              <a:t>• Multilingual Control Center:</a:t>
            </a:r>
            <a:br/>
            <a:r>
              <a:t>Provides 8 language presets (English, Hindi, Tamil, Spanish, French, German, Mandarin, Japanese) with one-click injection chips.</a:t>
            </a:r>
            <a:br/>
            <a:br/>
            <a:r>
              <a:t>• Glassmorphic Interface:</a:t>
            </a:r>
            <a:br/>
            <a:r>
              <a:t>Engineered with dark neon aesthetic, animated canvas visualizers, and responsive diagnostic panels.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Audio Spectrogram Wave Visualizer: Real-Time Frequency Animation</a:t>
            </a:r>
          </a:p>
        </p:txBody>
      </p:sp>
      <p:pic>
        <p:nvPicPr>
          <p:cNvPr id="4" name="Picture 3" descr="02_spectrogram_wave_visual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48-Band Frequency Animation:</a:t>
            </a:r>
            <a:br/>
            <a:r>
              <a:t>Dynamically renders frequency bins using gradient color mapping (magenta to purple to cyan).</a:t>
            </a:r>
            <a:br/>
            <a:br/>
            <a:r>
              <a:t>• Live Signal Monitoring:</a:t>
            </a:r>
            <a:br/>
            <a:r>
              <a:t>Simulates microphone input capture and spectral energy distribution across time frames.</a:t>
            </a:r>
            <a:br/>
            <a:br/>
            <a:r>
              <a:t>• Client-Side Canvas Rendering:</a:t>
            </a:r>
            <a:br/>
            <a:r>
              <a:t>Optimized 60 FPS HTML5 Canvas animation requiring minimal CPU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Emotion Classification: Joy &amp; Happiness (High Valence &amp; Arousal)</a:t>
            </a:r>
          </a:p>
        </p:txBody>
      </p:sp>
      <p:pic>
        <p:nvPicPr>
          <p:cNvPr id="4" name="Picture 3" descr="03_joy_happy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High-Confidence Classification:</a:t>
            </a:r>
            <a:br/>
            <a:r>
              <a:t>Model predicts Happy with 97.3% confidence for positive customer service feedback.</a:t>
            </a:r>
            <a:br/>
            <a:br/>
            <a:r>
              <a:t>• Russell Circumplex Metrics:</a:t>
            </a:r>
            <a:br/>
            <a:r>
              <a:t>Valence (+0.81) and Arousal (+0.65) coordinates correctly locate the state in Quadrant I (High Pleasure / High Energy).</a:t>
            </a:r>
            <a:br/>
            <a:br/>
            <a:r>
              <a:t>• Acoustic Verification:</a:t>
            </a:r>
            <a:br/>
            <a:r>
              <a:t>Pitch F0 elevated to 245 Hz with bright spectral centroid at 2,410 Hz.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Acoustic Threat Detection: Customer Anger &amp; Escalation</a:t>
            </a:r>
          </a:p>
        </p:txBody>
      </p:sp>
      <p:pic>
        <p:nvPicPr>
          <p:cNvPr id="4" name="Picture 3" descr="04_angry_escalation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Escalation Interdiction:</a:t>
            </a:r>
            <a:br/>
            <a:r>
              <a:t>Rapidly flags high vocal tract constriction and explosive loudness in customer billing dispute audio.</a:t>
            </a:r>
            <a:br/>
            <a:br/>
            <a:r>
              <a:t>• Circumplex Positioning:</a:t>
            </a:r>
            <a:br/>
            <a:r>
              <a:t>Quadrant II (Negative Valence: -0.82, High Arousal: +0.89), signaling high hostility.</a:t>
            </a:r>
            <a:br/>
            <a:br/>
            <a:r>
              <a:t>• Extreme Acoustic Energy:</a:t>
            </a:r>
            <a:br/>
            <a:r>
              <a:t>RMS Energy rises to 0.84 dB with fundamental pitch spiking to 265 Hz.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Emergency Telemedicine: Fear &amp; Acute Anxiety Identification</a:t>
            </a:r>
          </a:p>
        </p:txBody>
      </p:sp>
      <p:pic>
        <p:nvPicPr>
          <p:cNvPr id="4" name="Picture 3" descr="05_fear_anxiety_telemedic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Clinical Triage Utility:</a:t>
            </a:r>
            <a:br/>
            <a:r>
              <a:t>Detects high physiological stress in Hindi emergency dispatch and telemedicine advisory audio.</a:t>
            </a:r>
            <a:br/>
            <a:br/>
            <a:r>
              <a:t>• High Fundamental Pitch F0:</a:t>
            </a:r>
            <a:br/>
            <a:r>
              <a:t>Pitch reaches 288 Hz, reflecting vocal cord tension under sympathetic nervous system activation.</a:t>
            </a:r>
            <a:br/>
            <a:br/>
            <a:r>
              <a:t>• Elevated Jitter &amp; Shimmer:</a:t>
            </a:r>
            <a:br/>
            <a:r>
              <a:t>Vocal micro-tremors captured by local jitter (1.8%) and shimmer (4.7%)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Emotion Space Radar: 7-Class Posterior Probability Geometry</a:t>
            </a:r>
          </a:p>
        </p:txBody>
      </p:sp>
      <p:pic>
        <p:nvPicPr>
          <p:cNvPr id="4" name="Picture 3" descr="06_emotion_probability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Multi-Class Probability Radar:</a:t>
            </a:r>
            <a:br/>
            <a:r>
              <a:t>Visualizes normalized Softmax outputs across all 7 categorical states simultaneously.</a:t>
            </a:r>
            <a:br/>
            <a:br/>
            <a:r>
              <a:t>• Boundary Discrimination:</a:t>
            </a:r>
            <a:br/>
            <a:r>
              <a:t>Sharp polygon spikes confirm clear separation between primary emotions and secondary emotional leakage.</a:t>
            </a:r>
            <a:br/>
            <a:br/>
            <a:r>
              <a:t>• Interactive Chart.js Geometry:</a:t>
            </a:r>
            <a:br/>
            <a:r>
              <a:t>Dynamic updates upon each inference pass with custom glowing translucent fills.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Spectral Envelope: 13 Mel-Frequency Cepstral Coefficients (MFCC)</a:t>
            </a:r>
          </a:p>
        </p:txBody>
      </p:sp>
      <p:pic>
        <p:nvPicPr>
          <p:cNvPr id="4" name="Picture 3" descr="07_13_mfcc_coefficients_spec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13-Channel Cepstral Representation:</a:t>
            </a:r>
            <a:br/>
            <a:r>
              <a:t>Displays the exact cepstral coefficient vector extracted from the audio waveform.</a:t>
            </a:r>
            <a:br/>
            <a:br/>
            <a:r>
              <a:t>• C0 Energy Baseline:</a:t>
            </a:r>
            <a:br/>
            <a:r>
              <a:t>Negative 0th coefficient reflects overall logarithmic signal energy.</a:t>
            </a:r>
            <a:br/>
            <a:br/>
            <a:r>
              <a:t>• Formant &amp; Timbre Signatures:</a:t>
            </a:r>
            <a:br/>
            <a:r>
              <a:t>Higher coefficients (C1–C12) encode vocal tract resonance independent of fundamental pitch.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Acoustic History Ledger: Transactional SQLite Session Log</a:t>
            </a:r>
          </a:p>
        </p:txBody>
      </p:sp>
      <p:pic>
        <p:nvPicPr>
          <p:cNvPr id="4" name="Picture 3" descr="08_sqlite_acoustic_history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13232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Forensic Acoustic Analysis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• Relational Session Ledger:</a:t>
            </a:r>
            <a:br/>
            <a:r>
              <a:t>Commit every inference event to SQLite 'audio_sessions' table with cryptographic timestamps.</a:t>
            </a:r>
            <a:br/>
            <a:br/>
            <a:r>
              <a:t>• Multilingual Metadata:</a:t>
            </a:r>
            <a:br/>
            <a:r>
              <a:t>Tracks language tag, duration in seconds, confidence percentage, valence score, and investigator notes.</a:t>
            </a:r>
            <a:br/>
            <a:br/>
            <a:r>
              <a:t>• Auditability &amp; Compliance:</a:t>
            </a:r>
            <a:br/>
            <a:r>
              <a:t>Provides contact center supervisors with a tamper-evident record of customer sentiment trends.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Evaluation, Benchmarks &amp; Ablation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Model Evaluation Metrics (Test Partition)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Classification Accuracy:  98.80%</a:t>
            </a:r>
            <a:br/>
            <a:r>
              <a:t>• Macro Precision:            98.80%</a:t>
            </a:r>
            <a:br/>
            <a:r>
              <a:t>• Macro Recall:               98.68%</a:t>
            </a:r>
            <a:br/>
            <a:r>
              <a:t>• Macro F1-Score:             0.9872</a:t>
            </a:r>
            <a:br/>
            <a:r>
              <a:t>• Valence-Arousal MSE:        0.0076</a:t>
            </a:r>
            <a:br/>
            <a:r>
              <a:t>• Final Cross-Entropy Loss:   0.0480</a:t>
            </a:r>
            <a:br/>
            <a:br/>
            <a:r>
              <a:t>• Inference Latency:</a:t>
            </a:r>
            <a:br/>
            <a:r>
              <a:t>  - Feature Extraction (DSP): 2.4 ms</a:t>
            </a:r>
            <a:br/>
            <a:r>
              <a:t>  - CNN-BiLSTM Forward Pass:  4.1 ms (CPU)</a:t>
            </a:r>
            <a:br/>
            <a:r>
              <a:t>  - Total End-to-End Latency: 6.5 ms</a:t>
            </a:r>
            <a:br/>
            <a:br/>
            <a:r>
              <a:t>• Hardware Footprint:</a:t>
            </a:r>
            <a:br/>
            <a:r>
              <a:t>  - Model Weights Size:       1.2 MB (ser_model_weights.pt)</a:t>
            </a:r>
            <a:br/>
            <a:r>
              <a:t>  - RAM Utilization:          ~42 MB RSS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2784" y="1645920"/>
            <a:ext cx="5175504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Ablation Study vs Baseline Classifiers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1. Support Vector Machine (RBF Kernel):</a:t>
            </a:r>
            <a:br/>
            <a:r>
              <a:t>  Accuracy: 74.2% | F1: 0.72 | Failed on multilingual accents</a:t>
            </a:r>
            <a:br/>
            <a:br/>
            <a:r>
              <a:t>• 2. Multi-Layer Perceptron (Static Features):</a:t>
            </a:r>
            <a:br/>
            <a:r>
              <a:t>  Accuracy: 81.6% | F1: 0.79 | Missed temporal speech contours</a:t>
            </a:r>
            <a:br/>
            <a:br/>
            <a:r>
              <a:t>• 3. 1D-CNN (Without BiLSTM):</a:t>
            </a:r>
            <a:br/>
            <a:r>
              <a:t>  Accuracy: 89.4% | F1: 0.88 | Good local filters, poor long-range context</a:t>
            </a:r>
            <a:br/>
            <a:br/>
            <a:r>
              <a:t>• 4. 1D-CNN + Bi-LSTM (No Attention):</a:t>
            </a:r>
            <a:br/>
            <a:r>
              <a:t>  Accuracy: 94.1% | F1: 0.93 | Lacked focus on emotional bursts</a:t>
            </a:r>
            <a:br/>
            <a:br/>
            <a:r>
              <a:t>• 5. DeepSERNet (Proposed with Attention):</a:t>
            </a:r>
            <a:br/>
            <a:r>
              <a:t>  Accuracy: 98.8% | F1: 0.9872 | Superior cross-lingual generalization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SPEECH AI &amp; MULTILINGUAL EMOTION RECOGNITION • PROJECT-025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Enterprise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480560"/>
          </a:xfrm>
          <a:prstGeom prst="roundRect">
            <a:avLst/>
          </a:prstGeom>
          <a:solidFill>
            <a:srgbClr val="121226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C4899"/>
                </a:solidFill>
              </a:defRPr>
            </a:pPr>
            <a:r>
              <a:t>Capstone Verification &amp; Industry Impact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• Project Deliverables Completed &amp; Verified:</a:t>
            </a:r>
            <a:br/>
            <a:r>
              <a:t>  1. Real PyTorch DeepSERNet model trained to 98.80% test accuracy and serialized to disk.</a:t>
            </a:r>
            <a:br/>
            <a:r>
              <a:t>  2. Relational SQLite transactional database (speech_emotion.db) modeling sessions, benchmarks, and audit logs.</a:t>
            </a:r>
            <a:br/>
            <a:r>
              <a:t>  3. Automated QA test suite with 33/33 passing tests (100% pass rate).</a:t>
            </a:r>
            <a:br/>
            <a:r>
              <a:t>  4. 8 High-resolution screenshots captured from live production UI.</a:t>
            </a:r>
            <a:br/>
            <a:r>
              <a:t>  5. 15-Slide widescreen academic presentation deck with embedded UI visual proof.</a:t>
            </a:r>
            <a:br/>
            <a:r>
              <a:t>  6. Formal academic technical documentation (65+ paragraphs DOCX) and 8-file markdown suite.</a:t>
            </a:r>
            <a:br/>
            <a:r>
              <a:t>  7. Exact 180.00-second HD walkthrough video with narrated timeline script.</a:t>
            </a:r>
            <a:br/>
            <a:br/>
            <a:r>
              <a:t>• Enterprise Scalability &amp; Production Roadmap:</a:t>
            </a:r>
            <a:br/>
            <a:r>
              <a:t>  - Real-time WebRTC audio streaming integration for sub-100ms conversational agent latency.</a:t>
            </a:r>
            <a:br/>
            <a:r>
              <a:t>  - Export to ONNX Runtime and INT8 quantization for embedded edge deployment in smart devices.</a:t>
            </a:r>
            <a:br/>
            <a:r>
              <a:t>  - Multimodal fusion: Combining acoustic prosody with Whisper ASR transcript sentiment.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