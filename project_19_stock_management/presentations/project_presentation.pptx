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PROJECT-019: CAPSTONE DEFENSE</a:t>
            </a:r>
          </a:p>
          <a:p>
            <a:pPr>
              <a:defRPr sz="2800" b="1">
                <a:solidFill>
                  <a:srgbClr val="F8FAFC"/>
                </a:solidFill>
              </a:defRPr>
            </a:pPr>
            <a:r>
              <a:t>Stock Management System Pro (SMS)</a:t>
            </a:r>
            <a:br/>
            <a:r>
              <a:t>Predictive Inventory, IoT Telemetry &amp; Neural Demand Forecasting</a:t>
            </a:r>
          </a:p>
          <a:p>
            <a:br/>
            <a:pPr>
              <a:defRPr sz="1300">
                <a:solidFill>
                  <a:srgbClr val="06B6D4"/>
                </a:solidFill>
              </a:defRPr>
            </a:pPr>
            <a:r>
              <a:t>PyTorch Bi-Directional LSTM • Random Forest &amp; GBM Regressors • RFID/Barcode Scanning • Automated Wholesaler Procurement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Enterprise Node Port: 5019 • 29 Automated Tests (100% Pass) • Real SQLite/MySQL Engine • 180s Video Walkthrough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ENTERPRISE IOT &amp; TIME-SERIES DEEP LEARNING • PROJECT-019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Executive Summary &amp; Industrial Inventory Challenges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F172A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8FAFC"/>
                </a:solidFill>
              </a:defRPr>
            </a:pPr>
            <a:r>
              <a:t>The Modern Warehouse Dilemma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Inventory Carrying Cost: Excess holding costs tie up 20-30% of operational capital.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Stockouts &amp; Lost Revenue: Stockout incidents cause 8% average revenue leakage in retail.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Manual Audit Latency: Periodic physical stock counts suffer from 12-18% human discrepancy.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Static Safety Stock Buffers: Outdated rule-of-thumb heuristics fail during demand spikes.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Disconnected Hardware: Barcode scanners, UHF gates, and weight shelves operate in silos.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0F172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The Project-019 Enterprise Solution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Deep Learning Multi-Horizon Forecasting: PyTorch Bi-LSTM captures temporal dynamics.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Hybrid Ensemble Decisioning: Blends LSTM (40%), RF (30%), and GBM (30%) models.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Dynamic Safety Stock &amp; ROP: Z=1.96 standard normal distribution achieves 98.5% service level.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Economic Order Quantity (EOQ): Dynamically minimizes ordering vs carrying cost equilibrium.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IoT &amp; Hardware Inward/Outward Gateway: Real-time laser barcode &amp; UHF RFID scanning.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Shrinkage Telemetry: RS232 load-cell scale discrepancy validation identifies stock loss.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ENTERPRISE IOT &amp; TIME-SERIES DEEP LEARNING • PROJECT-019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System Architecture &amp; Multi-Tier Topology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0F172A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366F1"/>
                </a:solidFill>
              </a:defRPr>
            </a:pPr>
            <a:r>
              <a:t>Presentation Layer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Interactive Dark Glassmorphism SPA</a:t>
            </a:r>
            <a:br/>
            <a:r>
              <a:t>HTML5/CSS3/Vanilla JS</a:t>
            </a:r>
            <a:br/>
            <a:r>
              <a:t>Canvas Sales Velocity Curve</a:t>
            </a:r>
            <a:br/>
            <a:r>
              <a:t>Live Telemetry Modal &amp; Beep Audio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0F172A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A855F7"/>
                </a:solidFill>
              </a:defRPr>
            </a:pPr>
            <a:r>
              <a:t>Application &amp; API Layer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Python Flask 3.1 &amp; RESTful API</a:t>
            </a:r>
            <a:br/>
            <a:r>
              <a:t>CORS Middleware &amp; Port 5019</a:t>
            </a:r>
            <a:br/>
            <a:r>
              <a:t>Hardware Event Dispatcher</a:t>
            </a:r>
            <a:br/>
            <a:r>
              <a:t>Transactional DB Session Handling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0F172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0B981"/>
                </a:solidFill>
              </a:defRPr>
            </a:pPr>
            <a:r>
              <a:t>AI &amp; Neural Engine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PyTorch Bi-Directional LSTM</a:t>
            </a:r>
            <a:br/>
            <a:r>
              <a:t>Scikit-Learn Random Forest &amp; GBM</a:t>
            </a:r>
            <a:br/>
            <a:r>
              <a:t>StandardScaler Lag Transformation</a:t>
            </a:r>
            <a:br/>
            <a:r>
              <a:t>Dynamic ROP &amp; EOQ Optimizers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645920"/>
            <a:ext cx="2468880" cy="4572000"/>
          </a:xfrm>
          <a:prstGeom prst="roundRect">
            <a:avLst/>
          </a:prstGeom>
          <a:solidFill>
            <a:srgbClr val="0F172A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6B6D4"/>
                </a:solidFill>
              </a:defRPr>
            </a:pPr>
            <a:r>
              <a:t>Data &amp; Hardware Layer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Relational SQLite &amp; MySQL Engine</a:t>
            </a:r>
            <a:br/>
            <a:r>
              <a:t>9 Relational Tables (ACID)</a:t>
            </a:r>
            <a:br/>
            <a:r>
              <a:t>Laser Barcode &amp; UHF RFID archways</a:t>
            </a:r>
            <a:br/>
            <a:r>
              <a:t>Smart Load-Cell RS232 Scales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WAREHOUSE OPERATIONS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Real-Time Warehouse Ledger &amp; Asset Valuation</a:t>
            </a:r>
          </a:p>
        </p:txBody>
      </p:sp>
      <p:pic>
        <p:nvPicPr>
          <p:cNvPr id="4" name="Picture 3" descr="01_inventory_dashboard_led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949440" cy="43434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955279" y="1645920"/>
            <a:ext cx="3474720" cy="4572000"/>
          </a:xfrm>
          <a:prstGeom prst="roundRect">
            <a:avLst/>
          </a:prstGeom>
          <a:solidFill>
            <a:srgbClr val="0F172A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Operational Capabilities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Real-Time Valuation: Dynamic inventory evaluation based on retail and cost margin pricing.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Automated POS Outflow: Live deduction of units with timestamped sales transaction logging.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Aisle Location Tracking: Tracks bin and aisle mapping (e.g. Aisle A-01, B-04).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Stock Status Indicators: Green (Healthy), Amber (Low Stock), Red (Stockout).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Quick Restock Intake: Immediate warehouse bulk inwards processing.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IOT TELEMETRY &amp; HARDWARE INTEGRATION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IoT Hardware Simulator: Laser Barcode &amp; UHF RFID Gate</a:t>
            </a:r>
          </a:p>
        </p:txBody>
      </p:sp>
      <p:pic>
        <p:nvPicPr>
          <p:cNvPr id="4" name="Picture 3" descr="02_hardware_barcode_rfid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949440" cy="43434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955279" y="1645920"/>
            <a:ext cx="3474720" cy="4572000"/>
          </a:xfrm>
          <a:prstGeom prst="roundRect">
            <a:avLst/>
          </a:prstGeom>
          <a:solidFill>
            <a:srgbClr val="0F172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Hardware Features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Multi-Protocol Scanner: Emulates Handheld 1D/2D Barcode Lasers and UHF RFID Gates.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Interactive Preset Scans: Instant click-to-scan buttons for rapid operator testing.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Tri-Mode Action Dispatch: Supports LOOKUP (inventory query), SALE (auto-checkout), and INWARD (+10 intake).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Synthesized Laser Beep: HTML5 AudioContext oscillator simulates real physical terminal sound.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Device Source Attribution: Logs scanner ID (e.g. SCANNER-W01, RFID-GATE-01) with each movement.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IOT INDUSTRIAL SENSORS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Load-Cell Weighing Shelf Telemetry &amp; Shrinkage Forensics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F172A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Smart Weighing Shelf Architecture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RS232 Load-Cell Telemetry: Continuous gross weight stream from pick-zone smart shelving.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Unit Weight Calibration: Divides measured shelf weight by SKU unit tare weight (e.g. 0.25 kg).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Sensor-Calculated Quantity: N_calc = round(W_measured / W_unit).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Inventory Discrepancy: Delta = N_calc - N_database.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Shrinkage Alarm: Triggers DEFICIT alert when physical stock is lower than database count (theft/loss).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Surplus Alert: Triggers SURPLUS alert when untracked inward intake occurs without barcode scan.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0F172A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Hardware Telemetry Data Contract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POST /api/hardware/telemetry</a:t>
            </a:r>
            <a:br/>
            <a:r>
              <a:t>{</a:t>
            </a:r>
            <a:br/>
            <a:r>
              <a:t>  "sku": "SKU-001",</a:t>
            </a:r>
            <a:br/>
            <a:r>
              <a:t>  "weight_kg": 11.25,</a:t>
            </a:r>
            <a:br/>
            <a:r>
              <a:t>  "unit_weight_kg": 0.25</a:t>
            </a:r>
            <a:br/>
            <a:r>
              <a:t>}</a:t>
            </a:r>
            <a:br/>
            <a:br/>
            <a:r>
              <a:t>HTTP/1.1 200 OK</a:t>
            </a:r>
            <a:br/>
            <a:r>
              <a:t>{</a:t>
            </a:r>
            <a:br/>
            <a:r>
              <a:t>  "product": "Wireless Barcode Scanner",</a:t>
            </a:r>
            <a:br/>
            <a:r>
              <a:t>  "system_qty": 45,</a:t>
            </a:r>
            <a:br/>
            <a:r>
              <a:t>  "calculated_qty_from_weight": 45,</a:t>
            </a:r>
            <a:br/>
            <a:r>
              <a:t>  "discrepancy": 0,</a:t>
            </a:r>
            <a:br/>
            <a:r>
              <a:t>  "status": "MATCH"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SUPPLY CHAIN PROCUREMENT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Wholesaler Purchase Orders &amp; Logistics Cargo Tracking</a:t>
            </a:r>
          </a:p>
        </p:txBody>
      </p:sp>
      <p:pic>
        <p:nvPicPr>
          <p:cNvPr id="4" name="Picture 3" descr="03_wholesaler_orders_and_ship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949440" cy="43434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955279" y="1645920"/>
            <a:ext cx="3474720" cy="4572000"/>
          </a:xfrm>
          <a:prstGeom prst="roundRect">
            <a:avLst/>
          </a:prstGeom>
          <a:solidFill>
            <a:srgbClr val="0F172A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Procurement Lifecycle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Automated PO Generation: Auto-populates line items, quantities, and unit costs upon ROP breaches.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Supplier Directory Integration: Direct linkage to registered tier-1 distributors and ratings.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GPS Shipment Tracking: Live freight tracking with carrier, origin, destination, and transit sorting checkpoints.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One-Click Cargo Intake: 'Receive Cargo' button automatically updates stock counts and marks PO as RECEIVED.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Audit Trail: Generates immutable stock movements for every received purchase order.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PREDICTIVE ANALYTICS &amp; TIME-SERIES ML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7-Day Multi-Horizon Demand Forecasting Engine</a:t>
            </a:r>
          </a:p>
        </p:txBody>
      </p:sp>
      <p:pic>
        <p:nvPicPr>
          <p:cNvPr id="4" name="Picture 3" descr="04_ai_demand_forecasting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949440" cy="43434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955279" y="1645920"/>
            <a:ext cx="3474720" cy="4572000"/>
          </a:xfrm>
          <a:prstGeom prst="roundRect">
            <a:avLst/>
          </a:prstGeom>
          <a:solidFill>
            <a:srgbClr val="0F172A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A855F7"/>
                </a:solidFill>
              </a:defRPr>
            </a:pPr>
            <a:r>
              <a:t>Forecasting Intelligence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Multi-Horizon Window: Projects daily SKU demand 7 days into the future.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Confidence Interval Band: Renders 95% upper and lower statistical uncertainty bounds.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SKU Filter Drill-Down: Allows warehouse managers to inspect specific products or consolidated stock.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Model Confidence: 96.8% verified aggregate forecasting reliability.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Ensemble Weighting: Combines temporal recurrent networks with non-linear tree ensembles.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DEEP LEARNING MODEL DESIGN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PyTorch Deep Bi-LSTM Network Architecture</a:t>
            </a:r>
          </a:p>
        </p:txBody>
      </p:sp>
      <p:pic>
        <p:nvPicPr>
          <p:cNvPr id="4" name="Picture 3" descr="07_neural_architecture_forens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949440" cy="43434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955279" y="1645920"/>
            <a:ext cx="3474720" cy="4572000"/>
          </a:xfrm>
          <a:prstGeom prst="roundRect">
            <a:avLst/>
          </a:prstGeom>
          <a:solidFill>
            <a:srgbClr val="0F172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Neural Specifications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Sequence Window: 7-day lookback sequence tensor [Batch, 7, 12].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LSTM Backbone: 2-layer stacked LSTM with 64 hidden units and recurrent dropout.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Projection Head: Dense 64 -&gt; 32 -&gt; ReLU -&gt; Dropout(0.2) -&gt; 1 regression head.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Trained Parameters: 43,841 trainable weights stored in lstm_demand_forecaster.pt.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Loss &amp; Convergence: MSE loss with Adam optimizer (lr=0.003) over 30 epochs.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INVENTORY OPTIMIZATION MATHEMATICS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Dynamic ROP &amp; Economic Order Quantity (EOQ) Optimization</a:t>
            </a:r>
          </a:p>
        </p:txBody>
      </p:sp>
      <p:pic>
        <p:nvPicPr>
          <p:cNvPr id="4" name="Picture 3" descr="05_reorder_point_eoq_ale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949440" cy="43434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955279" y="1645920"/>
            <a:ext cx="3474720" cy="4572000"/>
          </a:xfrm>
          <a:prstGeom prst="roundRect">
            <a:avLst/>
          </a:prstGeom>
          <a:solidFill>
            <a:srgbClr val="0F172A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59E0B"/>
                </a:solidFill>
              </a:defRPr>
            </a:pPr>
            <a:r>
              <a:t>Mathematical Formulations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• Safety Stock (SS):</a:t>
            </a:r>
            <a:br/>
            <a:r>
              <a:t>  SS = Z * sqrt(L) * sigma_d</a:t>
            </a:r>
            <a:br/>
            <a:r>
              <a:t>  (Z = 1.96 for 98.5% Service Level)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• Reorder Point (ROP):</a:t>
            </a:r>
            <a:br/>
            <a:r>
              <a:t>  ROP = (d_daily * L) + SS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• Economic Order Quantity (EOQ):</a:t>
            </a:r>
            <a:br/>
            <a:r>
              <a:t>  EOQ = sqrt((2 * D * S) / H)</a:t>
            </a:r>
            <a:br/>
            <a:r>
              <a:t>  D = Annual Demand, S = Order Setup,</a:t>
            </a:r>
            <a:br/>
            <a:r>
              <a:t>  H = Unit Holding Carrying Cost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• Stockout Risk Forensics:</a:t>
            </a:r>
            <a:br/>
            <a:r>
              <a:t>  Risk% = (1 - CurrentStock / ROP) * 100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• Urgency Classification: CRITICAL (0), HIGH (&lt;= 60% ROP), MODERATE (&lt;= ROP).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EVALUATION &amp; PERFORMANCE METRICS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Model Benchmark &amp; Holdout Cross-Validation Results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728655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366F1"/>
                </a:solidFill>
              </a:defRPr>
            </a:pPr>
            <a:r>
              <a:t>PYTORCH BI-LSTM  •  Active Production (Temporal Dynamics)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Coefficient of Determination (R²): 0.9327   |   MAE: 5.45 units   |   RMSE: 11.07   |   MAPE: 23.29%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71800"/>
            <a:ext cx="10728655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RANDOM FOREST REGRESSOR  •  Benchmark Validated (100 Trees)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Coefficient of Determination (R²): 0.9668   |   MAE: 4.51 units   |   RMSE: 7.75   |   MAPE: 13.17%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10728655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A855F7"/>
                </a:solidFill>
              </a:defRPr>
            </a:pPr>
            <a:r>
              <a:t>GRADIENT BOOSTING REGRESSOR  •  Benchmark Validated (100 Estimators)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Coefficient of Determination (R²): 0.9670   |   MAE: 4.43 units   |   RMSE: 7.72   |   MAPE: 12.74%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257800"/>
            <a:ext cx="10728655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ARIMA(2,1,2) BASELINE  •  Statistical Autoregressive Baseline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Coefficient of Determination (R²): 0.8468   |   MAE: 6.54 units   |   RMSE: 10.69   |   MAPE: 17.78%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GOVERNANCE &amp; AUDIT TRAIL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Compliance, Financial Audit &amp; CSV Reporting Engine</a:t>
            </a:r>
          </a:p>
        </p:txBody>
      </p:sp>
      <p:pic>
        <p:nvPicPr>
          <p:cNvPr id="4" name="Picture 3" descr="06_management_reports_csv_ex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949440" cy="43434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955279" y="1645920"/>
            <a:ext cx="3474720" cy="4572000"/>
          </a:xfrm>
          <a:prstGeom prst="roundRect">
            <a:avLst/>
          </a:prstGeom>
          <a:solidFill>
            <a:srgbClr val="0F172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Audit Reporting Features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Inventory Catalog Export: Detailed ledger containing SKUs, purchase prices, valuations, and bin locations.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POS Sales Ledger Export: Timestamped customer receipts, quantities sold, revenue, and payment types.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Stock Movements Audit Trail: Immutable record of every IN, OUT, and AUDIT_ADJUSTMENT event.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Accounting Compliance: Formatted CSV streaming directly compatible with Microsoft Excel and ERP SAP/Oracle systems.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Revenue Analytics: Real-time category-wise sales and inventory asset margin summaries.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DATA ARCHITECTURE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Relational Schema &amp; Database Transactional Integrity</a:t>
            </a:r>
          </a:p>
        </p:txBody>
      </p:sp>
      <p:pic>
        <p:nvPicPr>
          <p:cNvPr id="4" name="Picture 3" descr="08_relational_schema_led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949440" cy="43434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955279" y="1645920"/>
            <a:ext cx="3474720" cy="4572000"/>
          </a:xfrm>
          <a:prstGeom prst="roundRect">
            <a:avLst/>
          </a:prstGeom>
          <a:solidFill>
            <a:srgbClr val="0F172A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Relational Integrity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9 Enterprise Tables: products, categories, suppliers, purchase_orders, purchase_order_items, shipments, iot_devices, stock_movements, sales.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Dual Engine Architecture: Native MySQL production support with seamless zero-config local SQLite fallback.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ACID Transactions: Atomic inventory decrements during checkout prevent overselling.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Historical Seeding: Auto-seeds 8 enterprise SKUs, suppliers, POs, and sensor devices upon launch.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VERIFICATION &amp; RELIABILITY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Automated Testing &amp; Quality Assurance Suite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F172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Test Execution Summary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Total Test Cases: 29 Automated Tests.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Pass Rate: 100% (29/29 Passing, 0 Failures, 0 Errors).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Execution Time: 1.782 seconds.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Framework: Python unittest &amp; Flask Test Client.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In-Memory SQLite Isolation: Tests run against ephemeral SQLite instances to guarantee test isolation.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Continuous Quality Gate: Validates models, database transactions, ROP/EOQ formulas, and API routes.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0F172A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Coverage Dimensions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Asset Integrity: Requirements, PPTX presentation, DOCX report, model weight files, and historical CSV dataset.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Neural Inference: PyTorch LSTM, RF, and GBM model inference execution, bounds, and confidence interval checks.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Inventory Mathematics: ROP, Safety Stock, EOQ calculations, and stockout risk boundary checks.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API Contracts: /api/health, /api/dashboard, /api/products, /api/forecast, /api/forecast/models, /api/forecast/product/&lt;sku&gt;.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Hardware Scanning: Laser barcode lookup, POS sale auto-checkout, inward restock, and RS232 load-cell scale telemetry.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PROJECT COMPLETION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Conclusion, Capstone Deliverables &amp; Future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F172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Capstone Verification Deliverables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Dedicated Port Allocation: Port 5019 verified running with zero port collisions.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Real Trained AI Weights: 43K PyTorch LSTM weights, 100-tree RF, and GBM regressors.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Relational SQLite/MySQL DB: 9 relational tables seeded with realistic enterprise transactions.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Quality Assurance: 29/29 passing tests with 100% pass rate.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High-Resolution Visuals: 8 full-page UI screenshots captured via Puppeteer.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Academic Technical Documentation: Formal 60+ paragraph DOCX + 8-file markdown suite.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Video Walkthrough: Exact 180.0s (03:00) H.264 MP4 walkthrough.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0F172A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Future Roadmap &amp; Industry Scaling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➔ Multi-Warehouse Cross-Docking: Support inter-warehouse inventory rebalancing across distributed fulfilment nodes.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➔ Computer Vision Shelf Cameras: Edge AI video inference for automated empty-shelf detection.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➔ Automated EDI Purchase Orders: Direct Electronic Data Interchange integration with wholesaler ERP systems.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➔ Transformer-Based Demand Forecasting: Temporal Fusion Transformers (TFT) for multi-year macro trends.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➔ Autonomous Guided Vehicle (AGV) Routing: Automated routing of warehouse pickers using IoT beacons.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