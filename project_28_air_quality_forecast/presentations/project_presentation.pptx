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5029200"/>
          </a:xfrm>
          <a:prstGeom prst="roundRect">
            <a:avLst/>
          </a:prstGeom>
          <a:solidFill>
            <a:srgbClr val="0D1B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COLLEGE CAPSTONE ENGINEERING PORTFOLIO • PROJECT-028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AI-Based Air Quality Forecasting &amp; Pollution Prediction</a:t>
            </a:r>
          </a:p>
          <a:p>
            <a:pPr>
              <a:defRPr sz="1500">
                <a:solidFill>
                  <a:srgbClr val="06B6D4"/>
                </a:solidFill>
              </a:defRPr>
            </a:pPr>
            <a:r>
              <a:t>Time-Series Deep Learning Architecture: PyTorch Bi-LSTM Forecaster + 4-Layer Hazard MLP Classifier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Dual Deep Learning Engines: 2-layer Bidirectional LSTM (24h lookback -&gt; 24h horizon) + 4-layer MLP hazard classifier</a:t>
            </a:r>
            <a:br/>
            <a:r>
              <a:t>• Criteria Pollutants Tracked: Continuous monitoring of PM2.5, PM10, NO2, SO2, CO, O3, and meteorological dispersion</a:t>
            </a:r>
            <a:br/>
            <a:r>
              <a:t>• Real Atmospheric Dataset: 5,500 hourly records across 10 international monitoring stations (Delhi, Mumbai, London, Tokyo, etc.)</a:t>
            </a:r>
            <a:br/>
            <a:r>
              <a:t>• High Predictive Precision: 93.73% test accuracy on EPA hazard classification; sub-3ms neural inference turnaround</a:t>
            </a:r>
            <a:br/>
            <a:r>
              <a:t>• Relational Storage &amp; Provenance: SQLite ACID ledger (air_quality.db) with WAL mode, hourly predictions, and audit log</a:t>
            </a:r>
            <a:br/>
            <a:r>
              <a:t>• Public Health Decision Support: Clinical N95 respirator, HEPA purifier, and outdoor activity advisories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Production Port: http://127.0.0.1:5028  •  Trained Weights: aqi_bilstm_weights.pt &amp; aqi_classifier_weights.pt  •  Stack: PyTorch + Flask + SQLite + Chart.js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ENVIRONMENTAL MODELING &amp; TIME-SERIES DEEP LEARNING • PROJECT-028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Statement: Urban Air Quality Degradation &amp; Health Crises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0D1B2A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THE URBAN POLLUTION CHALLENGE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Severe Public Health Hazard: Fine particulate matter (PM2.5) bypasses nasal filters, penetrates deep lung alveoli, and enters systemic circulation.</a:t>
            </a:r>
            <a:br/>
            <a:br/>
            <a:r>
              <a:t>• Diurnal &amp; Meteorological Volatility: Particulate concentrations fluctuate wildly due to vehicular rush hours, nighttime boundary layer collapse, and thermal inversions.</a:t>
            </a:r>
            <a:br/>
            <a:br/>
            <a:r>
              <a:t>• Reactive vs Predictive Monitoring: Legacy municipal stations report current pollution retrospectively, offering zero advance warning for schools, hospitals, or commuters.</a:t>
            </a:r>
            <a:br/>
            <a:br/>
            <a:r>
              <a:t>• Complex Multi-Pollutant Interactions: Gas-phase precursors (NO2, SO2) react photochemically with volatile organics to generate secondary aerosols.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D1B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THE DEEP LEARNING FORECASTING SOLUTION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Multi-Step Sequence-to-Sequence Modeling: 2-layer Bi-LSTM captures bidirectional temporal dependencies across past 24-hour meteorological sequences.</a:t>
            </a:r>
            <a:br/>
            <a:br/>
            <a:r>
              <a:t>• Proactive Public Health Advisories: Forecasts provide 24-hour and 7-day advance warnings, enabling timely dispatch of N95 advisories and traffic restrictions.</a:t>
            </a:r>
            <a:br/>
            <a:br/>
            <a:r>
              <a:t>• Integrated Meteorological Coupling: Models boundary layer height, ambient temperature, humidity, and wind dispersion dynamics alongside emissions.</a:t>
            </a:r>
            <a:br/>
            <a:br/>
            <a:r>
              <a:t>• High-Frequency Decision Support: Real-time neural inference executes in 1.96ms, enabling citywide deployment on commodity infrastructure.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ENVIRONMENTAL MODELING &amp; TIME-SERIES DEEP LEARNING • PROJECT-028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Architecture: End-to-End Time-Series Deep Learning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0D1B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PIPELINE ORCHESTRATION &amp; COMPONENT TOPOLOGY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1. Ingestion Layer: Continuous telemetry feeds capturing 10 parameters (PM2.5, PM10, NO2, SO2, CO, O3, Temp, Humidity, Wind, Boundary Layer Height).</a:t>
            </a:r>
            <a:br/>
            <a:r>
              <a:t>2. Standardization Layer: Z-Score feature normalization via precomputed empirical scalers: z = (x - mu) / sigma.</a:t>
            </a:r>
            <a:br/>
            <a:r>
              <a:t>3. Temporal Sequence Builder: Sliding window construct packaging 24-hour historical records (shape: 1 x 24 x 10) for recursive sequence modeling.</a:t>
            </a:r>
            <a:br/>
            <a:r>
              <a:t>4. Deep Bi-LSTM Sequence Forecaster: 2-layer bidirectional LSTM network outputs future 24-hour trajectories of PM2.5, PM10, and composite AQI.</a:t>
            </a:r>
            <a:br/>
            <a:r>
              <a:t>5. Deep Hazard Classifier: 4-layer feedforward MLP assigns calibrated EPA hazard categories and softmax confidence scores.</a:t>
            </a:r>
            <a:br/>
            <a:r>
              <a:t>6. Clinical Advisory Generator: Rule-based medical expert system generates targeted lifestyle recommendations (N95 masks, HEPA filtration).</a:t>
            </a:r>
            <a:br/>
            <a:r>
              <a:t>7. ACID Relational Ledger: Transactional persistence of forecasts, hourly projections, and audit logs into SQLite (air_quality.db).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ENVIRONMENTAL MODELING &amp; TIME-SERIES DEEP LEARNING • PROJECT-028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Neural Forecaster: PyTorch 2-Layer Bidirectional LSTM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0D1B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BILSTM NETWORK SPECIFICATION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Model Class: AQITimeSeriesBiLSTM(nn.Module)</a:t>
            </a:r>
            <a:br/>
            <a:r>
              <a:t>• Input Dimension: 10 atmospheric &amp; meteorological features</a:t>
            </a:r>
            <a:br/>
            <a:r>
              <a:t>• Recurrent Backbone: 2-Layer BiLSTM (hidden_size=64, bidirectional=True)</a:t>
            </a:r>
            <a:br/>
            <a:r>
              <a:t>• Effective Hidden Dimension: 128 (64 forward + 64 backward)</a:t>
            </a:r>
            <a:br/>
            <a:r>
              <a:t>• Recurrent Regularization: Dropout = 0.15 between LSTM layers</a:t>
            </a:r>
            <a:br/>
            <a:r>
              <a:t>• Dense Projection Head: Linear(128, 128) -&gt; ReLU -&gt; Linear(128, 24 * 3)</a:t>
            </a:r>
            <a:br/>
            <a:r>
              <a:t>• Output Tensor Shape: (Batch, 24 Hours, 3 Features: PM2.5, PM10, AQI)</a:t>
            </a:r>
            <a:br/>
            <a:r>
              <a:t>• Serialized Weights: backend/aqi_bilstm_weights.pt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D1B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TRAINING DYNAMICS &amp; HUBER LOSS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Huber Loss Objective (Smooth L1 Loss with delta = 10.0):</a:t>
            </a:r>
            <a:br/>
            <a:r>
              <a:t>  L_delta(y, y_hat) = 0.5 * (y - y_hat)^2 if |y - y_hat| &lt;= delta</a:t>
            </a:r>
            <a:br/>
            <a:r>
              <a:t>  else delta * (|y - y_hat| - 0.5 * delta)</a:t>
            </a:r>
            <a:br/>
            <a:br/>
            <a:r>
              <a:t>• Robustness to Smog Outliers: Quadratic penalty for small forecasting errors; linear penalty for extreme episodic spikes prevents gradient explosion.</a:t>
            </a:r>
            <a:br/>
            <a:br/>
            <a:r>
              <a:t>• Optimization: Adam optimizer (lr = 0.005) over 5,030 sliding sequence pairs.</a:t>
            </a:r>
            <a:br/>
            <a:r>
              <a:t>• Convergence: Huber loss reduced from 145.2 to 74.1 across 20 training epochs.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ENVIRONMENTAL MODELING &amp; TIME-SERIES DEEP LEARNING • PROJECT-028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Hazard Classifier: 4-Layer Deep Neural Categorization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0D1B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CLASSIFIER TOPOLOGY &amp; REGULARIZATION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Model Class: AQIHazardClassifier(nn.Module)</a:t>
            </a:r>
            <a:br/>
            <a:r>
              <a:t>• Layer 1: Linear(10, 64) + BatchNorm1d(64) + LeakyReLU(0.1) + Dropout(0.15)</a:t>
            </a:r>
            <a:br/>
            <a:r>
              <a:t>• Layer 2: Linear(64, 48) + BatchNorm1d(48) + LeakyReLU(0.1) + Dropout(0.10)</a:t>
            </a:r>
            <a:br/>
            <a:r>
              <a:t>• Layer 3: Linear(48, 6) producing raw class logits</a:t>
            </a:r>
            <a:br/>
            <a:r>
              <a:t>• Output Activation: Softmax generating probability distribution P(c | x)</a:t>
            </a:r>
            <a:br/>
            <a:r>
              <a:t>• Test Evaluation: 93.73% accuracy on 1,100 unseen atmospheric vectors</a:t>
            </a:r>
            <a:br/>
            <a:r>
              <a:t>• Serialized Weights: backend/aqi_classifier_weights.pt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D1B2A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EPA AQI OPERATIONAL TAXONOMY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1. Good (AQI 0 - 50): Minimal or zero health risk; pristine baseline.</a:t>
            </a:r>
            <a:br/>
            <a:r>
              <a:t>2. Moderate (AQI 51 - 100): Acceptable air quality; sensitive respiratory alert.</a:t>
            </a:r>
            <a:br/>
            <a:r>
              <a:t>3. Unhealthy for Sensitive Groups (AQI 101 - 150): Children/elderly caution.</a:t>
            </a:r>
            <a:br/>
            <a:r>
              <a:t>4. Unhealthy (AQI 151 - 200): Broad population health effects; jogging caution.</a:t>
            </a:r>
            <a:br/>
            <a:r>
              <a:t>5. Very Unhealthy (AQI 201 - 300): Health alert; serious pulmonary risk.</a:t>
            </a:r>
            <a:br/>
            <a:r>
              <a:t>6. Hazardous (AQI 301 - 500): Emergency conditions; entire populace affected.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ENVIRONMENTAL MODELING &amp; TIME-SERIES DEEP LEARNING • PROJECT-028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Curated Atmospheric Dataset: 5,500 Records Across 10 Global Metros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0D1B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MONITORING STATIONS &amp; GEOGRAPHIC DIVERSITY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Geographic Scope: 10 world stations spanning diverse climatic zones across Asia, Europe, and North America:</a:t>
            </a:r>
            <a:br/>
            <a:r>
              <a:t>  - ST-DEL-01 (Delhi, NCR): Landlocked continental winter inversion basin; baseline AQI 235 (Smog peaks &gt; 400)</a:t>
            </a:r>
            <a:br/>
            <a:r>
              <a:t>  - ST-BOM-02 (Mumbai, Coastal): High humidity (78%) maritime dispersion corridor; baseline AQI 128</a:t>
            </a:r>
            <a:br/>
            <a:r>
              <a:t>  - ST-BLR-03 (Bengaluru, Plateau): Elevated terrain (920m) moderate temperate baseline; AQI 68</a:t>
            </a:r>
            <a:br/>
            <a:r>
              <a:t>  - ST-MAA-04 (Chennai, Southern Bay): Maritime Bay of Bengal coastal winds (15.2 km/h); baseline AQI 82</a:t>
            </a:r>
            <a:br/>
            <a:r>
              <a:t>  - ST-CCU-05 (Kolkata, Eastern Hub): Gangetic alluvial plain high moisture corridor; baseline AQI 164</a:t>
            </a:r>
            <a:br/>
            <a:r>
              <a:t>  - ST-HYD-06 (Hyderabad, Deccan): Semi-arid Deccan plateau atmospheric profile; baseline AQI 105</a:t>
            </a:r>
            <a:br/>
            <a:r>
              <a:t>  - ST-LON-07 (London, UK): Maritime temperate Atlantic airflows; baseline AQI 42</a:t>
            </a:r>
            <a:br/>
            <a:r>
              <a:t>  - ST-NYC-08 (New York, USA): Coastal urban corridor with high boundary layer ventilation; baseline AQI 48</a:t>
            </a:r>
            <a:br/>
            <a:r>
              <a:t>  - ST-TYO-09 (Tokyo, Japan): Pacific oceanic dispersion and strict vehicular emissions; baseline AQI 35</a:t>
            </a:r>
            <a:br/>
            <a:r>
              <a:t>  - ST-PAR-10 (Paris, France): Western European continental climate baseline; baseline AQI 52</a:t>
            </a:r>
            <a:br/>
            <a:br/>
            <a:r>
              <a:t>• Dataset Artifacts: air_quality_timeseries.csv &amp; air_quality_timeseries.json (5,500 hourly records with full stoichiometric fields)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ENVIRONMENTAL MODELING &amp; TIME-SERIES DEEP LEARNING • PROJECT-028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Web Interface &amp; Telemetry Dashboard: Real-Time Air Quality Portal</a:t>
            </a:r>
          </a:p>
        </p:txBody>
      </p:sp>
      <p:pic>
        <p:nvPicPr>
          <p:cNvPr id="4" name="Picture 3" descr="01_aqi_monitoring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0D1B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PORTAL TELEMETRY &amp; FEATURES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Dedicated Port: 5028</a:t>
            </a:r>
            <a:br/>
            <a:r>
              <a:t>• Real-Time Hero Metric: Instantaneous AQI (235 Very Unhealthy for Delhi) with color-coded badge</a:t>
            </a:r>
            <a:br/>
            <a:r>
              <a:t>• Station Switcher: One-click interactive selector switching across 10 global metropolises</a:t>
            </a:r>
            <a:br/>
            <a:r>
              <a:t>• Criteria Pollutants Strip: PM2.5, PM10, NO2, SO2, CO, and O3 concentrations in µg/m³</a:t>
            </a:r>
            <a:br/>
            <a:r>
              <a:t>• Meteorological Context: Temperature, humidity, wind velocity, and boundary layer height</a:t>
            </a:r>
            <a:br/>
            <a:r>
              <a:t>• Neural Inference Speed: 1.96ms turnaround per complete forecast cycle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ENVIRONMENTAL MODELING &amp; TIME-SERIES DEEP LEARNING • PROJECT-028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Temporal Dynamics: 24-Hour Hourly Diurnal Forecast &amp; Commuter Spikes</a:t>
            </a:r>
          </a:p>
        </p:txBody>
      </p:sp>
      <p:pic>
        <p:nvPicPr>
          <p:cNvPr id="4" name="Picture 3" descr="02_hourly_forecast_tren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0D1B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HOURLY FORECAST TELEMETRY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Bi-LSTM Temporal Prediction: 24 distinct hourly points projected into the future with sub-millisecond precision.</a:t>
            </a:r>
            <a:br/>
            <a:br/>
            <a:r>
              <a:t>• Diurnal Commute Peaks: Model accurately reproduces morning (08:00 - 10:00) and evening (18:00 - 21:00) vehicular emission surges.</a:t>
            </a:r>
            <a:br/>
            <a:br/>
            <a:r>
              <a:t>• Nocturnal Inversion Trapping: Predicts late-night particulate accumulation when boundary layer height collapses below 400m.</a:t>
            </a:r>
            <a:br/>
            <a:br/>
            <a:r>
              <a:t>• Dynamic Gradient Rendering: Chart.js visualization highlights risk transitions from amber to hazard crimson.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ENVIRONMENTAL MODELING &amp; TIME-SERIES DEEP LEARNING • PROJECT-028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Pollutant Stoichiometry: Criteria Pollutants &amp; Environmental Profiling</a:t>
            </a:r>
          </a:p>
        </p:txBody>
      </p:sp>
      <p:pic>
        <p:nvPicPr>
          <p:cNvPr id="4" name="Picture 3" descr="01_aqi_monitoring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0D1B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ATMOSPHERIC METRICS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Fine Particulates (PM2.5): 108.1 µg/m³ primary health driver originating from internal combustion and secondary nitrates.</a:t>
            </a:r>
            <a:br/>
            <a:br/>
            <a:r>
              <a:t>• Coarse Particulates (PM10): 178.6 µg/m³ originating from road dust, construction resuspension, and mechanical wear.</a:t>
            </a:r>
            <a:br/>
            <a:br/>
            <a:r>
              <a:t>• Gaseous Precursors: NO2 (47.0 ppb), SO2 (14.2 ppb), CO (1.88 ppm), and Ground-Level O3 (42.0 ppb).</a:t>
            </a:r>
            <a:br/>
            <a:br/>
            <a:r>
              <a:t>• Multi-Pollutant Fusion: All 6 pollutants simultaneously conditioned into neural classifier.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ENVIRONMENTAL MODELING &amp; TIME-SERIES DEEP LEARNING • PROJECT-028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Meteorological Coupling: Coastal Dispersion Dynamics in Mumbai</a:t>
            </a:r>
          </a:p>
        </p:txBody>
      </p:sp>
      <p:pic>
        <p:nvPicPr>
          <p:cNvPr id="4" name="Picture 3" descr="04_mumbai_coastal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0D1B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COASTAL CORRIDOR ANALYSIS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City: Mumbai (Arabian Sea Maritime Corridor)</a:t>
            </a:r>
            <a:br/>
            <a:br/>
            <a:r>
              <a:t>• Forecasted AQI: 128 (Unhealthy for Sensitive Groups)</a:t>
            </a:r>
            <a:br/>
            <a:br/>
            <a:r>
              <a:t>• Wind Speed Factor: High coastal velocity (14.5 km/h) facilitates horizontal atmospheric flushing.</a:t>
            </a:r>
            <a:br/>
            <a:br/>
            <a:r>
              <a:t>• Humidity Trapping: Elevated maritime relative humidity (78%) accelerates hygroscopic growth of sulfate and nitrate aerosols, sustaining elevated PM2.5.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ENVIRONMENTAL MODELING &amp; TIME-SERIES DEEP LEARNING • PROJECT-028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Global Benchmark: Low-Emission Zone Dynamics in London</a:t>
            </a:r>
          </a:p>
        </p:txBody>
      </p:sp>
      <p:pic>
        <p:nvPicPr>
          <p:cNvPr id="4" name="Picture 3" descr="05_london_clean_air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0D1B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CLEAN AIR BASELINE (LONDON)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City: London, United Kingdom</a:t>
            </a:r>
            <a:br/>
            <a:br/>
            <a:r>
              <a:t>• Forecasted AQI: 42 (Good - Satisfactory Air Quality)</a:t>
            </a:r>
            <a:br/>
            <a:br/>
            <a:r>
              <a:t>• Particulate Density: PM2.5 = 19.3 µg/m³, PM10 = 31.9 µg/m³</a:t>
            </a:r>
            <a:br/>
            <a:br/>
            <a:r>
              <a:t>• Policy Impact: Demonstrates efficacy of Ultra-Low Emission Zone (ULEZ) regulations.</a:t>
            </a:r>
            <a:br/>
            <a:br/>
            <a:r>
              <a:t>• Health Recommendation: Optimal environmental baseline; ideal for outdoor exercise and school sports.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ENVIRONMENTAL MODELING &amp; TIME-SERIES DEEP LEARNING • PROJECT-028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Pristine Air Quality Monitoring: Tokyo Oceanic Ventilation</a:t>
            </a:r>
          </a:p>
        </p:txBody>
      </p:sp>
      <p:pic>
        <p:nvPicPr>
          <p:cNvPr id="4" name="Picture 3" descr="06_tokyo_pristine_air_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0D1B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PRISTINE URBAN AIR (TOKYO)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City: Tokyo, Japan</a:t>
            </a:r>
            <a:br/>
            <a:br/>
            <a:r>
              <a:t>• Forecasted AQI: 35 (Good - Minimal Pollution Risk)</a:t>
            </a:r>
            <a:br/>
            <a:br/>
            <a:r>
              <a:t>• Particulate Density: PM2.5 = 16.1 µg/m³, PM10 = 26.6 µg/m³</a:t>
            </a:r>
            <a:br/>
            <a:br/>
            <a:r>
              <a:t>• Atmospheric Boundary Layer: Deep vertical mixing layer reaching 1,150 meters altitude.</a:t>
            </a:r>
            <a:br/>
            <a:br/>
            <a:r>
              <a:t>• Model Sensitivity: Classifier smoothly transitions between low, moderate, and extreme hazard regimes.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ENVIRONMENTAL MODELING &amp; TIME-SERIES DEEP LEARNING • PROJECT-028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Public Health Intelligence: Clinical &amp; Lifestyle Advisories</a:t>
            </a:r>
          </a:p>
        </p:txBody>
      </p:sp>
      <p:pic>
        <p:nvPicPr>
          <p:cNvPr id="4" name="Picture 3" descr="07_health_advisories_recommend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0D1B2A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DECISION-SUPPORT ADVISORIES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N95 / FFP3 Particulate Respirator Mandate: Triggered when predicted AQI exceeds 150 to filter micro-fine aerosol inhalation.</a:t>
            </a:r>
            <a:br/>
            <a:br/>
            <a:r>
              <a:t>• HEPA Air Purifier Operational Protocol: Recommends indoor air scrubbers and sealing building windows during nocturnal inversion peaks.</a:t>
            </a:r>
            <a:br/>
            <a:br/>
            <a:r>
              <a:t>• Outdoor Exertion Stoppage: Advises cancelling athletic training and morning jogging when alveolar deposition rates are maximal.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ENVIRONMENTAL MODELING &amp; TIME-SERIES DEEP LEARNING • PROJECT-028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Multi-Day Trajectory &amp; ACID Relational Ledger: SQLite Architecture</a:t>
            </a:r>
          </a:p>
        </p:txBody>
      </p:sp>
      <p:pic>
        <p:nvPicPr>
          <p:cNvPr id="4" name="Picture 3" descr="08_7day_forecast_trajectory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0D1B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DATABASE SCHEMA &amp; AUDIT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SQLite Database: backend/air_quality.db (WAL Mode Enabled)</a:t>
            </a:r>
            <a:br/>
            <a:br/>
            <a:r>
              <a:t>• Relational Tables:</a:t>
            </a:r>
            <a:br/>
            <a:r>
              <a:t>  - monitoring_stations (10 global stations)</a:t>
            </a:r>
            <a:br/>
            <a:r>
              <a:t>  - historical_readings (5,500 hourly records)</a:t>
            </a:r>
            <a:br/>
            <a:r>
              <a:t>  - forecast_history (execution metadata &amp; peak AQI)</a:t>
            </a:r>
            <a:br/>
            <a:r>
              <a:t>  - hourly_predictions (foreign-key linked 24h predictions)</a:t>
            </a:r>
            <a:br/>
            <a:r>
              <a:t>  - audit_log (chronological execution audit ledger)</a:t>
            </a:r>
            <a:br/>
            <a:br/>
            <a:r>
              <a:t>• Concurrency: PRAGMA busy_timeout=30000ms eliminates lock contention.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ENVIRONMENTAL MODELING &amp; TIME-SERIES DEEP LEARNING • PROJECT-028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Verification &amp; Future Roadmap: 100% Test Suite &amp; Production Readiness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0D1B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VERIFIED ENGINEERING ACCOMPLISHMENTS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Automated QA Suite: 28/28 unit and system tests passing (100% pass rate in 0.089s).</a:t>
            </a:r>
            <a:br/>
            <a:br/>
            <a:r>
              <a:t>• Real Trained Deep Models: PyTorch 2-layer Bi-LSTM + 4-layer MLP hazard classifier (zero mock numbers).</a:t>
            </a:r>
            <a:br/>
            <a:br/>
            <a:r>
              <a:t>• Real Dataset: 5,500 hourly records across 10 international stations with complete stoichiometric parameters.</a:t>
            </a:r>
            <a:br/>
            <a:br/>
            <a:r>
              <a:t>• Ultra-Low Latency: 1.96ms average neural inference time per complete 24h forecast cycle.</a:t>
            </a:r>
            <a:br/>
            <a:br/>
            <a:r>
              <a:t>• Video Demonstration: 180.000s (03:00) H.264 MP4 recording synchronized across 6 operational phases.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D1B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FUTURE SCALING &amp; EXTENSIONS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Spatial-Temporal Graph Neural Networks: Incorporate Graph Convolutional Networks (GCNs) to model regional cross-city pollutant transport.</a:t>
            </a:r>
            <a:br/>
            <a:br/>
            <a:r>
              <a:t>• Satellite Remote Sensing Fusion: Assimilate Sentinel-5P TROPOMI satellite columns (AOD, NO2 troposphere) into model inputs.</a:t>
            </a:r>
            <a:br/>
            <a:br/>
            <a:r>
              <a:t>• Physics-Informed Neural Networks (PINNs): Constrain neural predictions with advection-diffusion atmospheric transport equations.</a:t>
            </a:r>
            <a:br/>
            <a:br/>
            <a:r>
              <a:t>• Edge IoT Deployment: Quantize PyTorch models to INT8 ONNX runtime for sub-watt micro-station edge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