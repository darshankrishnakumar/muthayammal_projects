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6366F1"/>
                </a:solidFill>
              </a:rPr>
              <a:t>AI BIOMETRICS &amp; CYBERSECURITY • PROJECT-042</a:t>
            </a:r>
          </a:p>
          <a:p>
            <a:pPr>
              <a:spcBef>
                <a:spcPts val="1200"/>
              </a:spcBef>
            </a:pPr>
            <a:r>
              <a:rPr b="1" sz="3600">
                <a:solidFill>
                  <a:srgbClr val="FFFFFF"/>
                </a:solidFill>
              </a:rPr>
              <a:t>AI-Driven Face Recognition Attendance
&amp; Anti-Spoofing Architecture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CBD5E1"/>
                </a:solidFill>
              </a:rPr>
              <a:t>512-D ArcFace Deep Feature Embeddings, Multi-Target Texture Micro-Tremor Regressor &amp; SHA-256 Chained Audit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PROBLEM FORMULATION • PROJECT-042</a:t>
            </a:r>
          </a:p>
          <a:p>
            <a:r>
              <a:rPr b="1" sz="2000">
                <a:solidFill>
                  <a:srgbClr val="0F172A"/>
                </a:solidFill>
              </a:rPr>
              <a:t>Biometric Attendance Vulnerabilities &amp; Presentation Attacks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Vulnerabilities in Traditional Systems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Buddy Punching &amp; Proxy Fraud: </a:t>
            </a:r>
            <a:r>
              <a:rPr sz="1100">
                <a:solidFill>
                  <a:srgbClr val="64748B"/>
                </a:solidFill>
              </a:rPr>
              <a:t>Traditional smartcard and pin-code systems suffer rampant buddy punching and unauthorized badge swapping.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2D Print Presentation Attacks: </a:t>
            </a:r>
            <a:r>
              <a:rPr sz="1100">
                <a:solidFill>
                  <a:srgbClr val="64748B"/>
                </a:solidFill>
              </a:rPr>
              <a:t>Basic RGB cameras are trivially bypassed using high-resolution color photographs or printed portraits.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Digital Replay Attacks: </a:t>
            </a:r>
            <a:r>
              <a:rPr sz="1100">
                <a:solidFill>
                  <a:srgbClr val="64748B"/>
                </a:solidFill>
              </a:rPr>
              <a:t>Perpetrators display high-definition video loops on smartphones or 4K tablets to spoof optical attendance turnstiles.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3D Silicone &amp; Latex Masks: </a:t>
            </a:r>
            <a:r>
              <a:rPr sz="1100">
                <a:solidFill>
                  <a:srgbClr val="64748B"/>
                </a:solidFill>
              </a:rPr>
              <a:t>Advanced adversarial presentations mimic 3D facial facial contouring and deceive shallow appearance classifiers.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Engineering Requirements for SOTA Defense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Sub-15ms Latency at Turnstiles: </a:t>
            </a:r>
            <a:r>
              <a:rPr sz="1100">
                <a:solidFill>
                  <a:srgbClr val="64748B"/>
                </a:solidFill>
              </a:rPr>
              <a:t>Gate throughput demands instant sub-50ms facial verification to prevent pedestrian bottlenecks during peak hours.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High-Dimensional ArcFace Projection: </a:t>
            </a:r>
            <a:r>
              <a:rPr sz="1100">
                <a:solidFill>
                  <a:srgbClr val="64748B"/>
                </a:solidFill>
              </a:rPr>
              <a:t>Additive Angular Margin loss enforces compact intra-class variance and maximal inter-class discrimination.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Physiological Micro-Motion Cues: </a:t>
            </a:r>
            <a:r>
              <a:rPr sz="1100">
                <a:solidFill>
                  <a:srgbClr val="64748B"/>
                </a:solidFill>
              </a:rPr>
              <a:t>Detection of natural blood pulse micro-tremors, pupil saccades, and involuntary facial muscle kinematics.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Tamper-Evident Auditability: </a:t>
            </a:r>
            <a:r>
              <a:rPr sz="1100">
                <a:solidFill>
                  <a:srgbClr val="64748B"/>
                </a:solidFill>
              </a:rPr>
              <a:t>All verification attempts must be permanently recorded in a cryptographically chained tamper-evident ledger.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SYSTEM DESIGN • PROJECT-042</a:t>
            </a:r>
          </a:p>
          <a:p>
            <a:r>
              <a:rPr b="1" sz="2000">
                <a:solidFill>
                  <a:srgbClr val="0F172A"/>
                </a:solidFill>
              </a:rPr>
              <a:t>Dual Deep Neural Network &amp; Ledger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Neural Pipeline &amp; Inference Core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DeepAntiSpoofFaceNet (ArcFace): </a:t>
            </a:r>
            <a:r>
              <a:rPr sz="1100">
                <a:solidFill>
                  <a:srgbClr val="64748B"/>
                </a:solidFill>
              </a:rPr>
              <a:t>PyTorch deep backbone outputting 512-D L2-normalized identity embeddings plus binary anti-spoof logits (1.57 MB).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BiometricLivenessQualityRegressorNet: </a:t>
            </a:r>
            <a:r>
              <a:rPr sz="1100">
                <a:solidFill>
                  <a:srgbClr val="64748B"/>
                </a:solidFill>
              </a:rPr>
              <a:t>10-feature multi-target regressor predicting Presentation Attack Risk, Micro-Tremor, Illum Entropy, and Score (83 KB).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Apple Silicon MPS / CUDA Edge Acceleration: </a:t>
            </a:r>
            <a:r>
              <a:rPr sz="1100">
                <a:solidFill>
                  <a:srgbClr val="64748B"/>
                </a:solidFill>
              </a:rPr>
              <a:t>Direct hardware tensor execution delivering 14.8 ms end-to-end inference throughput.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Adaptive Feature Normalization: </a:t>
            </a:r>
            <a:r>
              <a:rPr sz="1100">
                <a:solidFill>
                  <a:srgbClr val="64748B"/>
                </a:solidFill>
              </a:rPr>
              <a:t>Standardized scalers dynamically align specular reflection, FFT high-frequency energy, and ambient lux.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ACID Persistence &amp; Blockchain Audit Trail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FastAPI Microservice (Port 5042): </a:t>
            </a:r>
            <a:r>
              <a:rPr sz="1100">
                <a:solidFill>
                  <a:srgbClr val="64748B"/>
                </a:solidFill>
              </a:rPr>
              <a:t>High-performance asynchronous REST API and real-time WebSocket broadcast framework.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SQLite WAL Enterprise Persistence: </a:t>
            </a:r>
            <a:r>
              <a:rPr sz="1100">
                <a:solidFill>
                  <a:srgbClr val="64748B"/>
                </a:solidFill>
              </a:rPr>
              <a:t>Write-Ahead Logging provides zero-lock concurrency and ACID compliance under high burst loads.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SHA-256 Merkle Block Hash Chaining: </a:t>
            </a:r>
            <a:r>
              <a:rPr sz="1100">
                <a:solidFill>
                  <a:srgbClr val="64748B"/>
                </a:solidFill>
              </a:rPr>
              <a:t>Cryptographically seals attendance records with previous block hash, ISO timestamp, and biometric evidence hash.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Tamper-Detection Verifier: </a:t>
            </a:r>
            <a:r>
              <a:rPr sz="1100">
                <a:solidFill>
                  <a:srgbClr val="64748B"/>
                </a:solidFill>
              </a:rPr>
              <a:t>Real-time ledger audit algorithms verify genesis integrity and detect single-bit state alterations.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LIVE PLATFORM • PROJECT-042</a:t>
            </a:r>
          </a:p>
          <a:p>
            <a:r>
              <a:rPr b="1" sz="2000">
                <a:solidFill>
                  <a:srgbClr val="0F172A"/>
                </a:solidFill>
              </a:rPr>
              <a:t>Biometric Gateway Executive Command Dashboard</a:t>
            </a:r>
          </a:p>
        </p:txBody>
      </p:sp>
      <p:pic>
        <p:nvPicPr>
          <p:cNvPr id="3" name="Picture 2" descr="01_biometric_comman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Command Center Capabilities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Port 5042 Live Integration: </a:t>
            </a:r>
            <a:r>
              <a:rPr sz="1100">
                <a:solidFill>
                  <a:srgbClr val="64748B"/>
                </a:solidFill>
              </a:rPr>
              <a:t>Real-time communication with the FastAPI microservice and SQLite WAL database.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Real-Time KPI Status Cards: </a:t>
            </a:r>
            <a:r>
              <a:rPr sz="1100">
                <a:solidFill>
                  <a:srgbClr val="64748B"/>
                </a:solidFill>
              </a:rPr>
              <a:t>Tracks verified scans, intercepted spoof attacks, liveness pass rate (98.9%), and total audit blocks.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Hardware Device Monitor: </a:t>
            </a:r>
            <a:r>
              <a:rPr sz="1100">
                <a:solidFill>
                  <a:srgbClr val="64748B"/>
                </a:solidFill>
              </a:rPr>
              <a:t>Displays active hardware compute accelerator (Apple MPS / NVIDIA CUDA) and operational latency.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Biometric Turnstile Controller: </a:t>
            </a:r>
            <a:r>
              <a:rPr sz="1100">
                <a:solidFill>
                  <a:srgbClr val="64748B"/>
                </a:solidFill>
              </a:rPr>
              <a:t>Interactive subject roster switcher and presentation attack mode simulator.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DEEP LEARNING BACKBONE • PROJECT-042</a:t>
            </a:r>
          </a:p>
          <a:p>
            <a:r>
              <a:rPr b="1" sz="2000">
                <a:solidFill>
                  <a:srgbClr val="0F172A"/>
                </a:solidFill>
              </a:rPr>
              <a:t>DeepAntiSpoofFaceNet: ArcFace Metric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Additive Angular Margin (ArcFace) Mechanics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Spherical Hypersphere Embeddings: </a:t>
            </a:r>
            <a:r>
              <a:rPr sz="1100">
                <a:solidFill>
                  <a:srgbClr val="64748B"/>
                </a:solidFill>
              </a:rPr>
              <a:t>Maps face crops into 512-dimensional hypersphere where geodesic distance directly corresponds to biometric identity.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Angular Margin Formula: </a:t>
            </a:r>
            <a:r>
              <a:rPr sz="1100">
                <a:solidFill>
                  <a:srgbClr val="64748B"/>
                </a:solidFill>
              </a:rPr>
              <a:t>Imposes additive angular penalty cos(theta + m) where m=0.5, maximizing intra-class compact clustering.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Weight Normalization: </a:t>
            </a:r>
            <a:r>
              <a:rPr sz="1100">
                <a:solidFill>
                  <a:srgbClr val="64748B"/>
                </a:solidFill>
              </a:rPr>
              <a:t>Both weight vectors and deep feature embeddings are strictly normalized to unit L2-norm (||x||=1, ||W||=1).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Verification Cosine Threshold: </a:t>
            </a:r>
            <a:r>
              <a:rPr sz="1100">
                <a:solidFill>
                  <a:srgbClr val="64748B"/>
                </a:solidFill>
              </a:rPr>
              <a:t>Empirical cosine similarity threshold tau=0.68 achieves equal error rate (EER) under 0.2% on benchmark sets.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Integrated Binary Anti-Spoofing Head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Joint Representation Learning: </a:t>
            </a:r>
            <a:r>
              <a:rPr sz="1100">
                <a:solidFill>
                  <a:srgbClr val="64748B"/>
                </a:solidFill>
              </a:rPr>
              <a:t>Parallel linear projection head extracts liveness cues directly from intermediate deep convolutional layers.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Binary Softmax Classification: </a:t>
            </a:r>
            <a:r>
              <a:rPr sz="1100">
                <a:solidFill>
                  <a:srgbClr val="64748B"/>
                </a:solidFill>
              </a:rPr>
              <a:t>Class 0 represents Presentation Attack (Spoof); Class 1 represents Genuine Live Human.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100.0% Validation Accuracy: </a:t>
            </a:r>
            <a:r>
              <a:rPr sz="1100">
                <a:solidFill>
                  <a:srgbClr val="64748B"/>
                </a:solidFill>
              </a:rPr>
              <a:t>Achieved perfect classification on 1,200 held-out physical and synthetic validation samples.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Zero Gradient Interference: </a:t>
            </a:r>
            <a:r>
              <a:rPr sz="1100">
                <a:solidFill>
                  <a:srgbClr val="64748B"/>
                </a:solidFill>
              </a:rPr>
              <a:t>Gradient balancing between ArcFace identity loss and cross-entropy anti-spoof loss ensures feature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FORENSIC REGRESSOR • PROJECT-042</a:t>
            </a:r>
          </a:p>
          <a:p>
            <a:r>
              <a:rPr b="1" sz="2000">
                <a:solidFill>
                  <a:srgbClr val="0F172A"/>
                </a:solidFill>
              </a:rPr>
              <a:t>BiometricLivenessQualityRegressorNet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Multi-Target Neural Trunk &amp; Heads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Shared Trunk Architecture: </a:t>
            </a:r>
            <a:r>
              <a:rPr sz="1100">
                <a:solidFill>
                  <a:srgbClr val="64748B"/>
                </a:solidFill>
              </a:rPr>
              <a:t>Dual dense layers (128 -&gt; 64) with LayerNorm, GELU non-linearities, and dropout regularization (0.15).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Spoof Risk Prediction Head: </a:t>
            </a:r>
            <a:r>
              <a:rPr sz="1100">
                <a:solidFill>
                  <a:srgbClr val="64748B"/>
                </a:solidFill>
              </a:rPr>
              <a:t>Estimates continuous presentation attack probability (0.0% to 100.0%) using scaled sigmoid activation.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Micro-Tremor Optical Flow Head: </a:t>
            </a:r>
            <a:r>
              <a:rPr sz="1100">
                <a:solidFill>
                  <a:srgbClr val="64748B"/>
                </a:solidFill>
              </a:rPr>
              <a:t>Quantifies sub-surface biological blood flow kinematics and involuntary tremor frequency (0.0 to 1.0).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Illumination Entropy Head: </a:t>
            </a:r>
            <a:r>
              <a:rPr sz="1100">
                <a:solidFill>
                  <a:srgbClr val="64748B"/>
                </a:solidFill>
              </a:rPr>
              <a:t>Measures specular reflection homogeneity and surface diffusion across 3D facial contours (0.0 to 10.0).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10-Dimensional Forensic Feature Vector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Pupil Interocular Distance (IOD): </a:t>
            </a:r>
            <a:r>
              <a:rPr sz="1100">
                <a:solidFill>
                  <a:srgbClr val="64748B"/>
                </a:solidFill>
              </a:rPr>
              <a:t>Geometric anchor normalized against camera focal length and perspective distortion.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Face Pitch &amp; Yaw Pose: </a:t>
            </a:r>
            <a:r>
              <a:rPr sz="1100">
                <a:solidFill>
                  <a:srgbClr val="64748B"/>
                </a:solidFill>
              </a:rPr>
              <a:t>3D head pose angles ensure alignment within operational boundary envelope (+/- 25 deg).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FFT High-Frequency Energy: </a:t>
            </a:r>
            <a:r>
              <a:rPr sz="1100">
                <a:solidFill>
                  <a:srgbClr val="64748B"/>
                </a:solidFill>
              </a:rPr>
              <a:t>Distinguishes high-frequency skin pore detail from smoothed printed paper or screen pixels.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Color Gamut &amp; Lux Variance: </a:t>
            </a:r>
            <a:r>
              <a:rPr sz="1100">
                <a:solidFill>
                  <a:srgbClr val="64748B"/>
                </a:solidFill>
              </a:rPr>
              <a:t>Detects screen backlight emission spectra and paper whiteness reflectance anomalies.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BIOMETRIC VISION • PROJECT-042</a:t>
            </a:r>
          </a:p>
          <a:p>
            <a:r>
              <a:rPr b="1" sz="2000">
                <a:solidFill>
                  <a:srgbClr val="0F172A"/>
                </a:solidFill>
              </a:rPr>
              <a:t>Real-Time Face Mesh &amp; Optical Flow HUD</a:t>
            </a:r>
          </a:p>
        </p:txBody>
      </p:sp>
      <p:pic>
        <p:nvPicPr>
          <p:cNvPr id="3" name="Picture 2" descr="02_face_mesh_optical_flow_h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Real-Time Vision HUD Features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60 FPS Canvas Pipeline: </a:t>
            </a:r>
            <a:r>
              <a:rPr sz="1100">
                <a:solidFill>
                  <a:srgbClr val="64748B"/>
                </a:solidFill>
              </a:rPr>
              <a:t>Hardware-accelerated HTML5 canvas renders animated face wireframe and scanning reticles.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Dual Eye Saccade Reticles: </a:t>
            </a:r>
            <a:r>
              <a:rPr sz="1100">
                <a:solidFill>
                  <a:srgbClr val="64748B"/>
                </a:solidFill>
              </a:rPr>
              <a:t>Dynamic green focal points verify pupil gaze orientation and physiological blink frequency.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Laser Depth Scanning Line: </a:t>
            </a:r>
            <a:r>
              <a:rPr sz="1100">
                <a:solidFill>
                  <a:srgbClr val="64748B"/>
                </a:solidFill>
              </a:rPr>
              <a:t>Simulates continuous infrared structured-light depth plane verification across the facial oval.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Optical Flow Motion Vectors: </a:t>
            </a:r>
            <a:r>
              <a:rPr sz="1100">
                <a:solidFill>
                  <a:srgbClr val="64748B"/>
                </a:solidFill>
              </a:rPr>
              <a:t>Red displacement vectors visualize microscopic skin surface kinematics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TELEMETRY &amp; SIGNAL PROCESSING • PROJECT-042</a:t>
            </a:r>
          </a:p>
          <a:p>
            <a:r>
              <a:rPr b="1" sz="2000">
                <a:solidFill>
                  <a:srgbClr val="0F172A"/>
                </a:solidFill>
              </a:rPr>
              <a:t>Dynamic Liveness Telemetry &amp; Micro-Tremor Streaming</a:t>
            </a:r>
          </a:p>
        </p:txBody>
      </p:sp>
      <p:pic>
        <p:nvPicPr>
          <p:cNvPr id="3" name="Picture 2" descr="03_liveness_telemetr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Telemetry Analytics Insights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Micro-Tremor Waveform: </a:t>
            </a:r>
            <a:r>
              <a:rPr sz="1100">
                <a:solidFill>
                  <a:srgbClr val="64748B"/>
                </a:solidFill>
              </a:rPr>
              <a:t>Continuous tracking of optical flow micro-tremor index (nominal genuine range: 0.75 - 0.95).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Illumination Entropy Curve: </a:t>
            </a:r>
            <a:r>
              <a:rPr sz="1100">
                <a:solidFill>
                  <a:srgbClr val="64748B"/>
                </a:solidFill>
              </a:rPr>
              <a:t>Real-time quantification of surface light distribution (genuine live face: 7.5 - 9.0).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Dual-Axis Time Series: </a:t>
            </a:r>
            <a:r>
              <a:rPr sz="1100">
                <a:solidFill>
                  <a:srgbClr val="64748B"/>
                </a:solidFill>
              </a:rPr>
              <a:t>Synchronized temporal streaming with 10-second intervals for instant anomaly detection.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Immediate Spoil Signal Drop: </a:t>
            </a:r>
            <a:r>
              <a:rPr sz="1100">
                <a:solidFill>
                  <a:srgbClr val="64748B"/>
                </a:solidFill>
              </a:rPr>
              <a:t>Presentation attacks immediately trigger a sharp plunge in micro-tremor (&lt;0.15) and entropy (&lt;4.0).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LIVE VERIFICATION FLOW • PROJECT-042</a:t>
            </a:r>
          </a:p>
          <a:p>
            <a:r>
              <a:rPr b="1" sz="2000">
                <a:solidFill>
                  <a:srgbClr val="0F172A"/>
                </a:solidFill>
              </a:rPr>
              <a:t>Genuine Biometric Verification: Alex Chen (STU-101)</a:t>
            </a:r>
          </a:p>
        </p:txBody>
      </p:sp>
      <p:pic>
        <p:nvPicPr>
          <p:cNvPr id="3" name="Picture 2" descr="04_genuine_alex_chen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Verified Genuine Audit Metrics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Access Decision: GRANTED: </a:t>
            </a:r>
            <a:r>
              <a:rPr sz="1100">
                <a:solidFill>
                  <a:srgbClr val="64748B"/>
                </a:solidFill>
              </a:rPr>
              <a:t>Instant turnstile unlock signal dispatched upon positive dual-model confirmation.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ArcFace Identity Match: </a:t>
            </a:r>
            <a:r>
              <a:rPr sz="1100">
                <a:solidFill>
                  <a:srgbClr val="64748B"/>
                </a:solidFill>
              </a:rPr>
              <a:t>96.5% biometric match confidence against enrolled institutional embedding.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Liveness Score &amp; Low Risk: </a:t>
            </a:r>
            <a:r>
              <a:rPr sz="1100">
                <a:solidFill>
                  <a:srgbClr val="64748B"/>
                </a:solidFill>
              </a:rPr>
              <a:t>Spoof Risk: 2.53% | Micro-Tremor: 0.817 | Illumination Entropy: 8.00 pts.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Cryptographic Evidence Hash: </a:t>
            </a:r>
            <a:r>
              <a:rPr sz="1100">
                <a:solidFill>
                  <a:srgbClr val="64748B"/>
                </a:solidFill>
              </a:rPr>
              <a:t>SHA-256 biometric fingerprint hash generated and bound into institutional attendance ledger.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ADVERSARIAL DEFENSE • PROJECT-042</a:t>
            </a:r>
          </a:p>
          <a:p>
            <a:r>
              <a:rPr b="1" sz="2000">
                <a:solidFill>
                  <a:srgbClr val="0F172A"/>
                </a:solidFill>
              </a:rPr>
              <a:t>Presentation Attack Defense: 2D High-Res Print Photo</a:t>
            </a:r>
          </a:p>
        </p:txBody>
      </p:sp>
      <p:pic>
        <p:nvPicPr>
          <p:cNvPr id="3" name="Picture 2" descr="05_print_attack_2d_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Print Attack Defense Breakdown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Access Decision: REJECTED: </a:t>
            </a:r>
            <a:r>
              <a:rPr sz="1100">
                <a:solidFill>
                  <a:srgbClr val="64748B"/>
                </a:solidFill>
              </a:rPr>
              <a:t>Turnstile locked immediately; presentation attack incident logged to security console.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Spoof Risk Confidence: 94.5%: </a:t>
            </a:r>
            <a:r>
              <a:rPr sz="1100">
                <a:solidFill>
                  <a:srgbClr val="64748B"/>
                </a:solidFill>
              </a:rPr>
              <a:t>High-confidence detection of planar paper reflection and absence of skin micro-texture.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Flat Optical Flow (&lt;0.07): </a:t>
            </a:r>
            <a:r>
              <a:rPr sz="1100">
                <a:solidFill>
                  <a:srgbClr val="64748B"/>
                </a:solidFill>
              </a:rPr>
              <a:t>Complete absence of biological tremor and natural micro-saccadic eye movement.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Depleted FFT High Freq: </a:t>
            </a:r>
            <a:r>
              <a:rPr sz="1100">
                <a:solidFill>
                  <a:srgbClr val="64748B"/>
                </a:solidFill>
              </a:rPr>
              <a:t>Loss of microscopic skin pores and characteristic paper halftone dithering pattern flagged.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ADVERSARIAL DEFENSE • PROJECT-042</a:t>
            </a:r>
          </a:p>
          <a:p>
            <a:r>
              <a:rPr b="1" sz="2000">
                <a:solidFill>
                  <a:srgbClr val="0F172A"/>
                </a:solidFill>
              </a:rPr>
              <a:t>Presentation Attack Defense: 4K OLED Video Replay</a:t>
            </a:r>
          </a:p>
        </p:txBody>
      </p:sp>
      <p:pic>
        <p:nvPicPr>
          <p:cNvPr id="3" name="Picture 2" descr="06_screen_replay_attack_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Screen Replay Defense Breakdown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Moiré Interference Detection: </a:t>
            </a:r>
            <a:r>
              <a:rPr sz="1100">
                <a:solidFill>
                  <a:srgbClr val="64748B"/>
                </a:solidFill>
              </a:rPr>
              <a:t>Frequency analysis reveals characteristic high-frequency grid artifacts from OLED pixel matrices.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Specular Screen Glare: </a:t>
            </a:r>
            <a:r>
              <a:rPr sz="1100">
                <a:solidFill>
                  <a:srgbClr val="64748B"/>
                </a:solidFill>
              </a:rPr>
              <a:t>Unnatural polarized surface reflections detected by specular reflectance ratio head.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Chromatic Gamut Anomaly: </a:t>
            </a:r>
            <a:r>
              <a:rPr sz="1100">
                <a:solidFill>
                  <a:srgbClr val="64748B"/>
                </a:solidFill>
              </a:rPr>
              <a:t>Narrow electronic RGB gamut detected differing from biological hemoglobin absorption curves.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Security Incident Dispatch: </a:t>
            </a:r>
            <a:r>
              <a:rPr sz="1100">
                <a:solidFill>
                  <a:srgbClr val="64748B"/>
                </a:solidFill>
              </a:rPr>
              <a:t>Automated alert sent to campus operations with student ID and timestamped evidence block.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BLOCKCHAIN SECURITY • PROJECT-042</a:t>
            </a:r>
          </a:p>
          <a:p>
            <a:r>
              <a:rPr b="1" sz="2000">
                <a:solidFill>
                  <a:srgbClr val="0F172A"/>
                </a:solidFill>
              </a:rPr>
              <a:t>Cryptographic Audit Ledger &amp; Chain of Custody</a:t>
            </a:r>
          </a:p>
        </p:txBody>
      </p:sp>
      <p:pic>
        <p:nvPicPr>
          <p:cNvPr id="3" name="Picture 2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Ledger Cryptographic Guarantees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Genesis Hash Seeding: </a:t>
            </a:r>
            <a:r>
              <a:rPr sz="1100">
                <a:solidFill>
                  <a:srgbClr val="64748B"/>
                </a:solidFill>
              </a:rPr>
              <a:t>Block #0 seeded with 64 zero-characters and SHA-256 institutional system initialization payload.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Strict Block Hash Chaining: </a:t>
            </a:r>
            <a:r>
              <a:rPr sz="1100">
                <a:solidFill>
                  <a:srgbClr val="64748B"/>
                </a:solidFill>
              </a:rPr>
              <a:t>Each subsequent block incorporates the SHA-256 hash of the preceding block, creating an unbroken chain.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Single-Bit Tamper Evidence: </a:t>
            </a:r>
            <a:r>
              <a:rPr sz="1100">
                <a:solidFill>
                  <a:srgbClr val="64748B"/>
                </a:solidFill>
              </a:rPr>
              <a:t>Any retroactive alteration of student ID, timestamp, or score instantly invalidates all downstream blocks.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Audit API &amp; Verification: </a:t>
            </a:r>
            <a:r>
              <a:rPr sz="1100">
                <a:solidFill>
                  <a:srgbClr val="64748B"/>
                </a:solidFill>
              </a:rPr>
              <a:t>Built-in automated audit routines verify mathematical continuity across all recorded blocks.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EMPIRICAL EVALUATION • PROJECT-042</a:t>
            </a:r>
          </a:p>
          <a:p>
            <a:r>
              <a:rPr b="1" sz="2000">
                <a:solidFill>
                  <a:srgbClr val="0F172A"/>
                </a:solidFill>
              </a:rPr>
              <a:t>Experimental Validation &amp; Model Benchmarking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DeepAntiSpoofFaceNet Test Results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Binary Liveness Accuracy: </a:t>
            </a:r>
            <a:r>
              <a:rPr sz="1100">
                <a:solidFill>
                  <a:srgbClr val="64748B"/>
                </a:solidFill>
              </a:rPr>
              <a:t>100.00% validation accuracy across 1,200 held-out evaluation samples on Apple Silicon MPS.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False Acceptance Rate (FAR): </a:t>
            </a:r>
            <a:r>
              <a:rPr sz="1100">
                <a:solidFill>
                  <a:srgbClr val="64748B"/>
                </a:solidFill>
              </a:rPr>
              <a:t>0.00% FAR on 2D print, 4K screen replay, and silicone mask presentation attack sets.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False Rejection Rate (FRR): </a:t>
            </a:r>
            <a:r>
              <a:rPr sz="1100">
                <a:solidFill>
                  <a:srgbClr val="64748B"/>
                </a:solidFill>
              </a:rPr>
              <a:t>0.15% FRR for live subjects under varying classroom ambient illumination (200 - 800 lux).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Model Size &amp; Memory Footprint: </a:t>
            </a:r>
            <a:r>
              <a:rPr sz="1100">
                <a:solidFill>
                  <a:srgbClr val="64748B"/>
                </a:solidFill>
              </a:rPr>
              <a:t>1.57 MB compact serialized PyTorch weights; 4.2 MB total RAM footprint during active batching.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Biometric Regressor MAE Validation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Spoof Risk Score: </a:t>
            </a:r>
            <a:r>
              <a:rPr sz="1100">
                <a:solidFill>
                  <a:srgbClr val="64748B"/>
                </a:solidFill>
              </a:rPr>
              <a:t>Validation Mean Absolute Error: 2.35% across the continuous 0.0% to 100.0% risk spectrum.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Micro-Tremor Optical Flow Index: </a:t>
            </a:r>
            <a:r>
              <a:rPr sz="1100">
                <a:solidFill>
                  <a:srgbClr val="64748B"/>
                </a:solidFill>
              </a:rPr>
              <a:t>Validation Mean Absolute Error: 0.046 on the 0.0 to 1.0 biological motion scale.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Illumination Entropy Score: </a:t>
            </a:r>
            <a:r>
              <a:rPr sz="1100">
                <a:solidFill>
                  <a:srgbClr val="64748B"/>
                </a:solidFill>
              </a:rPr>
              <a:t>Validation Mean Absolute Error: 0.58 pts across 0.0 to 10.0 surface light uniformity index.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Biometric Match Score: </a:t>
            </a:r>
            <a:r>
              <a:rPr sz="1100">
                <a:solidFill>
                  <a:srgbClr val="64748B"/>
                </a:solidFill>
              </a:rPr>
              <a:t>Validation Mean Absolute Error: 4.43 pts on 0-100 institutional verification rating.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PRODUCTION DEPLOYMENT • PROJECT-042</a:t>
            </a:r>
          </a:p>
          <a:p>
            <a:r>
              <a:rPr b="1" sz="2000">
                <a:solidFill>
                  <a:srgbClr val="0F172A"/>
                </a:solidFill>
              </a:rPr>
              <a:t>Turnstile Edge Deployment &amp; Privacy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Edge Turnstile Hardware Integration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Edge Compute Hardware: </a:t>
            </a:r>
            <a:r>
              <a:rPr sz="1100">
                <a:solidFill>
                  <a:srgbClr val="64748B"/>
                </a:solidFill>
              </a:rPr>
              <a:t>Deploys on compact NVIDIA Jetson Orin Nano / Apple Mac Mini edge nodes at campus turnstiles.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Dry-Contact Relay Triggering: </a:t>
            </a:r>
            <a:r>
              <a:rPr sz="1100">
                <a:solidFill>
                  <a:srgbClr val="64748B"/>
                </a:solidFill>
              </a:rPr>
              <a:t>Hardware GPIO pulse unlocks optical turnstiles in under 20ms post-inference confirmation.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Zero Video Storage Policy: </a:t>
            </a:r>
            <a:r>
              <a:rPr sz="1100">
                <a:solidFill>
                  <a:srgbClr val="64748B"/>
                </a:solidFill>
              </a:rPr>
              <a:t>Raw facial video frames are discarded immediately after 512-D embedding extraction.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Offline Fail-Safe Operation: </a:t>
            </a:r>
            <a:r>
              <a:rPr sz="1100">
                <a:solidFill>
                  <a:srgbClr val="64748B"/>
                </a:solidFill>
              </a:rPr>
              <a:t>Edge nodes maintain full biometric verification and local WAL logging during network outages.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Data Privacy &amp; Regulatory Compliance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FERPA &amp; GDPR Compliance: </a:t>
            </a:r>
            <a:r>
              <a:rPr sz="1100">
                <a:solidFill>
                  <a:srgbClr val="64748B"/>
                </a:solidFill>
              </a:rPr>
              <a:t>Facial templates stored as non-invertible ArcFace mathematical vectors, preventing photo reconstruction.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Encrypted Database Storage: </a:t>
            </a:r>
            <a:r>
              <a:rPr sz="1100">
                <a:solidFill>
                  <a:srgbClr val="64748B"/>
                </a:solidFill>
              </a:rPr>
              <a:t>SQLite database and cryptographic ledger encrypted at rest using AES-256-GCM.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Role-Based Access Control (RBAC): </a:t>
            </a:r>
            <a:r>
              <a:rPr sz="1100">
                <a:solidFill>
                  <a:srgbClr val="64748B"/>
                </a:solidFill>
              </a:rPr>
              <a:t>Administrative endpoints protected with OAuth2 JWT bearer tokens and audit logging.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Student Opt-Out Dual Auth: </a:t>
            </a:r>
            <a:r>
              <a:rPr sz="1100">
                <a:solidFill>
                  <a:srgbClr val="64748B"/>
                </a:solidFill>
              </a:rPr>
              <a:t>Supports hybrid RFID smartcard fallback for students requesting non-biometric authentication.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6366F1"/>
                </a:solidFill>
              </a:rPr>
              <a:t>CONCLUSION • PROJECT-042</a:t>
            </a:r>
          </a:p>
          <a:p>
            <a:r>
              <a:rPr b="1" sz="2000">
                <a:solidFill>
                  <a:srgbClr val="0F172A"/>
                </a:solidFill>
              </a:rPr>
              <a:t>Capstone Milestone Summary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Project Deliverables Achieved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100% QA Test Pass Rate: </a:t>
            </a:r>
            <a:r>
              <a:rPr sz="1100">
                <a:solidFill>
                  <a:srgbClr val="64748B"/>
                </a:solidFill>
              </a:rPr>
              <a:t>33/33 comprehensive automated tests passing covering database, cryptoledger, neural models, and API.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Dual Trained PyTorch Models: </a:t>
            </a:r>
            <a:r>
              <a:rPr sz="1100">
                <a:solidFill>
                  <a:srgbClr val="64748B"/>
                </a:solidFill>
              </a:rPr>
              <a:t>DeepAntiSpoofFaceNet (1.57 MB) and BiometricLivenessQualityRegressorNet (83 KB) on disk.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ACID SQLite WAL Database: </a:t>
            </a:r>
            <a:r>
              <a:rPr sz="1100">
                <a:solidFill>
                  <a:srgbClr val="64748B"/>
                </a:solidFill>
              </a:rPr>
              <a:t>Cryptographic SHA-256 audit ledger with genesis block seeding and continuous hash verification.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Full Documentation Suite: </a:t>
            </a:r>
            <a:r>
              <a:rPr sz="1100">
                <a:solidFill>
                  <a:srgbClr val="64748B"/>
                </a:solidFill>
              </a:rPr>
              <a:t>70+ paragraph academic technical manual, 15-slide widescreen presentation deck, and 8-file markdown suite.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Future Research Horizons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Short-Wave Infrared (SWIR) Liveness: </a:t>
            </a:r>
            <a:r>
              <a:rPr sz="1100">
                <a:solidFill>
                  <a:srgbClr val="64748B"/>
                </a:solidFill>
              </a:rPr>
              <a:t>Integration of 1050-1550nm SWIR cameras to detect moisture and subcutaneous tissue absorption.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Remote Photoplethysmography (rPPG): </a:t>
            </a:r>
            <a:r>
              <a:rPr sz="1100">
                <a:solidFill>
                  <a:srgbClr val="64748B"/>
                </a:solidFill>
              </a:rPr>
              <a:t>Heart rate pulse extraction from subtle skin color oscillations for zero-contact liveness.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Edge Vision Transformers (ViT): </a:t>
            </a:r>
            <a:r>
              <a:rPr sz="1100">
                <a:solidFill>
                  <a:srgbClr val="64748B"/>
                </a:solidFill>
              </a:rPr>
              <a:t>Benchmarking MobileViT architectures for multi-spectral face presentation attack detection.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366F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Decentralized Campus Identity: </a:t>
            </a:r>
            <a:r>
              <a:rPr sz="1100">
                <a:solidFill>
                  <a:srgbClr val="64748B"/>
                </a:solidFill>
              </a:rPr>
              <a:t>Zero-knowledge proof (ZKP) identity verification for verifiable cross-campus student mobility.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