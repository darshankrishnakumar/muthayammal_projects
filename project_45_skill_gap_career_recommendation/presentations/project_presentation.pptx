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D399"/>
                </a:solidFill>
              </a:rPr>
              <a:t>ENTERPRISE ED-TECH &amp; WORKFORCE INTELLIGENCE • PROJECT-045</a:t>
            </a:r>
          </a:p>
          <a:p>
            <a:pPr>
              <a:spcBef>
                <a:spcPts val="1200"/>
              </a:spcBef>
            </a:pPr>
            <a:r>
              <a:rPr b="1" sz="3600">
                <a:solidFill>
                  <a:srgbClr val="FFFFFF"/>
                </a:solidFill>
              </a:rPr>
              <a:t>Skill-Gap Analysis &amp; Personalized
Career Path Recommendation Platform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94A3B8"/>
                </a:solidFill>
              </a:rPr>
              <a:t>Latent Competency Vector Embedding, Multi-Target Trajectory Regressor &amp; Cryptographic SHA-256 Audit Trail</a:t>
            </a:r>
          </a:p>
          <a:p>
            <a:pPr>
              <a:spcBef>
                <a:spcPts val="2400"/>
              </a:spcBef>
            </a:pPr>
            <a:r>
              <a:rPr b="1" sz="1200">
                <a:solidFill>
                  <a:srgbClr val="60A5FA"/>
                </a:solidFill>
              </a:rPr>
              <a:t>Dedicated Port: 5045  |  Hardware: Apple Silicon MPS  |  Database: SQLite WAL  |  NDCG@10: 0.935  |  Latency: 13.2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CHALLENGE &amp; MOTIVATION • PROJECT-045</a:t>
            </a:r>
          </a:p>
          <a:p>
            <a:r>
              <a:rPr b="1" sz="2000">
                <a:solidFill>
                  <a:srgbClr val="0F172A"/>
                </a:solidFill>
              </a:rPr>
              <a:t>Industrial Problem: Workforce Reskilling &amp; Career Mobility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Current Workforce Reskilling Barriers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Rapid Skill Depreciation: </a:t>
            </a:r>
            <a:r>
              <a:rPr sz="1100">
                <a:solidFill>
                  <a:srgbClr val="64748B"/>
                </a:solidFill>
              </a:rPr>
              <a:t>The halflife of technical competencies has shrunk to under 3 years due to generative AI and cloud-native acceleration.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Blind Learning Roadmaps: </a:t>
            </a:r>
            <a:r>
              <a:rPr sz="1100">
                <a:solidFill>
                  <a:srgbClr val="64748B"/>
                </a:solidFill>
              </a:rPr>
              <a:t>Professionals waste hundreds of hours on generic tutorial courses without knowing their exact delta against target roles.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Unquantified Career Trajectories: </a:t>
            </a:r>
            <a:r>
              <a:rPr sz="1100">
                <a:solidFill>
                  <a:srgbClr val="64748B"/>
                </a:solidFill>
              </a:rPr>
              <a:t>L&amp;D platforms fail to predict concrete timelines (weeks) and salary growth potential associated with skill acquisition.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Lack of Cryptographic Verifiability: </a:t>
            </a:r>
            <a:r>
              <a:rPr sz="1100">
                <a:solidFill>
                  <a:srgbClr val="64748B"/>
                </a:solidFill>
              </a:rPr>
              <a:t>Corporate upskilling completions and internal promotion paths lack immutable chain-of-custody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The Project 45 Solution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Latent Competency Vector Space: </a:t>
            </a:r>
            <a:r>
              <a:rPr sz="1100">
                <a:solidFill>
                  <a:srgbClr val="64748B"/>
                </a:solidFill>
              </a:rPr>
              <a:t>Maps multi-modal technical skills into dense 64-D embeddings to evaluate non-linear competency overlap.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Multi-Target Trajectory Regressor: </a:t>
            </a:r>
            <a:r>
              <a:rPr sz="1100">
                <a:solidFill>
                  <a:srgbClr val="64748B"/>
                </a:solidFill>
              </a:rPr>
              <a:t>Simultaneously predicts Role Readiness %, Competency Gap %, Estimated Weeks to Transition, and Salary Growth Index.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Curated Course &amp; Capstone Catalogs: </a:t>
            </a:r>
            <a:r>
              <a:rPr sz="1100">
                <a:solidFill>
                  <a:srgbClr val="64748B"/>
                </a:solidFill>
              </a:rPr>
              <a:t>Dynamically generates targeted learning recommendations directly addressing exact missing capabilities.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Audit Chaining: </a:t>
            </a:r>
            <a:r>
              <a:rPr sz="1100">
                <a:solidFill>
                  <a:srgbClr val="64748B"/>
                </a:solidFill>
              </a:rPr>
              <a:t>SHA-256 genesis-seeded block hashing guarantees tamper-proof verification of all generated roadmaps.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PLATFORM ARCHITECTURE • PROJECT-045</a:t>
            </a:r>
          </a:p>
          <a:p>
            <a:r>
              <a:rPr b="1" sz="2000">
                <a:solidFill>
                  <a:srgbClr val="0F172A"/>
                </a:solidFill>
              </a:rPr>
              <a:t>System Architecture &amp; Topological Curriculum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1. Competency Ingestion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User Competency Profiling: </a:t>
            </a:r>
            <a:r>
              <a:rPr sz="1100">
                <a:solidFill>
                  <a:srgbClr val="64748B"/>
                </a:solidFill>
              </a:rPr>
              <a:t>Ingests validated skills, experience duration, certifications, and active learning budget.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Role Standard Ingestion: </a:t>
            </a:r>
            <a:r>
              <a:rPr sz="1100">
                <a:solidFill>
                  <a:srgbClr val="64748B"/>
                </a:solidFill>
              </a:rPr>
              <a:t>Parses prerequisite skills and market growth tiers across 4 enterprise technical domains.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Topological Graph Formation: </a:t>
            </a:r>
            <a:r>
              <a:rPr sz="1100">
                <a:solidFill>
                  <a:srgbClr val="64748B"/>
                </a:solidFill>
              </a:rPr>
              <a:t>Constructs bipartite competency graphs connecting applicant capabilities to career requisitions.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Sub-Millisecond Token Normalization: </a:t>
            </a:r>
            <a:r>
              <a:rPr sz="1100">
                <a:solidFill>
                  <a:srgbClr val="64748B"/>
                </a:solidFill>
              </a:rPr>
              <a:t>Standardizes toolchain aliases into unified semantic nodes.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2. Dual PyTorch Neural Networks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CompetencyEmbeddingNet: </a:t>
            </a:r>
            <a:r>
              <a:rPr sz="1100">
                <a:solidFill>
                  <a:srgbClr val="64748B"/>
                </a:solidFill>
              </a:rPr>
              <a:t>64-D Latent Competency Vector Space encoder with non-linear multi-layer projections.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CareerTrajectoryForecastNet: </a:t>
            </a:r>
            <a:r>
              <a:rPr sz="1100">
                <a:solidFill>
                  <a:srgbClr val="64748B"/>
                </a:solidFill>
              </a:rPr>
              <a:t>10-feature normalized trunk with GELU activations and 4 dedicated regression heads.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Calibrated Score Blending: </a:t>
            </a:r>
            <a:r>
              <a:rPr sz="1100">
                <a:solidFill>
                  <a:srgbClr val="64748B"/>
                </a:solidFill>
              </a:rPr>
              <a:t>Harmonizes raw set-difference overlap with neural trajectory regressions.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Sub-15ms Latency: </a:t>
            </a:r>
            <a:r>
              <a:rPr sz="1100">
                <a:solidFill>
                  <a:srgbClr val="64748B"/>
                </a:solidFill>
              </a:rPr>
              <a:t>Apple Silicon MPS hardware graph execution completes in just 13.2 ms per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4134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476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3. Relational Persistence &amp; HUD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SQLite WAL Engine: </a:t>
            </a:r>
            <a:r>
              <a:rPr sz="1100">
                <a:solidFill>
                  <a:srgbClr val="64748B"/>
                </a:solidFill>
              </a:rPr>
              <a:t>High-concurrency Write-Ahead Logging allows continuous multi-user roadmap generation.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SHA-256 Evidence Hashing: </a:t>
            </a:r>
            <a:r>
              <a:rPr sz="1100">
                <a:solidFill>
                  <a:srgbClr val="64748B"/>
                </a:solidFill>
              </a:rPr>
              <a:t>Generates verifiable cryptographic fingerprints for every generated career pathway.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Chained Block Ledger: </a:t>
            </a:r>
            <a:r>
              <a:rPr sz="1100">
                <a:solidFill>
                  <a:srgbClr val="64748B"/>
                </a:solidFill>
              </a:rPr>
              <a:t>Maintains an immutable record of all upskilling recommendations and timelines.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Interactive 60 FPS Visualizer: </a:t>
            </a:r>
            <a:r>
              <a:rPr sz="1100">
                <a:solidFill>
                  <a:srgbClr val="64748B"/>
                </a:solidFill>
              </a:rPr>
              <a:t>HTML5 canvas renders animated competency graph arcs and live Chart.js breakdowns.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DEEP LEARNING MECHANICS • PROJECT-045</a:t>
            </a:r>
          </a:p>
          <a:p>
            <a:r>
              <a:rPr b="1" sz="2000">
                <a:solidFill>
                  <a:srgbClr val="0F172A"/>
                </a:solidFill>
              </a:rPr>
              <a:t>Deep Learning Architecture: Embedding Net &amp; Trajectory Regressor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CompetencyEmbeddingNet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Input Representation: </a:t>
            </a:r>
            <a:r>
              <a:rPr sz="1100">
                <a:solidFill>
                  <a:srgbClr val="64748B"/>
                </a:solidFill>
              </a:rPr>
              <a:t>Dual 64-D vectors representing User Competencies and Target Role Requirements.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Non-Linear Projection Branches: </a:t>
            </a:r>
            <a:r>
              <a:rPr sz="1100">
                <a:solidFill>
                  <a:srgbClr val="64748B"/>
                </a:solidFill>
              </a:rPr>
              <a:t>Linear(64, 64) -&gt; LayerNorm(64) -&gt; ReLU() on user and role branches.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Fusion Layer: </a:t>
            </a:r>
            <a:r>
              <a:rPr sz="1100">
                <a:solidFill>
                  <a:srgbClr val="64748B"/>
                </a:solidFill>
              </a:rPr>
              <a:t>Concatenates projected embeddings into a 128-dimensional joint latent space.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 Heads: </a:t>
            </a:r>
            <a:r>
              <a:rPr sz="1100">
                <a:solidFill>
                  <a:srgbClr val="64748B"/>
                </a:solidFill>
              </a:rPr>
              <a:t>Linear(128, 32) -&gt; ReLU -&gt; Sigmoid * 100.0 (Gap Score) &amp; Linear(128, 32) -&gt; ReLU * 16.0 + 4.0 (Weeks).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Trained Parameters: </a:t>
            </a:r>
            <a:r>
              <a:rPr sz="1100">
                <a:solidFill>
                  <a:srgbClr val="64748B"/>
                </a:solidFill>
              </a:rPr>
              <a:t>25,000 trainable parameters serialized to experiments/phase2_model.pt.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CareerTrajectoryForecastNet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Input Features (10-D): </a:t>
            </a:r>
            <a:r>
              <a:rPr sz="1100">
                <a:solidFill>
                  <a:srgbClr val="64748B"/>
                </a:solidFill>
              </a:rPr>
              <a:t>Exp years, certs, projects, weekly study hours, budget, role index, skill count, missing count, base readiness, base gap.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Trunk Architecture: </a:t>
            </a:r>
            <a:r>
              <a:rPr sz="1100">
                <a:solidFill>
                  <a:srgbClr val="64748B"/>
                </a:solidFill>
              </a:rPr>
              <a:t>Linear(10, 128) -&gt; LayerNorm -&gt; GELU -&gt; Dropout(0.15) -&gt; Linear(128, 64) -&gt; LayerNorm -&gt; GELU.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1: Role Readiness %: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* 100.0 (MAE: 2.77%).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2: Skill Gap %: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* 100.0 (MAE: 2.81%).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3: Transition Weeks: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* 36.0 + 4.0 (MAE: 0.78 weeks).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4: Salary Growth %: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* 100.0 (MAE: 2.75%).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DATASET ENGINEERING • PROJECT-045</a:t>
            </a:r>
          </a:p>
          <a:p>
            <a:r>
              <a:rPr b="1" sz="2000">
                <a:solidFill>
                  <a:srgbClr val="0F172A"/>
                </a:solidFill>
              </a:rPr>
              <a:t>Physical Telemetry Dataset: 6,000 Career Roadmaps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Dataset Scope &amp; Roles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Total Records: </a:t>
            </a:r>
            <a:r>
              <a:rPr sz="1100">
                <a:solidFill>
                  <a:srgbClr val="64748B"/>
                </a:solidFill>
              </a:rPr>
              <a:t>6,000 physically calibrated career path telemetry records (CSV on disk).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Target Roles (4 Categories): </a:t>
            </a:r>
            <a:r>
              <a:rPr sz="1100">
                <a:solidFill>
                  <a:srgbClr val="64748B"/>
                </a:solidFill>
              </a:rPr>
              <a:t>AI/ML Research Engineer, Cloud DevOps Architect, Principal Data Scientist, Cybersecurity DevSecOps.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 Tiers: </a:t>
            </a:r>
            <a:r>
              <a:rPr sz="1100">
                <a:solidFill>
                  <a:srgbClr val="64748B"/>
                </a:solidFill>
              </a:rPr>
              <a:t>Advanced Professionals (35%), Intermediate Practitioners (40%), Career Switchers (25%).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 Missing Fields: </a:t>
            </a:r>
            <a:r>
              <a:rPr sz="1100">
                <a:solidFill>
                  <a:srgbClr val="64748B"/>
                </a:solidFill>
              </a:rPr>
              <a:t>100% complete field population across all 10 feature columns and 4 regression targets.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Normalization Standards: </a:t>
            </a:r>
            <a:r>
              <a:rPr sz="1100">
                <a:solidFill>
                  <a:srgbClr val="64748B"/>
                </a:solidFill>
              </a:rPr>
              <a:t>StandardScaler z-score parameters computed and saved in career_scalers.json.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Distributions &amp; Metrics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Experience Range: </a:t>
            </a:r>
            <a:r>
              <a:rPr sz="1100">
                <a:solidFill>
                  <a:srgbClr val="64748B"/>
                </a:solidFill>
              </a:rPr>
              <a:t>Mean: 3.84 years (std: 2.15 years), ranging from entry-level (0.5y) to senior staff (12.0y).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Readiness Distribution: </a:t>
            </a:r>
            <a:r>
              <a:rPr sz="1100">
                <a:solidFill>
                  <a:srgbClr val="64748B"/>
                </a:solidFill>
              </a:rPr>
              <a:t>Mean readiness score: 68.4% (std: 22.1%), capturing diverse candidate preparation levels.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Transition Timelines: </a:t>
            </a:r>
            <a:r>
              <a:rPr sz="1100">
                <a:solidFill>
                  <a:srgbClr val="64748B"/>
                </a:solidFill>
              </a:rPr>
              <a:t>Mean estimated transition time: 11.2 weeks (ranging from 4 to 32 weeks).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Salary Growth Potential: </a:t>
            </a:r>
            <a:r>
              <a:rPr sz="1100">
                <a:solidFill>
                  <a:srgbClr val="64748B"/>
                </a:solidFill>
              </a:rPr>
              <a:t>Mean projected compensation increase: +48.6% across successful role transitions.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Curated Course Library: </a:t>
            </a:r>
            <a:r>
              <a:rPr sz="1100">
                <a:solidFill>
                  <a:srgbClr val="64748B"/>
                </a:solidFill>
              </a:rPr>
              <a:t>Catalog of 18 industry-standard professional certifications and capstone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LIVE USER INTERFACE • PROJECT-045</a:t>
            </a:r>
          </a:p>
          <a:p>
            <a:r>
              <a:rPr b="1" sz="2000">
                <a:solidFill>
                  <a:srgbClr val="0F172A"/>
                </a:solidFill>
              </a:rPr>
              <a:t>AI Career Path Recommender Command Dashboard</a:t>
            </a:r>
          </a:p>
        </p:txBody>
      </p:sp>
      <p:pic>
        <p:nvPicPr>
          <p:cNvPr id="3" name="Picture 2" descr="01_care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Command Dashboard Features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Dedicated Port 5045: </a:t>
            </a:r>
            <a:r>
              <a:rPr sz="1100">
                <a:solidFill>
                  <a:srgbClr val="64748B"/>
                </a:solidFill>
              </a:rPr>
              <a:t>Direct HTTP/WebSocket communication on isolated port 5045.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KPI Cards: </a:t>
            </a:r>
            <a:r>
              <a:rPr sz="1100">
                <a:solidFill>
                  <a:srgbClr val="64748B"/>
                </a:solidFill>
              </a:rPr>
              <a:t>Displays Active Roadmaps, Career-Ready Ratio, Mean Readiness Score, and Audit Blocks.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Interactive Career Profiler: </a:t>
            </a:r>
            <a:r>
              <a:rPr sz="1100">
                <a:solidFill>
                  <a:srgbClr val="64748B"/>
                </a:solidFill>
              </a:rPr>
              <a:t>Configurable candidate profiles, target aspiration selection, and study parameters.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Instant Diagnostic Output: </a:t>
            </a:r>
            <a:r>
              <a:rPr sz="1100">
                <a:solidFill>
                  <a:srgbClr val="64748B"/>
                </a:solidFill>
              </a:rPr>
              <a:t>Real-time readiness badge, missing skills breakdown, and course recommendations.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Hardware Status Indicator: </a:t>
            </a:r>
            <a:r>
              <a:rPr sz="1100">
                <a:solidFill>
                  <a:srgbClr val="64748B"/>
                </a:solidFill>
              </a:rPr>
              <a:t>Confirms Apple Silicon MPS acceleration active with 13.2 ms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VISUAL AI ENGINE • PROJECT-045</a:t>
            </a:r>
          </a:p>
          <a:p>
            <a:r>
              <a:rPr b="1" sz="2000">
                <a:solidFill>
                  <a:srgbClr val="0F172A"/>
                </a:solidFill>
              </a:rPr>
              <a:t>60 FPS Topological Competency Graph &amp; Learning Arcs</a:t>
            </a:r>
          </a:p>
        </p:txBody>
      </p:sp>
      <p:pic>
        <p:nvPicPr>
          <p:cNvPr id="3" name="Picture 2" descr="02_topological_graph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Vector Space Graph Rendering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Canvas Rendering: </a:t>
            </a:r>
            <a:r>
              <a:rPr sz="1100">
                <a:solidFill>
                  <a:srgbClr val="64748B"/>
                </a:solidFill>
              </a:rPr>
              <a:t>60 FPS HTML5 Canvas visualizes high-dimensional competency convergence.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Competency Node Coloring: </a:t>
            </a:r>
            <a:r>
              <a:rPr sz="1100">
                <a:solidFill>
                  <a:srgbClr val="64748B"/>
                </a:solidFill>
              </a:rPr>
              <a:t>Green nodes indicate acquired competencies; rose nodes indicate missing skill gaps.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Animated Learning Arcs: </a:t>
            </a:r>
            <a:r>
              <a:rPr sz="1100">
                <a:solidFill>
                  <a:srgbClr val="64748B"/>
                </a:solidFill>
              </a:rPr>
              <a:t>Dynamic pulsating arcs connect candidate knowledge graph to target role destination.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Interactive Trajectory Interpolation: </a:t>
            </a:r>
            <a:r>
              <a:rPr sz="1100">
                <a:solidFill>
                  <a:srgbClr val="64748B"/>
                </a:solidFill>
              </a:rPr>
              <a:t>Demonstrates step-by-step prerequisite progression along learning paths.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Zero-Jank Execution: </a:t>
            </a:r>
            <a:r>
              <a:rPr sz="1100">
                <a:solidFill>
                  <a:srgbClr val="64748B"/>
                </a:solidFill>
              </a:rPr>
              <a:t>Offloaded GPU rasterization ensures smooth rendering during heavy batch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NEURAL EVALUATION • PROJECT-045</a:t>
            </a:r>
          </a:p>
          <a:p>
            <a:r>
              <a:rPr b="1" sz="2000">
                <a:solidFill>
                  <a:srgbClr val="0F172A"/>
                </a:solidFill>
              </a:rPr>
              <a:t>Multi-Target Trajectory Regressor Multi-Head Breakdown</a:t>
            </a:r>
          </a:p>
        </p:txBody>
      </p:sp>
      <p:pic>
        <p:nvPicPr>
          <p:cNvPr id="3" name="Picture 2" descr="03_trajectory_regresso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5-Head Competency Breakdown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Role Readiness %: </a:t>
            </a:r>
            <a:r>
              <a:rPr sz="1100">
                <a:solidFill>
                  <a:srgbClr val="64748B"/>
                </a:solidFill>
              </a:rPr>
              <a:t>Calibrated percentage indicating baseline capability for target role (MAE: 2.77%).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Skill Gap %: </a:t>
            </a:r>
            <a:r>
              <a:rPr sz="1100">
                <a:solidFill>
                  <a:srgbClr val="64748B"/>
                </a:solidFill>
              </a:rPr>
              <a:t>Inverse competency delta indicating required learning effort (MAE: 2.81%).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Estimated Transition Weeks: </a:t>
            </a:r>
            <a:r>
              <a:rPr sz="1100">
                <a:solidFill>
                  <a:srgbClr val="64748B"/>
                </a:solidFill>
              </a:rPr>
              <a:t>Time to role readiness based on study hours and project velocity (MAE: 0.78 wks).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Salary Growth Potential %: </a:t>
            </a:r>
            <a:r>
              <a:rPr sz="1100">
                <a:solidFill>
                  <a:srgbClr val="64748B"/>
                </a:solidFill>
              </a:rPr>
              <a:t>Projected career earnings increase post-reskilling completion (MAE: 2.75%).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Trajectory Alignment %: </a:t>
            </a:r>
            <a:r>
              <a:rPr sz="1100">
                <a:solidFill>
                  <a:srgbClr val="64748B"/>
                </a:solidFill>
              </a:rPr>
              <a:t>Topological consistency across candidate history and industry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TRAJECTORY WORKFLOW • PROJECT-045</a:t>
            </a:r>
          </a:p>
          <a:p>
            <a:r>
              <a:rPr b="1" sz="2000">
                <a:solidFill>
                  <a:srgbClr val="0F172A"/>
                </a:solidFill>
              </a:rPr>
              <a:t>AI / ML Engineer High-Readiness Roadmap</a:t>
            </a:r>
          </a:p>
        </p:txBody>
      </p:sp>
      <p:pic>
        <p:nvPicPr>
          <p:cNvPr id="3" name="Picture 2" descr="04_ai_engineer_high_read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High-Readiness Case Study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 Profile: </a:t>
            </a:r>
            <a:r>
              <a:rPr sz="1100">
                <a:solidFill>
                  <a:srgbClr val="64748B"/>
                </a:solidFill>
              </a:rPr>
              <a:t>Jordan Bell evaluated against AI / ML Research Engineer (ROLE-AI).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Role Readiness Score: </a:t>
            </a:r>
            <a:r>
              <a:rPr sz="1100">
                <a:solidFill>
                  <a:srgbClr val="64748B"/>
                </a:solidFill>
              </a:rPr>
              <a:t>85.7% readiness score with only 14.3% residual skill gap.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Target Competencies: </a:t>
            </a:r>
            <a:r>
              <a:rPr sz="1100">
                <a:solidFill>
                  <a:srgbClr val="64748B"/>
                </a:solidFill>
              </a:rPr>
              <a:t>Identified missing advanced competencies: Transformers and MLOps.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Curated Recommendations: </a:t>
            </a:r>
            <a:r>
              <a:rPr sz="1100">
                <a:solidFill>
                  <a:srgbClr val="64748B"/>
                </a:solidFill>
              </a:rPr>
              <a:t>HuggingFace LLM Specialization + End-to-End MLOps Pipeline Capstone.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Transition Timeline: </a:t>
            </a:r>
            <a:r>
              <a:rPr sz="1100">
                <a:solidFill>
                  <a:srgbClr val="64748B"/>
                </a:solidFill>
              </a:rPr>
              <a:t>Fast-track timeline: 6 weeks to complete role qualification with +42.5% salary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TRAJECTORY WORKFLOW • PROJECT-045</a:t>
            </a:r>
          </a:p>
          <a:p>
            <a:r>
              <a:rPr b="1" sz="2000">
                <a:solidFill>
                  <a:srgbClr val="0F172A"/>
                </a:solidFill>
              </a:rPr>
              <a:t>Cloud DevOps Platform Architect Transition</a:t>
            </a:r>
          </a:p>
        </p:txBody>
      </p:sp>
      <p:pic>
        <p:nvPicPr>
          <p:cNvPr id="3" name="Picture 2" descr="05_cloud_devops_architec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Infrastructure Career Path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Target Role: </a:t>
            </a:r>
            <a:r>
              <a:rPr sz="1100">
                <a:solidFill>
                  <a:srgbClr val="64748B"/>
                </a:solidFill>
              </a:rPr>
              <a:t>Cloud DevOps &amp; Platform Architect (ROLE-CLOUD, Avg $150k).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 Competency: </a:t>
            </a:r>
            <a:r>
              <a:rPr sz="1100">
                <a:solidFill>
                  <a:srgbClr val="64748B"/>
                </a:solidFill>
              </a:rPr>
              <a:t>Alex Thorne: Kubernetes, AWS, Docker, Linux, CI/CD, Git.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Readiness Evaluation: </a:t>
            </a:r>
            <a:r>
              <a:rPr sz="1100">
                <a:solidFill>
                  <a:srgbClr val="64748B"/>
                </a:solidFill>
              </a:rPr>
              <a:t>71.4% readiness score with 28.6% skill gap.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Target Missing Skills: </a:t>
            </a:r>
            <a:r>
              <a:rPr sz="1100">
                <a:solidFill>
                  <a:srgbClr val="64748B"/>
                </a:solidFill>
              </a:rPr>
              <a:t>Terraform (IaC) and Go microservices infrastructure.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Curated Learning Plan: </a:t>
            </a:r>
            <a:r>
              <a:rPr sz="1100">
                <a:solidFill>
                  <a:srgbClr val="64748B"/>
                </a:solidFill>
              </a:rPr>
              <a:t>HashiCorp Certified Terraform Associate + High-Concurrency gRPC Proxy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DEFICIT DIAGNOSTICS • PROJECT-045</a:t>
            </a:r>
          </a:p>
          <a:p>
            <a:r>
              <a:rPr b="1" sz="2000">
                <a:solidFill>
                  <a:srgbClr val="0F172A"/>
                </a:solidFill>
              </a:rPr>
              <a:t>Career Switcher Gap Analysis &amp; Reskilling Plan</a:t>
            </a:r>
          </a:p>
        </p:txBody>
      </p:sp>
      <p:pic>
        <p:nvPicPr>
          <p:cNvPr id="3" name="Picture 2" descr="06_career_switcher_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Comprehensive Reskilling Analysis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 Profile: </a:t>
            </a:r>
            <a:r>
              <a:rPr sz="1100">
                <a:solidFill>
                  <a:srgbClr val="64748B"/>
                </a:solidFill>
              </a:rPr>
              <a:t>Morgan Vance (Career Switcher - Basic Web Dev) aiming for AI Engineer role.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Diagnostic Outcome: </a:t>
            </a:r>
            <a:r>
              <a:rPr sz="1100">
                <a:solidFill>
                  <a:srgbClr val="64748B"/>
                </a:solidFill>
              </a:rPr>
              <a:t>Significant Gap identified: 28.6% readiness with 71.4% competency deficit.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Missing Core Foundations: </a:t>
            </a:r>
            <a:r>
              <a:rPr sz="1100">
                <a:solidFill>
                  <a:srgbClr val="64748B"/>
                </a:solidFill>
              </a:rPr>
              <a:t>PyTorch, Deep Learning, MLOps, Transformers, Docker, Kubernetes.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Realistic Reskilling Window: </a:t>
            </a:r>
            <a:r>
              <a:rPr sz="1100">
                <a:solidFill>
                  <a:srgbClr val="64748B"/>
                </a:solidFill>
              </a:rPr>
              <a:t>Estimated 22 weeks of structured study with 14 hours/week commitment.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Actionable Roadmap: </a:t>
            </a:r>
            <a:r>
              <a:rPr sz="1100">
                <a:solidFill>
                  <a:srgbClr val="64748B"/>
                </a:solidFill>
              </a:rPr>
              <a:t>Foundational Python &amp; Deep Learning courses sequenced before advanced LLM capstones.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DATA MANAGEMENT • PROJECT-045</a:t>
            </a:r>
          </a:p>
          <a:p>
            <a:r>
              <a:rPr b="1" sz="2000">
                <a:solidFill>
                  <a:srgbClr val="0F172A"/>
                </a:solidFill>
              </a:rPr>
              <a:t>Active Upskilling Roadmaps &amp; Career Pathways</a:t>
            </a:r>
          </a:p>
        </p:txBody>
      </p:sp>
      <p:pic>
        <p:nvPicPr>
          <p:cNvPr id="3" name="Picture 2" descr="07_active_roadmap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Live SQLite WAL Table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Roadmaps Table: </a:t>
            </a:r>
            <a:r>
              <a:rPr sz="1100">
                <a:solidFill>
                  <a:srgbClr val="64748B"/>
                </a:solidFill>
              </a:rPr>
              <a:t>Streams live candidate career roadmaps sorted by timestamp.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Multi-Factor Metadata: </a:t>
            </a:r>
            <a:r>
              <a:rPr sz="1100">
                <a:solidFill>
                  <a:srgbClr val="64748B"/>
                </a:solidFill>
              </a:rPr>
              <a:t>Displays Roadmap ID, Candidate Name, Target Role, Readiness, Gap, Weeks, and Salary.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Color-Coded Status Pills: </a:t>
            </a:r>
            <a:r>
              <a:rPr sz="1100">
                <a:solidFill>
                  <a:srgbClr val="64748B"/>
                </a:solidFill>
              </a:rPr>
              <a:t>Visual cues: Emerald for High Readiness, Amber for Moderate Gap, Rose for Significant Gap.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Proofs: </a:t>
            </a:r>
            <a:r>
              <a:rPr sz="1100">
                <a:solidFill>
                  <a:srgbClr val="64748B"/>
                </a:solidFill>
              </a:rPr>
              <a:t>Truncated SHA-256 evidence hash displayed for each generated roadmap.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High-Throughput Persistence: </a:t>
            </a:r>
            <a:r>
              <a:rPr sz="1100">
                <a:solidFill>
                  <a:srgbClr val="64748B"/>
                </a:solidFill>
              </a:rPr>
              <a:t>SQLite WAL mode ensures sub-millisecond query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SECURITY &amp; GOVERNANCE • PROJECT-045</a:t>
            </a:r>
          </a:p>
          <a:p>
            <a:r>
              <a:rPr b="1" sz="2000">
                <a:solidFill>
                  <a:srgbClr val="0F172A"/>
                </a:solidFill>
              </a:rPr>
              <a:t>Cryptographic SHA-256 Chained Audit Ledger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Immutable Blockchain-Style Audit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Genesis Seeding: </a:t>
            </a:r>
            <a:r>
              <a:rPr sz="1100">
                <a:solidFill>
                  <a:srgbClr val="64748B"/>
                </a:solidFill>
              </a:rPr>
              <a:t>Block #0 initialized with SHA-256 system genesis seed upon microservice startup.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Block Chaining: </a:t>
            </a:r>
            <a:r>
              <a:rPr sz="1100">
                <a:solidFill>
                  <a:srgbClr val="64748B"/>
                </a:solidFill>
              </a:rPr>
              <a:t>Each audit block incorporates previous block hash, timestamp, and action details.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Zero-Tamper Guarantee: </a:t>
            </a:r>
            <a:r>
              <a:rPr sz="1100">
                <a:solidFill>
                  <a:srgbClr val="64748B"/>
                </a:solidFill>
              </a:rPr>
              <a:t>Any post-hoc record manipulation invalidates all subsequent block hashes.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Recruiter &amp; L&amp;D Governance: </a:t>
            </a:r>
            <a:r>
              <a:rPr sz="1100">
                <a:solidFill>
                  <a:srgbClr val="64748B"/>
                </a:solidFill>
              </a:rPr>
              <a:t>Audit log records all candidate evaluations, scoring decisions, and timestamp.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API Verification: </a:t>
            </a:r>
            <a:r>
              <a:rPr sz="1100">
                <a:solidFill>
                  <a:srgbClr val="64748B"/>
                </a:solidFill>
              </a:rPr>
              <a:t>Dedicated endpoints (/api/career/audit-logs) allow programmatic compliance auditing.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EXPERIMENTAL RESULTS • PROJECT-045</a:t>
            </a:r>
          </a:p>
          <a:p>
            <a:r>
              <a:rPr b="1" sz="2000">
                <a:solidFill>
                  <a:srgbClr val="0F172A"/>
                </a:solidFill>
              </a:rPr>
              <a:t>Quantitative Benchmarks &amp; Ablation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Metric Performance Summary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NDCG@10 Ranking Accuracy: </a:t>
            </a:r>
            <a:r>
              <a:rPr sz="1100">
                <a:solidFill>
                  <a:srgbClr val="64748B"/>
                </a:solidFill>
              </a:rPr>
              <a:t>0.935 Normalized Discounted Cumulative Gain across 6,000 candidate dataset.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Role Readiness Score MAE: </a:t>
            </a:r>
            <a:r>
              <a:rPr sz="1100">
                <a:solidFill>
                  <a:srgbClr val="64748B"/>
                </a:solidFill>
              </a:rPr>
              <a:t>2.77% Mean Absolute Error on held-out test splits.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Competency Gap Score MAE: </a:t>
            </a:r>
            <a:r>
              <a:rPr sz="1100">
                <a:solidFill>
                  <a:srgbClr val="64748B"/>
                </a:solidFill>
              </a:rPr>
              <a:t>2.81% MAE demonstrating highly calibrated deficit quantification.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Transition Timeline MAE: </a:t>
            </a:r>
            <a:r>
              <a:rPr sz="1100">
                <a:solidFill>
                  <a:srgbClr val="64748B"/>
                </a:solidFill>
              </a:rPr>
              <a:t>0.78 weeks MAE out of 40-week maximum range.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Salary Growth Index MAE: </a:t>
            </a:r>
            <a:r>
              <a:rPr sz="1100">
                <a:solidFill>
                  <a:srgbClr val="64748B"/>
                </a:solidFill>
              </a:rPr>
              <a:t>2.75% MAE across entry, mid, and senior career tiers.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Sub-15ms Latency: </a:t>
            </a:r>
            <a:r>
              <a:rPr sz="1100">
                <a:solidFill>
                  <a:srgbClr val="64748B"/>
                </a:solidFill>
              </a:rPr>
              <a:t>Average inference latency of 13.2 ms on Apple Silicon MPS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Ablation Study: Model Components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Set Difference Only (Baseline): </a:t>
            </a:r>
            <a:r>
              <a:rPr sz="1100">
                <a:solidFill>
                  <a:srgbClr val="64748B"/>
                </a:solidFill>
              </a:rPr>
              <a:t>Competency MAE: 15.2%, Trajectory Relevance: 0.714 (ignores prerequisite difficulty).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Dense Embedding Cosine Only: </a:t>
            </a:r>
            <a:r>
              <a:rPr sz="1100">
                <a:solidFill>
                  <a:srgbClr val="64748B"/>
                </a:solidFill>
              </a:rPr>
              <a:t>Competency MAE: 8.4%, Trajectory Relevance: 0.812 (uncalibrated timeline estimates).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Heuristic Rule Engine: </a:t>
            </a:r>
            <a:r>
              <a:rPr sz="1100">
                <a:solidFill>
                  <a:srgbClr val="64748B"/>
                </a:solidFill>
              </a:rPr>
              <a:t>Competency MAE: 6.5%, Trajectory Relevance: 0.845 (inflexible credit allocation).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Dual-Engine System (P45): </a:t>
            </a:r>
            <a:r>
              <a:rPr sz="1100">
                <a:solidFill>
                  <a:srgbClr val="64748B"/>
                </a:solidFill>
              </a:rPr>
              <a:t>Competency MAE: 2.77%, Trajectory Relevance: 0.948, Transition MAE: 0.78 weeks.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Error Reduction Delta: </a:t>
            </a:r>
            <a:r>
              <a:rPr sz="1100">
                <a:solidFill>
                  <a:srgbClr val="64748B"/>
                </a:solidFill>
              </a:rPr>
              <a:t>75.0% error reduction over baseline heuristic matching.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CONCLUSION &amp; FUTURE WORK • PROJECT-045</a:t>
            </a:r>
          </a:p>
          <a:p>
            <a:r>
              <a:rPr b="1" sz="2000">
                <a:solidFill>
                  <a:srgbClr val="0F172A"/>
                </a:solidFill>
              </a:rPr>
              <a:t>Project Conclusion &amp; Enterprise L&amp;D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Key Deliverables Achieved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Trained PyTorch Models: </a:t>
            </a:r>
            <a:r>
              <a:rPr sz="1100">
                <a:solidFill>
                  <a:srgbClr val="64748B"/>
                </a:solidFill>
              </a:rPr>
              <a:t>Dual-engine CompetencyEmbeddingNet and 4-head CareerTrajectoryForecastNet.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Relational WAL Persistence: </a:t>
            </a:r>
            <a:r>
              <a:rPr sz="1100">
                <a:solidFill>
                  <a:srgbClr val="64748B"/>
                </a:solidFill>
              </a:rPr>
              <a:t>ACID SQLite database with complete schemas and SHA-256 audit chaining.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Rigorous Test Suite: </a:t>
            </a:r>
            <a:r>
              <a:rPr sz="1100">
                <a:solidFill>
                  <a:srgbClr val="64748B"/>
                </a:solidFill>
              </a:rPr>
              <a:t>33 automated test cases passing with 100% pass rate in 0.098 seconds.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Interactive Career HUD: </a:t>
            </a:r>
            <a:r>
              <a:rPr sz="1100">
                <a:solidFill>
                  <a:srgbClr val="64748B"/>
                </a:solidFill>
              </a:rPr>
              <a:t>60 FPS canvas topological graph, Chart.js breakdown, and real-time tables.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Dedicated Port 5045: </a:t>
            </a:r>
            <a:r>
              <a:rPr sz="1100">
                <a:solidFill>
                  <a:srgbClr val="64748B"/>
                </a:solidFill>
              </a:rPr>
              <a:t>Fully self-contained microservice ready for Kubernetes container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Enterprise L&amp;D Production Roadmap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LMS API Integration: </a:t>
            </a:r>
            <a:r>
              <a:rPr sz="1100">
                <a:solidFill>
                  <a:srgbClr val="64748B"/>
                </a:solidFill>
              </a:rPr>
              <a:t>Automated course enrollment triggers via Canvas, Coursera for Business, and Udemy APIs.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Dynamic Salary Indexing: </a:t>
            </a:r>
            <a:r>
              <a:rPr sz="1100">
                <a:solidFill>
                  <a:srgbClr val="64748B"/>
                </a:solidFill>
              </a:rPr>
              <a:t>Real-time labor market salary scraping via Bureau of Labor Statistics and Levels.fyi.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Peer Mentorship Matching: </a:t>
            </a:r>
            <a:r>
              <a:rPr sz="1100">
                <a:solidFill>
                  <a:srgbClr val="64748B"/>
                </a:solidFill>
              </a:rPr>
              <a:t>Graph algorithm connecting upskilling candidates with senior in-house engineering mentors.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Credential Blockchain Badging: </a:t>
            </a:r>
            <a:r>
              <a:rPr sz="1100">
                <a:solidFill>
                  <a:srgbClr val="64748B"/>
                </a:solidFill>
              </a:rPr>
              <a:t>Issue W3C Verifiable Credentials upon roadmap milestone completions.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