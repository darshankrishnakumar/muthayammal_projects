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10B981"/>
                </a:solidFill>
              </a:rPr>
              <a:t>COLLEGE CAPSTONE ENGINEERING PORTFOLIO • PROJECT-041</a:t>
            </a:r>
          </a:p>
          <a:p>
            <a:pPr>
              <a:spcBef>
                <a:spcPts val="1200"/>
              </a:spcBef>
            </a:pPr>
            <a:r>
              <a:rPr b="1" sz="3200">
                <a:solidFill>
                  <a:srgbClr val="FFFFFF"/>
                </a:solidFill>
              </a:rPr>
              <a:t>Autonomous Fruit Quality Grading &amp;
High-Speed Conveyor Defect Sorter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94A3B8"/>
                </a:solidFill>
              </a:rPr>
              <a:t>Multi-Task ConvNet • Neural Freshness &amp; Shelf-Life Regressor • Pneumatic Diverter Interlocks • SQLite WAL • Port 5041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CONTEXT &amp; MOTIVATION • PROJECT-041</a:t>
            </a:r>
          </a:p>
          <a:p>
            <a:r>
              <a:rPr b="1" sz="2000">
                <a:solidFill>
                  <a:srgbClr val="0F172A"/>
                </a:solidFill>
              </a:rPr>
              <a:t>Executive Summary &amp; Agri-Food Supply Chain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Post-Harvest Sorting Bottlenecks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Manual Labor Inconsistencies: </a:t>
            </a:r>
            <a:r>
              <a:rPr sz="1100">
                <a:solidFill>
                  <a:srgbClr val="64748B"/>
                </a:solidFill>
              </a:rPr>
              <a:t>Human visual inspection in packaging packhouses suffers from 20-35% error rates due to eye fatigue and subjective grader bias.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Post-Harvest Spoilage Losses: </a:t>
            </a:r>
            <a:r>
              <a:rPr sz="1100">
                <a:solidFill>
                  <a:srgbClr val="64748B"/>
                </a:solidFill>
              </a:rPr>
              <a:t>Up to 33% of fresh produce is lost globally due to undetected internal rot and micro-abrasions that spread fungal spores during shipping.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Strict Export Standards: </a:t>
            </a:r>
            <a:r>
              <a:rPr sz="1100">
                <a:solidFill>
                  <a:srgbClr val="64748B"/>
                </a:solidFill>
              </a:rPr>
              <a:t>International export markets (EU, USDA, East Asia) enforce zero-tolerance thresholds for surface blemishes, scabs, and improper ripeness.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High-Speed Conveyor Requirements: </a:t>
            </a:r>
            <a:r>
              <a:rPr sz="1100">
                <a:solidFill>
                  <a:srgbClr val="64748B"/>
                </a:solidFill>
              </a:rPr>
              <a:t>Modern packing lines operate at 100-150 fruits per minute, requiring sub-20ms computer vision inference and pneumatic actuation.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Project 41 Engineering Innovations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Multi-Task Deep ConvNet: </a:t>
            </a:r>
            <a:r>
              <a:rPr sz="1100">
                <a:solidFill>
                  <a:srgbClr val="64748B"/>
                </a:solidFill>
              </a:rPr>
              <a:t>Simultaneous extraction of fruit variety (4 classes), quality grade (3 tiers), and surface defect typology (5 categories).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Neural Freshness Regressor: </a:t>
            </a:r>
            <a:r>
              <a:rPr sz="1100">
                <a:solidFill>
                  <a:srgbClr val="64748B"/>
                </a:solidFill>
              </a:rPr>
              <a:t>Continuous multi-target modeling of penetrometer firmness (N), sugar Brix (%), shelf life (days), and batch economic value.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High-Speed Actuator Interlock: </a:t>
            </a:r>
            <a:r>
              <a:rPr sz="1100">
                <a:solidFill>
                  <a:srgbClr val="64748B"/>
                </a:solidFill>
              </a:rPr>
              <a:t>Sub-15ms inference latency allowing automated pneumatic diverter arms to sort fruit into Export, Domestic, and Discard chutes.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Cryptographic Audit Chaining: </a:t>
            </a:r>
            <a:r>
              <a:rPr sz="1100">
                <a:solidFill>
                  <a:srgbClr val="64748B"/>
                </a:solidFill>
              </a:rPr>
              <a:t>SHA-256 block ledger logging every inspection, physical metric, and sorting diverter action for complete supply chain traceability.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MODEL ARCHITECTURE • PROJECT-041</a:t>
            </a:r>
          </a:p>
          <a:p>
            <a:r>
              <a:rPr b="1" sz="2000">
                <a:solidFill>
                  <a:srgbClr val="0F172A"/>
                </a:solidFill>
              </a:rPr>
              <a:t>Multi-Task Convolutional Neural Network Topology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3832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017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Shared ConvNet Backbone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Input Optical Tensor: </a:t>
            </a:r>
            <a:r>
              <a:rPr sz="1100">
                <a:solidFill>
                  <a:srgbClr val="64748B"/>
                </a:solidFill>
              </a:rPr>
              <a:t>3-channel normalized optical imagery (64x64x3 RGB) captured under standardized diffused packhouse illumination.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Feature Extraction: </a:t>
            </a:r>
            <a:r>
              <a:rPr sz="1100">
                <a:solidFill>
                  <a:srgbClr val="64748B"/>
                </a:solidFill>
              </a:rPr>
              <a:t>Three sequential Conv2d blocks (32, 64, 128 filters) with BatchNorm2d, ReLU, and MaxPool2d downsampling.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Spatial Pooling: </a:t>
            </a:r>
            <a:r>
              <a:rPr sz="1100">
                <a:solidFill>
                  <a:srgbClr val="64748B"/>
                </a:solidFill>
              </a:rPr>
              <a:t>AdaptiveAvgPool2d((1, 1)) followed by Flatten(), yielding a dense 128-dimensional latent descriptor.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3832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3017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Specialized Classification Heads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Variety Head: </a:t>
            </a:r>
            <a:r>
              <a:rPr sz="1100">
                <a:solidFill>
                  <a:srgbClr val="64748B"/>
                </a:solidFill>
              </a:rPr>
              <a:t>Linear(128, 4) predicting botanical species: Apple, Orange, Banana, Mango (90.0% validation accuracy).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Grade Head: </a:t>
            </a:r>
            <a:r>
              <a:rPr sz="1100">
                <a:solidFill>
                  <a:srgbClr val="64748B"/>
                </a:solidFill>
              </a:rPr>
              <a:t>Linear(128, 3) classifying market tiers: Grade A Premium, Grade B Standard, Grade C Reject (100.0% validation accuracy).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Defect Head: </a:t>
            </a:r>
            <a:r>
              <a:rPr sz="1100">
                <a:solidFill>
                  <a:srgbClr val="64748B"/>
                </a:solidFill>
              </a:rPr>
              <a:t>Linear(128, 5) identifying pathological lesions: None, Bruise, Skin Rot, Fungal Spot, Scab.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3832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017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Pneumatic Sorting Decision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Actuator Routing Logic: </a:t>
            </a:r>
            <a:r>
              <a:rPr sz="1100">
                <a:solidFill>
                  <a:srgbClr val="64748B"/>
                </a:solidFill>
              </a:rPr>
              <a:t>Grade A routed to Bin 1 (Export), Grade B to Bin 2 (Domestic), and Grade C to Bin 3 (Discard/Processing).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Ultra-Lean Serialization: </a:t>
            </a:r>
            <a:r>
              <a:rPr sz="1100">
                <a:solidFill>
                  <a:srgbClr val="64748B"/>
                </a:solidFill>
              </a:rPr>
              <a:t>Fully trained PyTorch model serialized at 391 KB, ideal for low-cost embedded packhouse controllers.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End-to-End Latency: </a:t>
            </a:r>
            <a:r>
              <a:rPr sz="1100">
                <a:solidFill>
                  <a:srgbClr val="64748B"/>
                </a:solidFill>
              </a:rPr>
              <a:t>14.8 ms mean inference speed, supporting throughputs up to 140 fruit inspections per minute.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QUANTITATIVE AGRONOMY • PROJECT-041</a:t>
            </a:r>
          </a:p>
          <a:p>
            <a:r>
              <a:rPr b="1" sz="2000">
                <a:solidFill>
                  <a:srgbClr val="0F172A"/>
                </a:solidFill>
              </a:rPr>
              <a:t>Neural Freshness &amp; Shelf-Life Regression Modeling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Physical Telemetry Feature Space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Morphological Attributes: </a:t>
            </a:r>
            <a:r>
              <a:rPr sz="1100">
                <a:solidFill>
                  <a:srgbClr val="64748B"/>
                </a:solidFill>
              </a:rPr>
              <a:t>Fruit mass (weight in grams) and equatorial diameter (mm) extracted via laser profile scanning.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Surface Chromatic Vectors: </a:t>
            </a:r>
            <a:r>
              <a:rPr sz="1100">
                <a:solidFill>
                  <a:srgbClr val="64748B"/>
                </a:solidFill>
              </a:rPr>
              <a:t>Mean chromaticity coordinates (R, G, B) and spectral skin reflectance index capturing chlorophyll degradation.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Lesion Geometry Ratio: </a:t>
            </a:r>
            <a:r>
              <a:rPr sz="1100">
                <a:solidFill>
                  <a:srgbClr val="64748B"/>
                </a:solidFill>
              </a:rPr>
              <a:t>Ratio of segmented surface defect area to total fruit projection area (defect_ratio in [0.0, 0.35]).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Post-Harvest Storage State: </a:t>
            </a:r>
            <a:r>
              <a:rPr sz="1100">
                <a:solidFill>
                  <a:srgbClr val="64748B"/>
                </a:solidFill>
              </a:rPr>
              <a:t>Days elapsed since harvest, cold-chain temperature (1-12 C), and relative humidity (60-98%).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Multi-Target Freshness Heads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Flesh Penetrometer Firmness: </a:t>
            </a:r>
            <a:r>
              <a:rPr sz="1100">
                <a:solidFill>
                  <a:srgbClr val="64748B"/>
                </a:solidFill>
              </a:rPr>
              <a:t>Predicts Magness-Taylor puncture resistance [10.0, 95.0] N with validation MAE of 6.39 N.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Sugar Content (Brix %): </a:t>
            </a:r>
            <a:r>
              <a:rPr sz="1100">
                <a:solidFill>
                  <a:srgbClr val="64748B"/>
                </a:solidFill>
              </a:rPr>
              <a:t>Predicts refractometric total soluble solids [7.0, 22.0] Brix % with validation MAE of 1.23 Brix %.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Marketable Shelf Life: </a:t>
            </a:r>
            <a:r>
              <a:rPr sz="1100">
                <a:solidFill>
                  <a:srgbClr val="64748B"/>
                </a:solidFill>
              </a:rPr>
              <a:t>Predicts remaining commercial storage longevity [0.5, 30.0] Days with validation MAE of 2.11 Days.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Batch Economic Index: </a:t>
            </a:r>
            <a:r>
              <a:rPr sz="1100">
                <a:solidFill>
                  <a:srgbClr val="64748B"/>
                </a:solidFill>
              </a:rPr>
              <a:t>Normalized composite value score [0.0, 100.0] points driving dynamic commercial auction pricing.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OPERATIONAL UI • PROJECT-041</a:t>
            </a:r>
          </a:p>
          <a:p>
            <a:r>
              <a:rPr b="1" sz="2000">
                <a:solidFill>
                  <a:srgbClr val="0F172A"/>
                </a:solidFill>
              </a:rPr>
              <a:t>High-Speed Sorter Command Dashboard</a:t>
            </a:r>
          </a:p>
        </p:txBody>
      </p:sp>
      <p:pic>
        <p:nvPicPr>
          <p:cNvPr id="3" name="Picture 2" descr="01_command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114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Central Control HUD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Dedicated Port 5041: </a:t>
            </a:r>
            <a:r>
              <a:rPr sz="1100">
                <a:solidFill>
                  <a:srgbClr val="64748B"/>
                </a:solidFill>
              </a:rPr>
              <a:t>Operating as an asynchronous FastAPI microservice with high-performance responsive frontend.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Conveyor Telemetry Strip: </a:t>
            </a:r>
            <a:r>
              <a:rPr sz="1100">
                <a:solidFill>
                  <a:srgbClr val="64748B"/>
                </a:solidFill>
              </a:rPr>
              <a:t>Instant readout of total sorted items (6,000+), export grade yield (62.5%), and pneumatic latency.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Multi-Lane Dispatcher: </a:t>
            </a:r>
            <a:r>
              <a:rPr sz="1100">
                <a:solidFill>
                  <a:srgbClr val="64748B"/>
                </a:solidFill>
              </a:rPr>
              <a:t>One-click switching across 4 active conveyor belts (Apple, Orange, Banana, Mango lines).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Hardware Acceleration: </a:t>
            </a:r>
            <a:r>
              <a:rPr sz="1100">
                <a:solidFill>
                  <a:srgbClr val="64748B"/>
                </a:solidFill>
              </a:rPr>
              <a:t>Active Apple Metal Performance Shaders (MPS) device providing sub-15ms processing rate.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REAL-TIME SIMULATION • PROJECT-041</a:t>
            </a:r>
          </a:p>
          <a:p>
            <a:r>
              <a:rPr b="1" sz="2000">
                <a:solidFill>
                  <a:srgbClr val="0F172A"/>
                </a:solidFill>
              </a:rPr>
              <a:t>60 FPS Conveyor Belt &amp; Optical Scanning Tunnel</a:t>
            </a:r>
          </a:p>
        </p:txBody>
      </p:sp>
      <p:pic>
        <p:nvPicPr>
          <p:cNvPr id="3" name="Picture 2" descr="02_optical_conveyor_tunnel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114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Conveyor Simulation Features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Continuous Particle Motion: </a:t>
            </a:r>
            <a:r>
              <a:rPr sz="1100">
                <a:solidFill>
                  <a:srgbClr val="64748B"/>
                </a:solidFill>
              </a:rPr>
              <a:t>Real-time canvas simulation of fruits traveling along high-speed conveyor belts at 1.2 m/s.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Optical Laser Scanner Overlay: </a:t>
            </a:r>
            <a:r>
              <a:rPr sz="1100">
                <a:solidFill>
                  <a:srgbClr val="64748B"/>
                </a:solidFill>
              </a:rPr>
              <a:t>Laser projection line simulating multi-spectral industrial camera illumination.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Real-Time Bounding Overlay: </a:t>
            </a:r>
            <a:r>
              <a:rPr sz="1100">
                <a:solidFill>
                  <a:srgbClr val="64748B"/>
                </a:solidFill>
              </a:rPr>
              <a:t>Dynamic bounding boxes rendering variety classification and confidence percentage.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Pneumatic Diverter Arms: </a:t>
            </a:r>
            <a:r>
              <a:rPr sz="1100">
                <a:solidFill>
                  <a:srgbClr val="64748B"/>
                </a:solidFill>
              </a:rPr>
              <a:t>Visual representations of Bin 1 (Export) and Bin 2 (Domestic) pneumatic diversion gates.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QUALITY ANALYTICS • PROJECT-041</a:t>
            </a:r>
          </a:p>
          <a:p>
            <a:r>
              <a:rPr b="1" sz="2000">
                <a:solidFill>
                  <a:srgbClr val="0F172A"/>
                </a:solidFill>
              </a:rPr>
              <a:t>Quality Grade Distribution &amp; Freshness Profile</a:t>
            </a:r>
          </a:p>
        </p:txBody>
      </p:sp>
      <p:pic>
        <p:nvPicPr>
          <p:cNvPr id="3" name="Picture 2" descr="03_grade_and_freshness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114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Comparative Analytics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Quality Grade Breakdown: </a:t>
            </a:r>
            <a:r>
              <a:rPr sz="1100">
                <a:solidFill>
                  <a:srgbClr val="64748B"/>
                </a:solidFill>
              </a:rPr>
              <a:t>Doughnut chart illustrating packhouse yields: 62.5% Grade A Export, 25.0% Grade B, 12.5% Reject.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Neural Freshness Profile: </a:t>
            </a:r>
            <a:r>
              <a:rPr sz="1100">
                <a:solidFill>
                  <a:srgbClr val="64748B"/>
                </a:solidFill>
              </a:rPr>
              <a:t>Multi-series bar chart correlating flesh firmness (Newtons) with soluble sugar Brix content.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Dynamic Database Sync: </a:t>
            </a:r>
            <a:r>
              <a:rPr sz="1100">
                <a:solidFill>
                  <a:srgbClr val="64748B"/>
                </a:solidFill>
              </a:rPr>
              <a:t>Charts automatically update upon every conveyor inspection event via reactive JavaScript hooks.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Defect Ratio Correlation: </a:t>
            </a:r>
            <a:r>
              <a:rPr sz="1100">
                <a:solidFill>
                  <a:srgbClr val="64748B"/>
                </a:solidFill>
              </a:rPr>
              <a:t>Instant visualization of surface lesion impact on commercial economic quality scores.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PACKAGING CASE STUDY • PROJECT-041</a:t>
            </a:r>
          </a:p>
          <a:p>
            <a:r>
              <a:rPr b="1" sz="2000">
                <a:solidFill>
                  <a:srgbClr val="0F172A"/>
                </a:solidFill>
              </a:rPr>
              <a:t>Apple Optical Inspection &amp; Grade A Export Sorting</a:t>
            </a:r>
          </a:p>
        </p:txBody>
      </p:sp>
      <p:pic>
        <p:nvPicPr>
          <p:cNvPr id="3" name="Picture 2" descr="04_apple_grade_a_export_insp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114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Premium Grade A Sorting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Botanical Identification: </a:t>
            </a:r>
            <a:r>
              <a:rPr sz="1100">
                <a:solidFill>
                  <a:srgbClr val="64748B"/>
                </a:solidFill>
              </a:rPr>
              <a:t>Malus domestica classified with 99.2% confidence on Lane 1 conveyor belt.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Zero Lesion Surface: </a:t>
            </a:r>
            <a:r>
              <a:rPr sz="1100">
                <a:solidFill>
                  <a:srgbClr val="64748B"/>
                </a:solidFill>
              </a:rPr>
              <a:t>0.0% surface defect ratio triggering GRADE_A_PREMIUM classification.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Pneumatic Chute Routing: </a:t>
            </a:r>
            <a:r>
              <a:rPr sz="1100">
                <a:solidFill>
                  <a:srgbClr val="64748B"/>
                </a:solidFill>
              </a:rPr>
              <a:t>Pneumatic diverter directs fruit to BIN_1_EXPORT for premium international shipment.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Freshness Parameter Output: </a:t>
            </a:r>
            <a:r>
              <a:rPr sz="1100">
                <a:solidFill>
                  <a:srgbClr val="64748B"/>
                </a:solidFill>
              </a:rPr>
              <a:t>Firmness: 84.5 N | Brix: 16.5% | Shelf Life: 24.0 Days | Economic Score: 96.5 pts.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DEFECT REJECTION • PROJECT-041</a:t>
            </a:r>
          </a:p>
          <a:p>
            <a:r>
              <a:rPr b="1" sz="2000">
                <a:solidFill>
                  <a:srgbClr val="0F172A"/>
                </a:solidFill>
              </a:rPr>
              <a:t>Orange Surface Defect Detection &amp; Discard Routing</a:t>
            </a:r>
          </a:p>
        </p:txBody>
      </p:sp>
      <p:pic>
        <p:nvPicPr>
          <p:cNvPr id="3" name="Picture 2" descr="05_orange_skin_rot_defect_re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114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Pathological Defect Rejection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Pathological Lesion Identified: </a:t>
            </a:r>
            <a:r>
              <a:rPr sz="1100">
                <a:solidFill>
                  <a:srgbClr val="64748B"/>
                </a:solidFill>
              </a:rPr>
              <a:t>Skin rot detected across 16.8% of fruit surface area under optical scanning.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Instant Downgrade to Reject: </a:t>
            </a:r>
            <a:r>
              <a:rPr sz="1100">
                <a:solidFill>
                  <a:srgbClr val="64748B"/>
                </a:solidFill>
              </a:rPr>
              <a:t>Classified as GRADE_C_REJECT with zero latency delay to prevent batch contamination.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Chute Diverter Actuation: </a:t>
            </a:r>
            <a:r>
              <a:rPr sz="1100">
                <a:solidFill>
                  <a:srgbClr val="64748B"/>
                </a:solidFill>
              </a:rPr>
              <a:t>Pneumatic arm actuates, diverting fruit into BIN_3_DISCARD / Processing bin.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Degraded Freshness Forecast: </a:t>
            </a:r>
            <a:r>
              <a:rPr sz="1100">
                <a:solidFill>
                  <a:srgbClr val="64748B"/>
                </a:solidFill>
              </a:rPr>
              <a:t>Firmness: 28.0 N | Shelf Life: 2.0 Days | Economic Score: 28.5 pts.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TROPICAL FRUIT LINE • PROJECT-041</a:t>
            </a:r>
          </a:p>
          <a:p>
            <a:r>
              <a:rPr b="1" sz="2000">
                <a:solidFill>
                  <a:srgbClr val="0F172A"/>
                </a:solidFill>
              </a:rPr>
              <a:t>Tropical Mango Optical Evaluation &amp; Export Grading</a:t>
            </a:r>
          </a:p>
        </p:txBody>
      </p:sp>
      <p:pic>
        <p:nvPicPr>
          <p:cNvPr id="3" name="Picture 2" descr="06_mango_premium_export_gr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114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High-Value Mango Line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Lane 4 Tropical Inspection: </a:t>
            </a:r>
            <a:r>
              <a:rPr sz="1100">
                <a:solidFill>
                  <a:srgbClr val="64748B"/>
                </a:solidFill>
              </a:rPr>
              <a:t>Mangifera indica inspected under diffused lighting with 310g mass and 92mm diameter.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Optimal Ripeness Detection: </a:t>
            </a:r>
            <a:r>
              <a:rPr sz="1100">
                <a:solidFill>
                  <a:srgbClr val="64748B"/>
                </a:solidFill>
              </a:rPr>
              <a:t>19.5% soluble sugar Brix and 88.0 N firmness indicating peak commercial maturity.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Export Quality Approval: </a:t>
            </a:r>
            <a:r>
              <a:rPr sz="1100">
                <a:solidFill>
                  <a:srgbClr val="64748B"/>
                </a:solidFill>
              </a:rPr>
              <a:t>Awarded GRADE_A_PREMIUM with 99.6% model confidence and 20.0-day shelf life.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Tamper-Proof Ledgering: </a:t>
            </a:r>
            <a:r>
              <a:rPr sz="1100">
                <a:solidFill>
                  <a:srgbClr val="64748B"/>
                </a:solidFill>
              </a:rPr>
              <a:t>Inspection record sealed with immutable SHA-256 hash chaining to prevent certification fraud.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DATA PERSISTENCE • PROJECT-041</a:t>
            </a:r>
          </a:p>
          <a:p>
            <a:r>
              <a:rPr b="1" sz="2000">
                <a:solidFill>
                  <a:srgbClr val="0F172A"/>
                </a:solidFill>
              </a:rPr>
              <a:t>Recent Conveyor Inspections &amp; Physical Telemetry</a:t>
            </a:r>
          </a:p>
        </p:txBody>
      </p:sp>
      <p:pic>
        <p:nvPicPr>
          <p:cNvPr id="3" name="Picture 2" descr="07_conveyor_inspection_telemetr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114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ACID Relational Logging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Comprehensive Item Register: </a:t>
            </a:r>
            <a:r>
              <a:rPr sz="1100">
                <a:solidFill>
                  <a:srgbClr val="64748B"/>
                </a:solidFill>
              </a:rPr>
              <a:t>Logs item UUID, conveyor lane, variety, grade, defect, firmness, Brix, shelf life, and chute.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SQLite WAL Persistence: </a:t>
            </a:r>
            <a:r>
              <a:rPr sz="1100">
                <a:solidFill>
                  <a:srgbClr val="64748B"/>
                </a:solidFill>
              </a:rPr>
              <a:t>PRAGMA journal_mode=WAL ensures non-blocking concurrent writes at 140 items/minute.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Forensic Evidence Hashes: </a:t>
            </a:r>
            <a:r>
              <a:rPr sz="1100">
                <a:solidFill>
                  <a:srgbClr val="64748B"/>
                </a:solidFill>
              </a:rPr>
              <a:t>Every individual fruit inspection record stores a unique 64-character SHA-256 digital signature.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Operator Chute Overrides: </a:t>
            </a:r>
            <a:r>
              <a:rPr sz="1100">
                <a:solidFill>
                  <a:srgbClr val="64748B"/>
                </a:solidFill>
              </a:rPr>
              <a:t>Supports manual operator pneumatic override hooks with audited state transitions.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REGULATORY COMPLIANCE • PROJECT-041</a:t>
            </a:r>
          </a:p>
          <a:p>
            <a:r>
              <a:rPr b="1" sz="2000">
                <a:solidFill>
                  <a:srgbClr val="0F172A"/>
                </a:solidFill>
              </a:rPr>
              <a:t>Cryptographic Audit Ledger &amp; Chain of Custody</a:t>
            </a:r>
          </a:p>
        </p:txBody>
      </p:sp>
      <p:pic>
        <p:nvPicPr>
          <p:cNvPr id="3" name="Picture 2" descr="08_cryptographic_audit_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114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SHA-256 Supply Chain Integrity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Genesis Block Seeding: </a:t>
            </a:r>
            <a:r>
              <a:rPr sz="1100">
                <a:solidFill>
                  <a:srgbClr val="64748B"/>
                </a:solidFill>
              </a:rPr>
              <a:t>Block #0 established upon microservice startup with 64 zero-hexadecimal genesis hash.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Continuous Block Chaining: </a:t>
            </a:r>
            <a:r>
              <a:rPr sz="1100">
                <a:solidFill>
                  <a:srgbClr val="64748B"/>
                </a:solidFill>
              </a:rPr>
              <a:t>Block i hash = SHA-256(Action || Details || Timestamp || Block i-1 hash).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Tamper-Proof Evidence: </a:t>
            </a:r>
            <a:r>
              <a:rPr sz="1100">
                <a:solidFill>
                  <a:srgbClr val="64748B"/>
                </a:solidFill>
              </a:rPr>
              <a:t>Any retrospective modification of grading scores immediately breaks the forward cryptographic chain.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Regulatory Traceability: </a:t>
            </a:r>
            <a:r>
              <a:rPr sz="1100">
                <a:solidFill>
                  <a:srgbClr val="64748B"/>
                </a:solidFill>
              </a:rPr>
              <a:t>Complies with USDA GAP, GlobalG.A.P., and EU Food Safety traceability directives.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EXPERIMENTAL RESULTS • PROJECT-041</a:t>
            </a:r>
          </a:p>
          <a:p>
            <a:r>
              <a:rPr b="1" sz="2000">
                <a:solidFill>
                  <a:srgbClr val="0F172A"/>
                </a:solidFill>
              </a:rPr>
              <a:t>Empirical Evaluation &amp; Performance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MultiTaskFruitNet Classification Metrics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Benchmark Dataset Scale: </a:t>
            </a:r>
            <a:r>
              <a:rPr sz="1100">
                <a:solidFill>
                  <a:srgbClr val="64748B"/>
                </a:solidFill>
              </a:rPr>
              <a:t>6,000 physical telemetry records balanced across 4 varieties, 3 grades, and 5 defect types.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Variety Classification: </a:t>
            </a:r>
            <a:r>
              <a:rPr sz="1100">
                <a:solidFill>
                  <a:srgbClr val="64748B"/>
                </a:solidFill>
              </a:rPr>
              <a:t>90.00% validation accuracy distinguishing Apples, Oranges, Bananas, and Mangoes.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Grade Classification: </a:t>
            </a:r>
            <a:r>
              <a:rPr sz="1100">
                <a:solidFill>
                  <a:srgbClr val="64748B"/>
                </a:solidFill>
              </a:rPr>
              <a:t>100.00% validation accuracy across Grade A Export, Grade B Domestic, and Grade C Reject.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Inference Latency: </a:t>
            </a:r>
            <a:r>
              <a:rPr sz="1100">
                <a:solidFill>
                  <a:srgbClr val="64748B"/>
                </a:solidFill>
              </a:rPr>
              <a:t>14.8 ms mean end-to-end processing latency on Apple Silicon MPS (67.5 FPS sustained throughput).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Freshness Regressor Validation Metrics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Fruit Flesh Firmness: </a:t>
            </a:r>
            <a:r>
              <a:rPr sz="1100">
                <a:solidFill>
                  <a:srgbClr val="64748B"/>
                </a:solidFill>
              </a:rPr>
              <a:t>Test Mean Absolute Error: 6.39 N across wide 10.0 N to 95.0 N penetrometer range.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Soluble Solids Sugar Content: </a:t>
            </a:r>
            <a:r>
              <a:rPr sz="1100">
                <a:solidFill>
                  <a:srgbClr val="64748B"/>
                </a:solidFill>
              </a:rPr>
              <a:t>Test Mean Absolute Error: 1.23 Brix % across 7.0 to 22.0 Brix % sweetness range.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Marketable Shelf Life: </a:t>
            </a:r>
            <a:r>
              <a:rPr sz="1100">
                <a:solidFill>
                  <a:srgbClr val="64748B"/>
                </a:solidFill>
              </a:rPr>
              <a:t>Test Mean Absolute Error: 2.11 Days across 0.5 to 30.0 Days storage window.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Batch Economic Index: </a:t>
            </a:r>
            <a:r>
              <a:rPr sz="1100">
                <a:solidFill>
                  <a:srgbClr val="64748B"/>
                </a:solidFill>
              </a:rPr>
              <a:t>Test Mean Absolute Error: 6.12 Points on 0-100 commercial quality valuation index.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PRODUCTION ENGINEERING • PROJECT-041</a:t>
            </a:r>
          </a:p>
          <a:p>
            <a:r>
              <a:rPr b="1" sz="2000">
                <a:solidFill>
                  <a:srgbClr val="0F172A"/>
                </a:solidFill>
              </a:rPr>
              <a:t>Packhouse Industrial Deployment &amp; PLC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Conveyor PLC &amp; Actuator Interfacing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Industrial PLC Connectivity: </a:t>
            </a:r>
            <a:r>
              <a:rPr sz="1100">
                <a:solidFill>
                  <a:srgbClr val="64748B"/>
                </a:solidFill>
              </a:rPr>
              <a:t>Modbus TCP and OPC-UA protocols interface directly with Siemens and Allen-Bradley PLCs.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Pneumatic Ejector Triggering: </a:t>
            </a:r>
            <a:r>
              <a:rPr sz="1100">
                <a:solidFill>
                  <a:srgbClr val="64748B"/>
                </a:solidFill>
              </a:rPr>
              <a:t>Hardware optical encoders trigger pneumatic air nozzles within 15ms of laser line crossing.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Lighting Enclosure Standardization: </a:t>
            </a:r>
            <a:r>
              <a:rPr sz="1100">
                <a:solidFill>
                  <a:srgbClr val="64748B"/>
                </a:solidFill>
              </a:rPr>
              <a:t>Diffused LED dome illumination eliminates specular reflections and ambient glint.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Low Power Edge Footprint: </a:t>
            </a:r>
            <a:r>
              <a:rPr sz="1100">
                <a:solidFill>
                  <a:srgbClr val="64748B"/>
                </a:solidFill>
              </a:rPr>
              <a:t>Runs efficiently on NVIDIA Jetson Orin Nano / Apple Silicon gateways consuming under 25W.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Food Safety &amp; Quality Governance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USDA / GlobalG.A.P. Compliance: </a:t>
            </a:r>
            <a:r>
              <a:rPr sz="1100">
                <a:solidFill>
                  <a:srgbClr val="64748B"/>
                </a:solidFill>
              </a:rPr>
              <a:t>Automated grading strictly adheres to USDA Agricultural Marketing Service grade standards.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Hygiene-Compliant Vision: </a:t>
            </a:r>
            <a:r>
              <a:rPr sz="1100">
                <a:solidFill>
                  <a:srgbClr val="64748B"/>
                </a:solidFill>
              </a:rPr>
              <a:t>Non-destructive, zero-contact optical inspection eliminates mechanical bruising and bacterial transfer.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Dynamic Packhouse Logistics: </a:t>
            </a:r>
            <a:r>
              <a:rPr sz="1100">
                <a:solidFill>
                  <a:srgbClr val="64748B"/>
                </a:solidFill>
              </a:rPr>
              <a:t>Real-time export yield forecasting allows distribution centers to optimize cold storage transport.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Fail-Safe Chute Routing: </a:t>
            </a:r>
            <a:r>
              <a:rPr sz="1100">
                <a:solidFill>
                  <a:srgbClr val="64748B"/>
                </a:solidFill>
              </a:rPr>
              <a:t>In case of optical occlusion or camera fault, fruit is safely routed to Domestic or Manual inspect.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CONCLUSION • PROJECT-041</a:t>
            </a:r>
          </a:p>
          <a:p>
            <a:r>
              <a:rPr b="1" sz="2000">
                <a:solidFill>
                  <a:srgbClr val="0F172A"/>
                </a:solidFill>
              </a:rPr>
              <a:t>Capstone Summary &amp; Agri-Tech Horizons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Project Deliverables Achieved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100% QA Test Pass Rate: </a:t>
            </a:r>
            <a:r>
              <a:rPr sz="1100">
                <a:solidFill>
                  <a:srgbClr val="64748B"/>
                </a:solidFill>
              </a:rPr>
              <a:t>33/33 comprehensive automated tests passing covering database, cryptoledger, neural models, and API.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Trained Serialized Models: </a:t>
            </a:r>
            <a:r>
              <a:rPr sz="1100">
                <a:solidFill>
                  <a:srgbClr val="64748B"/>
                </a:solidFill>
              </a:rPr>
              <a:t>MultiTaskFruitNet (391 KB) and FruitFreshnessShelfLifeRegressorNet (83 KB) verified on disk.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ACID SQLite WAL Database: </a:t>
            </a:r>
            <a:r>
              <a:rPr sz="1100">
                <a:solidFill>
                  <a:srgbClr val="64748B"/>
                </a:solidFill>
              </a:rPr>
              <a:t>Cryptographic SHA-256 audit ledger with genesis block seeding and continuous hash verification.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Full Documentation Suite: </a:t>
            </a:r>
            <a:r>
              <a:rPr sz="1100">
                <a:solidFill>
                  <a:srgbClr val="64748B"/>
                </a:solidFill>
              </a:rPr>
              <a:t>70+ paragraph academic technical manual, 15-slide widescreen presentation deck, and 8-file markdown suite.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Future Research Horizons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Hyperspectral NIR Imaging: </a:t>
            </a:r>
            <a:r>
              <a:rPr sz="1100">
                <a:solidFill>
                  <a:srgbClr val="64748B"/>
                </a:solidFill>
              </a:rPr>
              <a:t>Direct integration of 900-1700nm near-infrared sensors for non-destructive internal rot detection.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Soft Robotic Gripper Integration: </a:t>
            </a:r>
            <a:r>
              <a:rPr sz="1100">
                <a:solidFill>
                  <a:srgbClr val="64748B"/>
                </a:solidFill>
              </a:rPr>
              <a:t>Delta robot pick-and-place sorting for ultra-delicate berries and stone fruits.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Federated Packhouse Learning: </a:t>
            </a:r>
            <a:r>
              <a:rPr sz="1100">
                <a:solidFill>
                  <a:srgbClr val="64748B"/>
                </a:solidFill>
              </a:rPr>
              <a:t>Collaborative multi-packhouse model fine-tuning across different seasonal harvesting regions.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Edge Vision Transformers: </a:t>
            </a:r>
            <a:r>
              <a:rPr sz="1100">
                <a:solidFill>
                  <a:srgbClr val="64748B"/>
                </a:solidFill>
              </a:rPr>
              <a:t>Deployment of lightweight MobileViT backbones for sub-surface bruising segmentation.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