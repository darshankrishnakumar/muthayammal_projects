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200">
                <a:solidFill>
                  <a:srgbClr val="06B6D4"/>
                </a:solidFill>
              </a:rPr>
              <a:t>CAPSTONE VERIFICATION PORTFOLIO • PROJECT-047</a:t>
            </a:r>
          </a:p>
          <a:p>
            <a:pPr>
              <a:spcAft>
                <a:spcPts val="1600"/>
              </a:spcAft>
            </a:pPr>
            <a:r>
              <a:rPr b="1" sz="3600">
                <a:solidFill>
                  <a:srgbClr val="FFFFFF"/>
                </a:solidFill>
              </a:rPr>
              <a:t>Automated Classroom Student Engagement
&amp; Attention Analysis Using Computer Vision</a:t>
            </a:r>
          </a:p>
          <a:p>
            <a:pPr>
              <a:spcAft>
                <a:spcPts val="2400"/>
              </a:spcAft>
            </a:pPr>
            <a:r>
              <a:rPr sz="1400">
                <a:solidFill>
                  <a:srgbClr val="CBD5E1"/>
                </a:solidFill>
              </a:rPr>
              <a:t>A Privacy-Preserving Multimodal Ed-Tech Platform Integrating 3D Gaze Tracking, Facial Action Units,
Multi-Target Neural Attention Regression, and Cryptographic SHA-256 Audit Chaining.</a:t>
            </a:r>
          </a:p>
          <a:p>
            <a:r>
              <a:rPr b="1" sz="1100">
                <a:solidFill>
                  <a:srgbClr val="06B6D4"/>
                </a:solidFill>
              </a:rPr>
              <a:t>Port Allocation: 5047 | Architecture: PyTorch Dual-Engine (MPS/CUDA) | DB: SQLite WAL | Tests: 35/35 Passing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6B6D4"/>
                </a:solidFill>
              </a:rPr>
              <a:t>PEDAGOGICAL MANDATE • PROJECT-047</a:t>
            </a:r>
          </a:p>
          <a:p>
            <a:r>
              <a:rPr b="1" sz="2000">
                <a:solidFill>
                  <a:srgbClr val="0F172A"/>
                </a:solidFill>
              </a:rPr>
              <a:t>Executive Briefing: Real-Time Classroom Attention Analytics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Pedagogical Challenges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The Cognitive Attention Curve: </a:t>
            </a:r>
            <a:r>
              <a:rPr>
                <a:solidFill>
                  <a:srgbClr val="1E293B"/>
                </a:solidFill>
              </a:rPr>
              <a:t>Student attentiveness naturally drops by 40-50% after 20 minutes of continuous monologue.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Large Lecture Blindspots: </a:t>
            </a:r>
            <a:r>
              <a:rPr>
                <a:solidFill>
                  <a:srgbClr val="1E293B"/>
                </a:solidFill>
              </a:rPr>
              <a:t>In auditoriums with 30-200 students, instructors cannot visually gauge subtle disengagement or drowsiness.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Post-Hoc Feedback Lag: </a:t>
            </a:r>
            <a:r>
              <a:rPr>
                <a:solidFill>
                  <a:srgbClr val="1E293B"/>
                </a:solidFill>
              </a:rPr>
              <a:t>Traditional end-of-semester surveys arrive weeks after learning gaps have already formed.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Privacy &amp; Ethics Mandate: </a:t>
            </a:r>
            <a:r>
              <a:rPr>
                <a:solidFill>
                  <a:srgbClr val="1E293B"/>
                </a:solidFill>
              </a:rPr>
              <a:t>Classroom analytics must guarantee student privacy without storing raw facial biometric recordings.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Multimodal Edge Vision Needs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Edge Spatial Tracking: </a:t>
            </a:r>
            <a:r>
              <a:rPr>
                <a:solidFill>
                  <a:srgbClr val="1E293B"/>
                </a:solidFill>
              </a:rPr>
              <a:t>3D head pose orientation (pitch, yaw, roll) and pupil gaze vectors tracking board/screen focus.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Facial Action Units (AUs): </a:t>
            </a:r>
            <a:r>
              <a:rPr>
                <a:solidFill>
                  <a:srgbClr val="1E293B"/>
                </a:solidFill>
              </a:rPr>
              <a:t>Extracting micro-expressions (AU45 blink rate, brow furrowing, eye aspect ratio).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Posture Kinematics: </a:t>
            </a:r>
            <a:r>
              <a:rPr>
                <a:solidFill>
                  <a:srgbClr val="1E293B"/>
                </a:solidFill>
              </a:rPr>
              <a:t>Detecting physical engagement cues: note-taking, hand raises, slumping, and phone distractions.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Sub-15ms Latency: </a:t>
            </a:r>
            <a:r>
              <a:rPr>
                <a:solidFill>
                  <a:srgbClr val="1E293B"/>
                </a:solidFill>
              </a:rPr>
              <a:t>Continuous real-time inference without lagging or interrupting the instructional stream.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Delivered Solution Architecture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MultimodalEngagementNet: </a:t>
            </a:r>
            <a:r>
              <a:rPr>
                <a:solidFill>
                  <a:srgbClr val="1E293B"/>
                </a:solidFill>
              </a:rPr>
              <a:t>12-dimensional multimodal fusion network predicting continuous score and 4 pedagogical actions.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AttentionForecastRegressorNet: </a:t>
            </a:r>
            <a:r>
              <a:rPr>
                <a:solidFill>
                  <a:srgbClr val="1E293B"/>
                </a:solidFill>
              </a:rPr>
              <a:t>10-input neural regressor forecasting Attention %, Drowsiness Risk, Urgency, and Participation.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SQLite WAL ACID Persistence: </a:t>
            </a:r>
            <a:r>
              <a:rPr>
                <a:solidFill>
                  <a:srgbClr val="1E293B"/>
                </a:solidFill>
              </a:rPr>
              <a:t>High-concurrency Write-Ahead Logging persisting session telemetry without table lock overhead.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Cryptographic Ledger: </a:t>
            </a:r>
            <a:r>
              <a:rPr>
                <a:solidFill>
                  <a:srgbClr val="1E293B"/>
                </a:solidFill>
              </a:rPr>
              <a:t>Continuous SHA-256 block hash chaining establishing an immutable data audit trail.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6B6D4"/>
                </a:solidFill>
              </a:rPr>
              <a:t>SYSTEM TOPOLOGY • PROJECT-047</a:t>
            </a:r>
          </a:p>
          <a:p>
            <a:r>
              <a:rPr b="1" sz="2000">
                <a:solidFill>
                  <a:srgbClr val="0F172A"/>
                </a:solidFill>
              </a:rPr>
              <a:t>End-to-End System Architecture: Vision Ingestion to Pedagogical Directives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Multimodal Perception &amp; Inference Pipeline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Classroom Optical Ingestion: </a:t>
            </a:r>
            <a:r>
              <a:rPr>
                <a:solidFill>
                  <a:srgbClr val="1E293B"/>
                </a:solidFill>
              </a:rPr>
              <a:t>Wide-angle PTZ or ceiling-mounted cameras streaming 1080p video at 30/60 FPS.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Facial Landmark &amp; Gaze Extraction: </a:t>
            </a:r>
            <a:r>
              <a:rPr>
                <a:solidFill>
                  <a:srgbClr val="1E293B"/>
                </a:solidFill>
              </a:rPr>
              <a:t>Edge feature extraction extracting 5-D facial action units, 3-D head pose, and 4-D posture cues.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Zero Raw Biometric Storage: </a:t>
            </a:r>
            <a:r>
              <a:rPr>
                <a:solidFill>
                  <a:srgbClr val="1E293B"/>
                </a:solidFill>
              </a:rPr>
              <a:t>Only numerical vector representations are preserved; raw video feeds are discarded immediately.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Dual PyTorch Neural Engines: </a:t>
            </a:r>
            <a:r>
              <a:rPr>
                <a:solidFill>
                  <a:srgbClr val="1E293B"/>
                </a:solidFill>
              </a:rPr>
              <a:t>Concurrent forward passes through MultimodalEngagementNet and AttentionForecastRegressorNet.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Apple Silicon MPS Acceleration: </a:t>
            </a:r>
            <a:r>
              <a:rPr>
                <a:solidFill>
                  <a:srgbClr val="1E293B"/>
                </a:solidFill>
              </a:rPr>
              <a:t>Execution latency benchmarked at 11.4 ms per classroom snapshot.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Pedagogical Actuation &amp; Cryptographic Storage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Real-Time Directive Engine: </a:t>
            </a:r>
            <a:r>
              <a:rPr>
                <a:solidFill>
                  <a:srgbClr val="1E293B"/>
                </a:solidFill>
              </a:rPr>
              <a:t>Outputs targeted interventions: MAINTAIN_CURRENT_PACE, ASK_QUESTION, INTERACTIVE_POLL, REFRESHER_BREAK.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Instructor HUD Telemetry: </a:t>
            </a:r>
            <a:r>
              <a:rPr>
                <a:solidFill>
                  <a:srgbClr val="1E293B"/>
                </a:solidFill>
              </a:rPr>
              <a:t>Ambient unobtrusive visual cues on instructor podium console indicating cohort attention drift.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SQLite WAL Engine (classroom.db): </a:t>
            </a:r>
            <a:r>
              <a:rPr>
                <a:solidFill>
                  <a:srgbClr val="1E293B"/>
                </a:solidFill>
              </a:rPr>
              <a:t>Thread-safe connection pooling storing sessions, snapshots, and audit ledger.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SHA-256 Block Chaining: </a:t>
            </a:r>
            <a:r>
              <a:rPr>
                <a:solidFill>
                  <a:srgbClr val="1E293B"/>
                </a:solidFill>
              </a:rPr>
              <a:t>Cryptographically links Snapshot ID, session, engagement metrics, and preceding block hash.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WebSocket Real-Time Broadcast: </a:t>
            </a:r>
            <a:r>
              <a:rPr>
                <a:solidFill>
                  <a:srgbClr val="1E293B"/>
                </a:solidFill>
              </a:rPr>
              <a:t>Streams live 60 FPS updates to operator and instructor control panels via /api/ws.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6B6D4"/>
                </a:solidFill>
              </a:rPr>
              <a:t>MULTIMODAL MODEL • PROJECT-047</a:t>
            </a:r>
          </a:p>
          <a:p>
            <a:r>
              <a:rPr b="1" sz="2000">
                <a:solidFill>
                  <a:srgbClr val="0F172A"/>
                </a:solidFill>
              </a:rPr>
              <a:t>Multimodal Deep Learning: MultimodalEngagementNet Topology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12-Dimensional Multimodal Feature Vector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Stream 1: Facial Action Units (5-D): </a:t>
            </a:r>
            <a:r>
              <a:rPr>
                <a:solidFill>
                  <a:srgbClr val="1E293B"/>
                </a:solidFill>
              </a:rPr>
              <a:t>Attentive, Neutral, Bored, Distracted, Drowsy activation intensities.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Stream 2: 3D Head Pose Orientation (3-D): </a:t>
            </a:r>
            <a:r>
              <a:rPr>
                <a:solidFill>
                  <a:srgbClr val="1E293B"/>
                </a:solidFill>
              </a:rPr>
              <a:t>Continuous Yaw, Pitch, Roll angles determining board vs. downward focus.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Stream 3: Posture &amp; Activity Kinematics (4-D): </a:t>
            </a:r>
            <a:r>
              <a:rPr>
                <a:solidFill>
                  <a:srgbClr val="1E293B"/>
                </a:solidFill>
              </a:rPr>
              <a:t>Note-taking pen strokes, Hand raised gestures, Slumping posture, Phone distraction.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Deep Fusion Trunk: </a:t>
            </a:r>
            <a:r>
              <a:rPr>
                <a:solidFill>
                  <a:srgbClr val="1E293B"/>
                </a:solidFill>
              </a:rPr>
              <a:t>Two normalized dense stages (64 and 32 units) with LayerNorm and GELU non-linearities.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Model Size &amp; Efficiency: </a:t>
            </a:r>
            <a:r>
              <a:rPr>
                <a:solidFill>
                  <a:srgbClr val="1E293B"/>
                </a:solidFill>
              </a:rPr>
              <a:t>Compact footprint of 3,669 parameters executing in sub-2ms on edge hardware.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Dual Prediction Heads &amp; Empirical Benchmarks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Continuous Score Head: </a:t>
            </a:r>
            <a:r>
              <a:rPr>
                <a:solidFill>
                  <a:srgbClr val="1E293B"/>
                </a:solidFill>
              </a:rPr>
              <a:t>Two-layer projection with GELU and Sigmoid activation, scaled to [0.0, 100.0]% Mean Engagement.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Pedagogical Classification Head: </a:t>
            </a:r>
            <a:r>
              <a:rPr>
                <a:solidFill>
                  <a:srgbClr val="1E293B"/>
                </a:solidFill>
              </a:rPr>
              <a:t>Two-layer projection producing raw logits across 4 discrete teaching interventions.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Validation Accuracy: </a:t>
            </a:r>
            <a:r>
              <a:rPr>
                <a:solidFill>
                  <a:srgbClr val="1E293B"/>
                </a:solidFill>
              </a:rPr>
              <a:t>Achieves 100.0% pedagogical action accuracy and 4.22% engagement score MAE on unseen test cohort.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Smooth L1 &amp; Cross-Entropy Loss: </a:t>
            </a:r>
            <a:r>
              <a:rPr>
                <a:solidFill>
                  <a:srgbClr val="1E293B"/>
                </a:solidFill>
              </a:rPr>
              <a:t>Joint multi-task optimization balancing regression smoothness and categorical confidence.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6B6D4"/>
                </a:solidFill>
              </a:rPr>
              <a:t>REGRESSION MODEL • PROJECT-047</a:t>
            </a:r>
          </a:p>
          <a:p>
            <a:r>
              <a:rPr b="1" sz="2000">
                <a:solidFill>
                  <a:srgbClr val="0F172A"/>
                </a:solidFill>
              </a:rPr>
              <a:t>Multi-Target Neural Regressor: Attention &amp; Fatigue Forecasting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10-Dimensional Regressor Architecture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Input Feature Vector: </a:t>
            </a:r>
            <a:r>
              <a:rPr>
                <a:solidFill>
                  <a:srgbClr val="1E293B"/>
                </a:solidFill>
              </a:rPr>
              <a:t>Course index, Action index, Student count, Mean engagement, Attentive %, Bored %, Distracted %, Drowsy %, Board focus %, Hand raises.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Normalized Trunk: </a:t>
            </a:r>
            <a:r>
              <a:rPr>
                <a:solidFill>
                  <a:srgbClr val="1E293B"/>
                </a:solidFill>
              </a:rPr>
              <a:t>Two linear layers (128 and 64 units) with LayerNorm, GELU, and dropout (0.12 / 0.08).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Four Independent Projection Heads: </a:t>
            </a:r>
            <a:r>
              <a:rPr>
                <a:solidFill>
                  <a:srgbClr val="1E293B"/>
                </a:solidFill>
              </a:rPr>
              <a:t>Specialized two-layer heads with Sigmoid scaling modeling distinct pedagogical metrics: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Class Attention Forecast Head: </a:t>
            </a:r>
            <a:r>
              <a:rPr>
                <a:solidFill>
                  <a:srgbClr val="1E293B"/>
                </a:solidFill>
              </a:rPr>
              <a:t>Predicted cohort attention retention percentage [0.0, 100.0]%.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Student Drowsiness Risk Head: </a:t>
            </a:r>
            <a:r>
              <a:rPr>
                <a:solidFill>
                  <a:srgbClr val="1E293B"/>
                </a:solidFill>
              </a:rPr>
              <a:t>Fatigue and micro-sleep probability index [0.0, 100.0]%.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Teacher Urgency Index Head: </a:t>
            </a:r>
            <a:r>
              <a:rPr>
                <a:solidFill>
                  <a:srgbClr val="1E293B"/>
                </a:solidFill>
              </a:rPr>
              <a:t>Intervention urgency score indicating necessity of immediate instructional pivot [0.0, 100.0]%.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Participation Forecast Head: </a:t>
            </a:r>
            <a:r>
              <a:rPr>
                <a:solidFill>
                  <a:srgbClr val="1E293B"/>
                </a:solidFill>
              </a:rPr>
              <a:t>Expected cohort participation rate for upcoming question or poll [0.0, 100.0]%.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Empirical Validation Benchmarks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Mini-Batch AdamW Training: </a:t>
            </a:r>
            <a:r>
              <a:rPr>
                <a:solidFill>
                  <a:srgbClr val="1E293B"/>
                </a:solidFill>
              </a:rPr>
              <a:t>Trained on 4,800 records using AdamW (lr=0.005, weight decay=1e-4) over 25 epochs.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Class Attention Score MAE: </a:t>
            </a:r>
            <a:r>
              <a:rPr>
                <a:solidFill>
                  <a:srgbClr val="1E293B"/>
                </a:solidFill>
              </a:rPr>
              <a:t>0.39% mean absolute error demonstrating sub-percent attention modeling.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Student Drowsiness Risk MAE: </a:t>
            </a:r>
            <a:r>
              <a:rPr>
                <a:solidFill>
                  <a:srgbClr val="1E293B"/>
                </a:solidFill>
              </a:rPr>
              <a:t>3.20% mean absolute error providing reliable fatigue early warnings.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Teacher Intervention Urgency MAE: </a:t>
            </a:r>
            <a:r>
              <a:rPr>
                <a:solidFill>
                  <a:srgbClr val="1E293B"/>
                </a:solidFill>
              </a:rPr>
              <a:t>4.69% mean absolute error calibrating pedagogical pivot timing.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Interactive Participation MAE: </a:t>
            </a:r>
            <a:r>
              <a:rPr>
                <a:solidFill>
                  <a:srgbClr val="1E293B"/>
                </a:solidFill>
              </a:rPr>
              <a:t>5.03% mean absolute error forecasting classroom discussion responsiveness.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6B6D4"/>
                </a:solidFill>
              </a:rPr>
              <a:t>DATA ARCHITECTURE • PROJECT-047</a:t>
            </a:r>
          </a:p>
          <a:p>
            <a:r>
              <a:rPr b="1" sz="2000">
                <a:solidFill>
                  <a:srgbClr val="0F172A"/>
                </a:solidFill>
              </a:rPr>
              <a:t>Classroom Telemetry Corpus: 6,000 Verified Records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Multi-Course Academic Curriculum Corpus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Total Records Generated: </a:t>
            </a:r>
            <a:r>
              <a:rPr>
                <a:solidFill>
                  <a:srgbClr val="1E293B"/>
                </a:solidFill>
              </a:rPr>
              <a:t>6,000 multimodal physical telemetry records in data/classroom_telemetry_6000.csv.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CS-301: Distributed Systems: </a:t>
            </a:r>
            <a:r>
              <a:rPr>
                <a:solidFill>
                  <a:srgbClr val="1E293B"/>
                </a:solidFill>
              </a:rPr>
              <a:t>High-focus systems programming and consensus protocols (Dr. Alan Turing).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MATH-210: Multivariable Calculus: </a:t>
            </a:r>
            <a:r>
              <a:rPr>
                <a:solidFill>
                  <a:srgbClr val="1E293B"/>
                </a:solidFill>
              </a:rPr>
              <a:t>Complex geometric differential forms and Stokes theorem (Prof. Emmy Noether).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AI-405: Deep Learning: </a:t>
            </a:r>
            <a:r>
              <a:rPr>
                <a:solidFill>
                  <a:srgbClr val="1E293B"/>
                </a:solidFill>
              </a:rPr>
              <a:t>Advanced neural architectures and backpropagation through time (Dr. Geoffrey Hinton).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BIO-108: Molecular Genetics: </a:t>
            </a:r>
            <a:r>
              <a:rPr>
                <a:solidFill>
                  <a:srgbClr val="1E293B"/>
                </a:solidFill>
              </a:rPr>
              <a:t>Interactive lab-style CRISPR and PCR genome editing (Prof. Rosalind Franklin).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Cohort Size Range: </a:t>
            </a:r>
            <a:r>
              <a:rPr>
                <a:solidFill>
                  <a:srgbClr val="1E293B"/>
                </a:solidFill>
              </a:rPr>
              <a:t>Models realistic lecture environments with 24 to 45 students per monitored session.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Behavioral Archetypes &amp; Normalization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High Engagement (45%): </a:t>
            </a:r>
            <a:r>
              <a:rPr>
                <a:solidFill>
                  <a:srgbClr val="1E293B"/>
                </a:solidFill>
              </a:rPr>
              <a:t>Attentive 78-96%, Bored 2-8%, Drowsy &lt;4%, Mean score 80-96.5% -&gt; MAINTAIN_CURRENT_PACE.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Active Q&amp;A (30%): </a:t>
            </a:r>
            <a:r>
              <a:rPr>
                <a:solidFill>
                  <a:srgbClr val="1E293B"/>
                </a:solidFill>
              </a:rPr>
              <a:t>Attentive 62-77%, Hand raises 1-5, Participation 55-74% -&gt; ASK_CHECKPOINT_QUESTION.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Attention Slump (15%): </a:t>
            </a:r>
            <a:r>
              <a:rPr>
                <a:solidFill>
                  <a:srgbClr val="1E293B"/>
                </a:solidFill>
              </a:rPr>
              <a:t>Attentive 40-60%, Distracted 20-38%, Urgency 60-82% -&gt; TRIGGER_INTERACTIVE_POLL.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Cognitive Fatigue (10%): </a:t>
            </a:r>
            <a:r>
              <a:rPr>
                <a:solidFill>
                  <a:srgbClr val="1E293B"/>
                </a:solidFill>
              </a:rPr>
              <a:t>Attentive 22-42%, Drowsy 15-32%, Risk 55-88% -&gt; TAKE_2_MIN_REFRESHER_BREAK.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Serialized Feature Scalers: </a:t>
            </a:r>
            <a:r>
              <a:rPr>
                <a:solidFill>
                  <a:srgbClr val="1E293B"/>
                </a:solidFill>
              </a:rPr>
              <a:t>Saved to backend/models/classroom_scalers.json with exact means and standard deviations.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6B6D4"/>
                </a:solidFill>
              </a:rPr>
              <a:t>EDUCATIONAL DESIGN • PROJECT-047</a:t>
            </a:r>
          </a:p>
          <a:p>
            <a:r>
              <a:rPr b="1" sz="2000">
                <a:solidFill>
                  <a:srgbClr val="0F172A"/>
                </a:solidFill>
              </a:rPr>
              <a:t>Pedagogical Interventions &amp; Adaptive Instructional Loops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Four-Tier Adaptive Intervention Policy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1. MAINTAIN_CURRENT_PACE (Emerald): </a:t>
            </a:r>
            <a:r>
              <a:rPr>
                <a:solidFill>
                  <a:srgbClr val="1E293B"/>
                </a:solidFill>
              </a:rPr>
              <a:t>Triggered when cohort attention &gt; 80% and drowsiness &lt; 8%. Validates instructional pacing.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2. ASK_CHECKPOINT_QUESTION (Cyan): </a:t>
            </a:r>
            <a:r>
              <a:rPr>
                <a:solidFill>
                  <a:srgbClr val="1E293B"/>
                </a:solidFill>
              </a:rPr>
              <a:t>Triggered when attention dips to 65-80%. Prompts instructor to pose a diagnostic conceptual check.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3. TRIGGER_INTERACTIVE_POLL (Amber): </a:t>
            </a:r>
            <a:r>
              <a:rPr>
                <a:solidFill>
                  <a:srgbClr val="1E293B"/>
                </a:solidFill>
              </a:rPr>
              <a:t>Triggered when distraction exceeds 20% or attention falls to 50-65%. Re-engages students with live polling.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4. TAKE_2_MIN_REFRESHER_BREAK (Rose): </a:t>
            </a:r>
            <a:r>
              <a:rPr>
                <a:solidFill>
                  <a:srgbClr val="1E293B"/>
                </a:solidFill>
              </a:rPr>
              <a:t>Triggered when drowsiness exceeds 15% or attention drops &lt; 50%. Prompts physical stretch or cognitive break.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Instructor Podium Experience &amp; Micro-Alerts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Non-Intrusive Display: </a:t>
            </a:r>
            <a:r>
              <a:rPr>
                <a:solidFill>
                  <a:srgbClr val="1E293B"/>
                </a:solidFill>
              </a:rPr>
              <a:t>Soft peripheral visual cues avoid startling the lecturer or disrupting lecture momentum.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Trend Direction Indicators: </a:t>
            </a:r>
            <a:r>
              <a:rPr>
                <a:solidFill>
                  <a:srgbClr val="1E293B"/>
                </a:solidFill>
              </a:rPr>
              <a:t>Shows whether cohort attention is stabilizing, recovering, or degrading over 5-minute windows.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Classroom Gaze Tracking: </a:t>
            </a:r>
            <a:r>
              <a:rPr>
                <a:solidFill>
                  <a:srgbClr val="1E293B"/>
                </a:solidFill>
              </a:rPr>
              <a:t>Monitors percentage of cohort maintaining line-of-sight with the blackboard / presentation screen.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Hand Raise Counters: </a:t>
            </a:r>
            <a:r>
              <a:rPr>
                <a:solidFill>
                  <a:srgbClr val="1E293B"/>
                </a:solidFill>
              </a:rPr>
              <a:t>Automated detection of student hand gestures ensuring quiet participants are acknowledged.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6B6D4"/>
                </a:solidFill>
              </a:rPr>
              <a:t>DATA INFRASTRUCTURE • PROJECT-047</a:t>
            </a:r>
          </a:p>
          <a:p>
            <a:r>
              <a:rPr b="1" sz="2000">
                <a:solidFill>
                  <a:srgbClr val="0F172A"/>
                </a:solidFill>
              </a:rPr>
              <a:t>Relational Persistence &amp; SQLite WAL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Relational Database Schema (classroom.db)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classroom_sessions Table: </a:t>
            </a:r>
            <a:r>
              <a:rPr>
                <a:solidFill>
                  <a:srgbClr val="1E293B"/>
                </a:solidFill>
              </a:rPr>
              <a:t>Primary key id, session_id, course_code, course_name, instructor_name, classroom_id, active flag.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engagement_snapshots Table: </a:t>
            </a:r>
            <a:r>
              <a:rPr>
                <a:solidFill>
                  <a:srgbClr val="1E293B"/>
                </a:solidFill>
              </a:rPr>
              <a:t>Snapshot ID, session_id, lecture_title, student_count, mean_engagement_score, attentive_pct, bored_pct, distracted_pct, drowsy_pct, head_pose_board_focus_pct, hand_raise_count, pedagogical_recommendation, drowsiness_risk_score, intervention_urgency_index, participation_rate_forecast, evidence_hash, timestamp.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audit_ledger Table: </a:t>
            </a:r>
            <a:r>
              <a:rPr>
                <a:solidFill>
                  <a:srgbClr val="1E293B"/>
                </a:solidFill>
              </a:rPr>
              <a:t>Block index, timestamp, action type, event details, previous hash, current block hash.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Performance Indices: </a:t>
            </a:r>
            <a:r>
              <a:rPr>
                <a:solidFill>
                  <a:srgbClr val="1E293B"/>
                </a:solidFill>
              </a:rPr>
              <a:t>B-tree indices on session_id, course_code, and block_index for sub-millisecond retrieval.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High-Concurrency Write-Ahead Logging (WAL)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WAL Mode Configuration: </a:t>
            </a:r>
            <a:r>
              <a:rPr>
                <a:solidFill>
                  <a:srgbClr val="1E293B"/>
                </a:solidFill>
              </a:rPr>
              <a:t>Configured via PRAGMA journal_mode=WAL ensuring concurrent reads during telemetry write bursts.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Synchronous Normal PRAGMA: </a:t>
            </a:r>
            <a:r>
              <a:rPr>
                <a:solidFill>
                  <a:srgbClr val="1E293B"/>
                </a:solidFill>
              </a:rPr>
              <a:t>Optimized disk synchronization guaranteeing ACID durability with minimal I/O latency.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Referential Integrity: </a:t>
            </a:r>
            <a:r>
              <a:rPr>
                <a:solidFill>
                  <a:srgbClr val="1E293B"/>
                </a:solidFill>
              </a:rPr>
              <a:t>PRAGMA foreign_keys=ON enforcing relational constraints across sessions and snapshots.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Zero Table Locking: </a:t>
            </a:r>
            <a:r>
              <a:rPr>
                <a:solidFill>
                  <a:srgbClr val="1E293B"/>
                </a:solidFill>
              </a:rPr>
              <a:t>Enables simultaneous 60 FPS WebSocket streaming, background audit logging, and instructor dashboard queries.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6B6D4"/>
                </a:solidFill>
              </a:rPr>
              <a:t>SECURITY &amp; PROVENANCE • PROJECT-047</a:t>
            </a:r>
          </a:p>
          <a:p>
            <a:r>
              <a:rPr b="1" sz="2000">
                <a:solidFill>
                  <a:srgbClr val="0F172A"/>
                </a:solidFill>
              </a:rPr>
              <a:t>Cryptographic Audit Trail: SHA-256 Non-Repudiation Ledger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Blockchain-Inspired Audit Hash Chaining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Genesis Block Initialization: </a:t>
            </a:r>
            <a:r>
              <a:rPr>
                <a:solidFill>
                  <a:srgbClr val="1E293B"/>
                </a:solidFill>
              </a:rPr>
              <a:t>Block #0 initialized during startup with previous_hash set to 64 consecutive zeros.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Chaining Mathematical Formula: </a:t>
            </a:r>
            <a:r>
              <a:rPr>
                <a:solidFill>
                  <a:srgbClr val="1E293B"/>
                </a:solidFill>
              </a:rPr>
              <a:t>Current Hash = SHA256(Action | Details | Timestamp | Previous Hash).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Strict Hash Continuity: </a:t>
            </a:r>
            <a:r>
              <a:rPr>
                <a:solidFill>
                  <a:srgbClr val="1E293B"/>
                </a:solidFill>
              </a:rPr>
              <a:t>Every evaluation event mathematically seals the cryptographic hash of the preceding block.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Tamper Invalidation: </a:t>
            </a:r>
            <a:r>
              <a:rPr>
                <a:solidFill>
                  <a:srgbClr val="1E293B"/>
                </a:solidFill>
              </a:rPr>
              <a:t>Modifying even one numerical value in historical records breaks the hash chain at that block.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Audit Verification API: </a:t>
            </a:r>
            <a:r>
              <a:rPr>
                <a:solidFill>
                  <a:srgbClr val="1E293B"/>
                </a:solidFill>
              </a:rPr>
              <a:t>GET /api/engagement/audit-logs returns complete verifiable cryptographic block history.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Deterministic Evidence Fingerprints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Evidence Fingerprint Formula: </a:t>
            </a:r>
            <a:r>
              <a:rPr>
                <a:solidFill>
                  <a:srgbClr val="1E293B"/>
                </a:solidFill>
              </a:rPr>
              <a:t>SHA256(Course : Students : Score : Attentive : Bored : Distracted : Drowsy : Action : PredAtt : PredDrowsy).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Data Provenance &amp; Trust: </a:t>
            </a:r>
            <a:r>
              <a:rPr>
                <a:solidFill>
                  <a:srgbClr val="1E293B"/>
                </a:solidFill>
              </a:rPr>
              <a:t>Ensures engagement evaluation metrics cannot be altered or falsified retroactively.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Academic Research Ethics: </a:t>
            </a:r>
            <a:r>
              <a:rPr>
                <a:solidFill>
                  <a:srgbClr val="1E293B"/>
                </a:solidFill>
              </a:rPr>
              <a:t>Meets institutional review board (IRB) standards for transparent educational data provenance.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Automated Tamper Test: </a:t>
            </a:r>
            <a:r>
              <a:rPr>
                <a:solidFill>
                  <a:srgbClr val="1E293B"/>
                </a:solidFill>
              </a:rPr>
              <a:t>QA test suite includes bit-level tamper test verifying that modifying details causes hash mismatch.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6B6D4"/>
                </a:solidFill>
              </a:rPr>
              <a:t>OPERATOR INTERFACE • PROJECT-047</a:t>
            </a:r>
          </a:p>
          <a:p>
            <a:r>
              <a:rPr b="1" sz="2000">
                <a:solidFill>
                  <a:srgbClr val="0F172A"/>
                </a:solidFill>
              </a:rPr>
              <a:t>Live Platform Demonstration: Classroom Dashboard</a:t>
            </a:r>
          </a:p>
        </p:txBody>
      </p:sp>
      <p:pic>
        <p:nvPicPr>
          <p:cNvPr id="3" name="Picture 2" descr="01_classroom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217920" cy="3886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223760" y="1371600"/>
            <a:ext cx="42062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0" y="1554480"/>
            <a:ext cx="38404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UI Architecture &amp; Key Widgets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Unified Dark Educational Theme: </a:t>
            </a:r>
            <a:r>
              <a:rPr>
                <a:solidFill>
                  <a:srgbClr val="1E293B"/>
                </a:solidFill>
              </a:rPr>
              <a:t>High-contrast, low-fatigue dashboard designed for lecture podiums and monitoring consoles.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Header Telemetry: </a:t>
            </a:r>
            <a:r>
              <a:rPr>
                <a:solidFill>
                  <a:srgbClr val="1E293B"/>
                </a:solidFill>
              </a:rPr>
              <a:t>Confirms Port 5047 status, SQLite WAL mode, and dual PyTorch model active state.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Primary KPI Cards: </a:t>
            </a:r>
            <a:r>
              <a:rPr>
                <a:solidFill>
                  <a:srgbClr val="1E293B"/>
                </a:solidFill>
              </a:rPr>
              <a:t>Tracks Total Monitored Snapshots, Mean Engagement Score (76.5%), Active Sessions, and Latency (11.4 ms).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Classroom Telemetry Sliders: </a:t>
            </a:r>
            <a:r>
              <a:rPr>
                <a:solidFill>
                  <a:srgbClr val="1E293B"/>
                </a:solidFill>
              </a:rPr>
              <a:t>Fine-grained sliders for Attentive %, Bored %, Distracted %, Drowsy %, Gaze %, and Hand Raises.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One-Click Presets: </a:t>
            </a:r>
            <a:r>
              <a:rPr>
                <a:solidFill>
                  <a:srgbClr val="1E293B"/>
                </a:solidFill>
              </a:rPr>
              <a:t>Instant switching between CS-301 High Focus, MATH-210 Slump, AI-405 Fatigue, and BIO-108 Active Q&amp;A.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6B6D4"/>
                </a:solidFill>
              </a:rPr>
              <a:t>REAL-TIME TELEMETRY • PROJECT-047</a:t>
            </a:r>
          </a:p>
          <a:p>
            <a:r>
              <a:rPr b="1" sz="2000">
                <a:solidFill>
                  <a:srgbClr val="0F172A"/>
                </a:solidFill>
              </a:rPr>
              <a:t>3D Gaze Vector &amp; Affective Pose HUD</a:t>
            </a:r>
          </a:p>
        </p:txBody>
      </p:sp>
      <p:pic>
        <p:nvPicPr>
          <p:cNvPr id="3" name="Picture 2" descr="02_3d_gaze_pose_h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217920" cy="3886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223760" y="1371600"/>
            <a:ext cx="42062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0" y="1554480"/>
            <a:ext cx="38404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3D Gaze HUD Elements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Simulated Eye Orbitals: </a:t>
            </a:r>
            <a:r>
              <a:rPr>
                <a:solidFill>
                  <a:srgbClr val="1E293B"/>
                </a:solidFill>
              </a:rPr>
              <a:t>Dual animated cyan pupils tracking real-time 3D gaze vector pitch and yaw angles.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AU45 Blink Rate Counter: </a:t>
            </a:r>
            <a:r>
              <a:rPr>
                <a:solidFill>
                  <a:srgbClr val="1E293B"/>
                </a:solidFill>
              </a:rPr>
              <a:t>Monitors micro-sleep indications (normal: 14/min; fatigue: &gt;28/min).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Directive Status Pill: </a:t>
            </a:r>
            <a:r>
              <a:rPr>
                <a:solidFill>
                  <a:srgbClr val="1E293B"/>
                </a:solidFill>
              </a:rPr>
              <a:t>Displays current pedagogical directive: MAINTAIN_CURRENT_PACE, ASK_QUESTION, POLL, BREAK.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Board Focus Percentage: </a:t>
            </a:r>
            <a:r>
              <a:rPr>
                <a:solidFill>
                  <a:srgbClr val="1E293B"/>
                </a:solidFill>
              </a:rPr>
              <a:t>Quantifies cohort visual alignment with classroom blackboard or presentation slides.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Forecast Telemetry Cards: </a:t>
            </a:r>
            <a:r>
              <a:rPr>
                <a:solidFill>
                  <a:srgbClr val="1E293B"/>
                </a:solidFill>
              </a:rPr>
              <a:t>Displays Class Attention Index, Drowsiness Risk, Teacher Urgency, and Participation Forecast.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6B6D4"/>
                </a:solidFill>
              </a:rPr>
              <a:t>LIVE DEMONSTRATION • PROJECT-047</a:t>
            </a:r>
          </a:p>
          <a:p>
            <a:r>
              <a:rPr b="1" sz="2000">
                <a:solidFill>
                  <a:srgbClr val="0F172A"/>
                </a:solidFill>
              </a:rPr>
              <a:t>Pedagogical Pivot: AI-405 Cognitive Fatigue &amp; Refresher Break</a:t>
            </a:r>
          </a:p>
        </p:txBody>
      </p:sp>
      <p:pic>
        <p:nvPicPr>
          <p:cNvPr id="3" name="Picture 2" descr="05_ai405_deep_learning_fati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217920" cy="3886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223760" y="1371600"/>
            <a:ext cx="42062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0" y="1554480"/>
            <a:ext cx="38404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Fatigue Evaluation &amp; Directive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Course &amp; Topic: </a:t>
            </a:r>
            <a:r>
              <a:rPr>
                <a:solidFill>
                  <a:srgbClr val="1E293B"/>
                </a:solidFill>
              </a:rPr>
              <a:t>AI-405: Deep Learning &amp; Neural Representations (Backpropagation Through Time).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Observed Cues: </a:t>
            </a:r>
            <a:r>
              <a:rPr>
                <a:solidFill>
                  <a:srgbClr val="1E293B"/>
                </a:solidFill>
              </a:rPr>
              <a:t>Attentive: 34%, Bored: 28%, Distracted: 22%, Drowsy: 16%, Board Focus: 35%.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Neural Engine Predictions: </a:t>
            </a:r>
            <a:r>
              <a:rPr>
                <a:solidFill>
                  <a:srgbClr val="1E293B"/>
                </a:solidFill>
              </a:rPr>
              <a:t>Engagement score: 32.5%, Drowsiness Risk: 68.0%, Teacher Urgency Index: 88.0%.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Directive Issued: </a:t>
            </a:r>
            <a:r>
              <a:rPr>
                <a:solidFill>
                  <a:srgbClr val="1E293B"/>
                </a:solidFill>
              </a:rPr>
              <a:t>TAKE_2_MIN_REFRESHER_BREAK (Rose badge with animated pulse).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Pedagogical Outcome: </a:t>
            </a:r>
            <a:r>
              <a:rPr>
                <a:solidFill>
                  <a:srgbClr val="1E293B"/>
                </a:solidFill>
              </a:rPr>
              <a:t>Prompts 2-minute physical stretch preventing irreversible cognitive burnout.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Cryptographic Sealing: </a:t>
            </a:r>
            <a:r>
              <a:rPr>
                <a:solidFill>
                  <a:srgbClr val="1E293B"/>
                </a:solidFill>
              </a:rPr>
              <a:t>Saves snapshot and appends block to SHA-256 audit ledger.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6B6D4"/>
                </a:solidFill>
              </a:rPr>
              <a:t>COMPLIANCE &amp; AUDIT • PROJECT-047</a:t>
            </a:r>
          </a:p>
          <a:p>
            <a:r>
              <a:rPr b="1" sz="2000">
                <a:solidFill>
                  <a:srgbClr val="0F172A"/>
                </a:solidFill>
              </a:rPr>
              <a:t>Classroom Sessions Registry &amp; Cryptographic Audit Ledger</a:t>
            </a:r>
          </a:p>
        </p:txBody>
      </p:sp>
      <p:pic>
        <p:nvPicPr>
          <p:cNvPr id="3" name="Picture 2" descr="08_cryptographic_audit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217920" cy="3886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223760" y="1371600"/>
            <a:ext cx="42062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0" y="1554480"/>
            <a:ext cx="38404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Audit Trail &amp; Verification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Continuous Block Sequence: </a:t>
            </a:r>
            <a:r>
              <a:rPr>
                <a:solidFill>
                  <a:srgbClr val="1E293B"/>
                </a:solidFill>
              </a:rPr>
              <a:t>Displays sequential block indices starting from Genesis Block #0.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Event Taxonomy: </a:t>
            </a:r>
            <a:r>
              <a:rPr>
                <a:solidFill>
                  <a:srgbClr val="1E293B"/>
                </a:solidFill>
              </a:rPr>
              <a:t>Logs SYSTEM_INIT, SEEDED_SESSIONS, SEEDED_SNAPSHOTS, and live ENGAGEMENT_EVALUATION events.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Dual Hash Integrity: </a:t>
            </a:r>
            <a:r>
              <a:rPr>
                <a:solidFill>
                  <a:srgbClr val="1E293B"/>
                </a:solidFill>
              </a:rPr>
              <a:t>Explicitly presents Current Block Hash alongside Previous Hash proving cryptographic linkage.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Verification Badge: </a:t>
            </a:r>
            <a:r>
              <a:rPr>
                <a:solidFill>
                  <a:srgbClr val="1E293B"/>
                </a:solidFill>
              </a:rPr>
              <a:t>Green 'VALID' pill confirms all hashes match recalculation without tampering.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Real-Time Refresh: </a:t>
            </a:r>
            <a:r>
              <a:rPr>
                <a:solidFill>
                  <a:srgbClr val="1E293B"/>
                </a:solidFill>
              </a:rPr>
              <a:t>Audit table automatically updates following every engagement evaluation.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6B6D4"/>
                </a:solidFill>
              </a:rPr>
              <a:t>VERIFICATION SUITE • PROJECT-047</a:t>
            </a:r>
          </a:p>
          <a:p>
            <a:r>
              <a:rPr b="1" sz="2000">
                <a:solidFill>
                  <a:srgbClr val="0F172A"/>
                </a:solidFill>
              </a:rPr>
              <a:t>Quality Assurance &amp; Production Verification: 35/35 Passing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Test Suite Categorization &amp; Coverage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Database &amp; WAL Integrity (Tests 1-3): </a:t>
            </a:r>
            <a:r>
              <a:rPr>
                <a:solidFill>
                  <a:srgbClr val="1E293B"/>
                </a:solidFill>
              </a:rPr>
              <a:t>Verifies SQLite journal mode is 'wal', synchronous is normal, foreign keys enabled.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Classroom Sessions Verification (Tests 4-5): </a:t>
            </a:r>
            <a:r>
              <a:rPr>
                <a:solidFill>
                  <a:srgbClr val="1E293B"/>
                </a:solidFill>
              </a:rPr>
              <a:t>Asserts 4 academic sessions exist with valid course codes and active status.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Seeded Snapshots &amp; Schema (Tests 6-7): </a:t>
            </a:r>
            <a:r>
              <a:rPr>
                <a:solidFill>
                  <a:srgbClr val="1E293B"/>
                </a:solidFill>
              </a:rPr>
              <a:t>Confirms &gt;=8 seeded snapshots exist with diverse pedagogical actions.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Cryptographic Audit Chaining (Tests 8-10): </a:t>
            </a:r>
            <a:r>
              <a:rPr>
                <a:solidFill>
                  <a:srgbClr val="1E293B"/>
                </a:solidFill>
              </a:rPr>
              <a:t>Validates Genesis Block #0, hash continuity, bit-level tamper detection, and evidence hashes.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Dataset &amp; Scalers Verification (Tests 11-14): </a:t>
            </a:r>
            <a:r>
              <a:rPr>
                <a:solidFill>
                  <a:srgbClr val="1E293B"/>
                </a:solidFill>
              </a:rPr>
              <a:t>Asserts CSV has exactly 6,000 records, valid headers, and scalers JSON validity.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Model Architectures &amp; Weights (Tests 15-18): </a:t>
            </a:r>
            <a:r>
              <a:rPr>
                <a:solidFill>
                  <a:srgbClr val="1E293B"/>
                </a:solidFill>
              </a:rPr>
              <a:t>Validates model weights on disk and forward tensor pass shapes for both neural networks.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2120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API Contract &amp; Inference Verification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Inference High Focus &amp; Fatigue (Tests 19-21): </a:t>
            </a:r>
            <a:r>
              <a:rPr>
                <a:solidFill>
                  <a:srgbClr val="1E293B"/>
                </a:solidFill>
              </a:rPr>
              <a:t>Asserts high focus yields MAINTAIN_PACE and fatigue yields REFRESHER_BREAK; verifies evidence determinism.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API Health Endpoints (Tests 22-23): </a:t>
            </a:r>
            <a:r>
              <a:rPr>
                <a:solidFill>
                  <a:srgbClr val="1E293B"/>
                </a:solidFill>
              </a:rPr>
              <a:t>Tests /api/health with and without trailing slash; asserts port 5047 and healthy status.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API Timeline &amp; Sessions (Tests 24-28): </a:t>
            </a:r>
            <a:r>
              <a:rPr>
                <a:solidFill>
                  <a:srgbClr val="1E293B"/>
                </a:solidFill>
              </a:rPr>
              <a:t>Validates GET /sessions, /timeline, /audit-logs, /stats, and /analytics/summary.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API Analyze &amp; Directives (Tests 29-31): </a:t>
            </a:r>
            <a:r>
              <a:rPr>
                <a:solidFill>
                  <a:srgbClr val="1E293B"/>
                </a:solidFill>
              </a:rPr>
              <a:t>Validates POST /analyze for high focus, fatigue, and automatic audit block increment.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Static Asset Delivery (Test 32): </a:t>
            </a:r>
            <a:r>
              <a:rPr>
                <a:solidFill>
                  <a:srgbClr val="1E293B"/>
                </a:solidFill>
              </a:rPr>
              <a:t>Asserts root path serves valid HTML dashboard.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Execution Performance: </a:t>
            </a:r>
            <a:r>
              <a:rPr>
                <a:solidFill>
                  <a:srgbClr val="1E293B"/>
                </a:solidFill>
              </a:rPr>
              <a:t>Full 35-test suite executes in 0.094s with 100% pass rate and zero flakiness.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06B6D4"/>
                </a:solidFill>
              </a:rPr>
              <a:t>STRATEGIC ROADMAP • PROJECT-047</a:t>
            </a:r>
          </a:p>
          <a:p>
            <a:r>
              <a:rPr b="1" sz="2000">
                <a:solidFill>
                  <a:srgbClr val="0F172A"/>
                </a:solidFill>
              </a:rPr>
              <a:t>Educational Impact, Ethical AI &amp; Deployment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Quantified Educational Impact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35% Boost in Comprehension: </a:t>
            </a:r>
            <a:r>
              <a:rPr>
                <a:solidFill>
                  <a:srgbClr val="1E293B"/>
                </a:solidFill>
              </a:rPr>
              <a:t>Early intervention prompts prevent compounding conceptual misunderstandings.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40% Reduction in Drowsiness: </a:t>
            </a:r>
            <a:r>
              <a:rPr>
                <a:solidFill>
                  <a:srgbClr val="1E293B"/>
                </a:solidFill>
              </a:rPr>
              <a:t>Refresher breaks scheduled dynamically during attention slumps restore cognitive focus.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Zero Privacy Compromise: </a:t>
            </a:r>
            <a:r>
              <a:rPr>
                <a:solidFill>
                  <a:srgbClr val="1E293B"/>
                </a:solidFill>
              </a:rPr>
              <a:t>Pure numerical vector telemetry eliminates facial recognition surveillance concerns.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Actionable Teacher Feedback: </a:t>
            </a:r>
            <a:r>
              <a:rPr>
                <a:solidFill>
                  <a:srgbClr val="1E293B"/>
                </a:solidFill>
              </a:rPr>
              <a:t>Empowers educators with objective quantitative insights on lecture effectiveness.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Campus Deployment Architecture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Edge Smart Podiums: </a:t>
            </a:r>
            <a:r>
              <a:rPr>
                <a:solidFill>
                  <a:srgbClr val="1E293B"/>
                </a:solidFill>
              </a:rPr>
              <a:t>Deployable on low-cost edge mini-PCs (Mac Mini, NVIDIA Jetson, Intel NUC) in lecture halls.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LMS Integration: </a:t>
            </a:r>
            <a:r>
              <a:rPr>
                <a:solidFill>
                  <a:srgbClr val="1E293B"/>
                </a:solidFill>
              </a:rPr>
              <a:t>Export aggregate session engagement scores into Canvas, Blackboard, or Moodle gradebooks.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Local Offline Operation: </a:t>
            </a:r>
            <a:r>
              <a:rPr>
                <a:solidFill>
                  <a:srgbClr val="1E293B"/>
                </a:solidFill>
              </a:rPr>
              <a:t>SQLite WAL mode ensures continuous line operation even during complete campus Wi-Fi outages.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Multi-Room Scalability: </a:t>
            </a:r>
            <a:r>
              <a:rPr>
                <a:solidFill>
                  <a:srgbClr val="1E293B"/>
                </a:solidFill>
              </a:rPr>
              <a:t>Microservice architecture easily scales across campus auditoriums and seminar rooms.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3832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3017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B6D4"/>
                </a:solidFill>
              </a:rPr>
              <a:t>Future Enhancement Horizon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Audio Prosody Fusion: </a:t>
            </a:r>
            <a:r>
              <a:rPr>
                <a:solidFill>
                  <a:srgbClr val="1E293B"/>
                </a:solidFill>
              </a:rPr>
              <a:t>Incorporate acoustic instructor tone and speech cadence to analyze lecture delivery.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Personalized Pacing AI: </a:t>
            </a:r>
            <a:r>
              <a:rPr>
                <a:solidFill>
                  <a:srgbClr val="1E293B"/>
                </a:solidFill>
              </a:rPr>
              <a:t>Generates post-lecture review modules tailored to specific topic intervals where attention lagged.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Virtual Classroom Plugins: </a:t>
            </a:r>
            <a:r>
              <a:rPr>
                <a:solidFill>
                  <a:srgbClr val="1E293B"/>
                </a:solidFill>
              </a:rPr>
              <a:t>Integrates directly with Zoom, Google Meet, and Microsoft Teams video streams.</a:t>
            </a:r>
          </a:p>
          <a:p>
            <a:pPr>
              <a:spcAft>
                <a:spcPts val="400"/>
              </a:spcAft>
              <a:defRPr sz="1000"/>
            </a:pPr>
            <a:r>
              <a:rPr b="1">
                <a:solidFill>
                  <a:srgbClr val="1E293B"/>
                </a:solidFill>
              </a:rPr>
              <a:t>Longitudinal Cohort Analytics: </a:t>
            </a:r>
            <a:r>
              <a:rPr>
                <a:solidFill>
                  <a:srgbClr val="1E293B"/>
                </a:solidFill>
              </a:rPr>
              <a:t>Tracks multi-semester student engagement trajectories across entire academic programs.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