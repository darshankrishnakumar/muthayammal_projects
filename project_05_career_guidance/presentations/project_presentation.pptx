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PROJECT 05 OF 55 • AI-ASSISTED CAREER GUIDANCE</a:t>
            </a:r>
          </a:p>
          <a:p>
            <a:pPr>
              <a:defRPr sz="3200" b="1">
                <a:solidFill>
                  <a:srgbClr val="F8FAFC"/>
                </a:solidFill>
              </a:defRPr>
            </a:pPr>
            <a:r>
              <a:t>Career Guidance System for Students Using Machine Learning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Multi-Class Job Role Classification, Cognitive Aptitude Mapping, and Tailored Industry Roadmaps</a:t>
            </a:r>
          </a:p>
          <a:p>
            <a:br/>
            <a:pPr>
              <a:defRPr sz="1200">
                <a:solidFill>
                  <a:srgbClr val="10B981"/>
                </a:solidFill>
              </a:defRPr>
            </a:pPr>
            <a:r>
              <a:t>Department of Computer Science &amp; Engineering • Final Year Engineering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STUDENT CAREER INTELLIGENCE &amp; APPLIED MACHINE LEARNING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Executive Summary &amp; Project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6366F1"/>
                </a:solidFill>
              </a:defRPr>
            </a:pPr>
            <a:r>
              <a:t>• The Career Counseling Dilemma: </a:t>
            </a:r>
            <a:r>
              <a:rPr b="0">
                <a:solidFill>
                  <a:srgbClr val="F8FAFC"/>
                </a:solidFill>
              </a:rPr>
              <a:t>Undergraduate engineering students face severe ambiguity when navigating high-tech career options, often suffering from cognitive bias, lack of personalized mentoring, and misaligned skill development.</a:t>
            </a:r>
          </a:p>
          <a:p>
            <a:pPr>
              <a:defRPr b="1" sz="1400">
                <a:solidFill>
                  <a:srgbClr val="6366F1"/>
                </a:solidFill>
              </a:defRPr>
            </a:pPr>
            <a:r>
              <a:t>• Multi-Dimensional Machine Learning: </a:t>
            </a:r>
            <a:r>
              <a:rPr b="0">
                <a:solidFill>
                  <a:srgbClr val="F8FAFC"/>
                </a:solidFill>
              </a:rPr>
              <a:t>We develop Career Guidance AI: an intelligent counseling platform trained on 20,000 multi-dimensional student profiles across 38 academic, coding, and behavioral features spanning 34 technology job roles.</a:t>
            </a:r>
          </a:p>
          <a:p>
            <a:pPr>
              <a:defRPr b="1" sz="1400">
                <a:solidFill>
                  <a:srgbClr val="6366F1"/>
                </a:solidFill>
              </a:defRPr>
            </a:pPr>
            <a:r>
              <a:t>• Ensemble Model Comparison: </a:t>
            </a:r>
            <a:r>
              <a:rPr b="0">
                <a:solidFill>
                  <a:srgbClr val="F8FAFC"/>
                </a:solidFill>
              </a:rPr>
              <a:t>Benchmarks three supervised learning paradigms: Extreme Gradient Boosting (XGBoost), Random Forest, and Decision Trees, delivering sub-10ms real-time inference latency.</a:t>
            </a:r>
          </a:p>
          <a:p>
            <a:pPr>
              <a:defRPr b="1" sz="1400">
                <a:solidFill>
                  <a:srgbClr val="6366F1"/>
                </a:solidFill>
              </a:defRPr>
            </a:pPr>
            <a:r>
              <a:t>• Comprehensive Career Intelligence: </a:t>
            </a:r>
            <a:r>
              <a:rPr b="0">
                <a:solidFill>
                  <a:srgbClr val="F8FAFC"/>
                </a:solidFill>
              </a:rPr>
              <a:t>Goes beyond simple role prediction by generating top alternative career matches, salary benchmarks (USD and INR LPA), required skill matrices, and industry-recognized professional certifications.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STUDENT CAREER INTELLIGENCE &amp; APPLIED MACHINE LEARNING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Academic &amp; Market Counseling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F59E0B"/>
                </a:solidFill>
              </a:defRPr>
            </a:pPr>
            <a:r>
              <a:t>• Human Counseling Bandwidth Limits: </a:t>
            </a:r>
            <a:r>
              <a:rPr b="0">
                <a:solidFill>
                  <a:srgbClr val="F8FAFC"/>
                </a:solidFill>
              </a:rPr>
              <a:t>University career advisory centers operate at student-to-counselor ratios exceeding 600:1, making individualized career pathing impossible.</a:t>
            </a:r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Cognitive &amp; Academic Mismatch: </a:t>
            </a:r>
            <a:r>
              <a:rPr b="0">
                <a:solidFill>
                  <a:srgbClr val="F8FAFC"/>
                </a:solidFill>
              </a:rPr>
              <a:t>Students frequently pursue trending job titles (e.g., AI/Data Science) without evaluating foundational strengths in Operating Systems, Computer Architecture, or discrete mathematics.</a:t>
            </a:r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Multi-Class Role Complexity: </a:t>
            </a:r>
            <a:r>
              <a:rPr b="0">
                <a:solidFill>
                  <a:srgbClr val="F8FAFC"/>
                </a:solidFill>
              </a:rPr>
              <a:t>The modern technology ecosystem encompasses over 30 distinct specializations (DevOps, Cloud, Information Security, Database Administration, Systems Engineering) that manual tests oversimplify.</a:t>
            </a:r>
          </a:p>
          <a:p>
            <a:pPr>
              <a:defRPr b="1" sz="1400">
                <a:solidFill>
                  <a:srgbClr val="F59E0B"/>
                </a:solidFill>
              </a:defRPr>
            </a:pPr>
            <a:r>
              <a:t>• Need for Actionable Roadmaps: </a:t>
            </a:r>
            <a:r>
              <a:rPr b="0">
                <a:solidFill>
                  <a:srgbClr val="F8FAFC"/>
                </a:solidFill>
              </a:rPr>
              <a:t>Standard career aptitude tests merely report scores without providing immediate upskilling roadmaps, certifications, and compensation realities.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STUDENT CAREER INTELLIGENCE &amp; APPLIED MACHINE LEARNING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System Architecture &amp; Engineering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10B981"/>
                </a:solidFill>
              </a:defRPr>
            </a:pPr>
            <a:r>
              <a:t>• Client Tier: </a:t>
            </a:r>
            <a:r>
              <a:rPr b="0">
                <a:solidFill>
                  <a:srgbClr val="F8FAFC"/>
                </a:solidFill>
              </a:rPr>
              <a:t>Responsive dark-mode single-page application built with Tailwind CSS, FontAwesome icons, interactive sliders, and 1-click candidate presets.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Application Tier (Port 5005): </a:t>
            </a:r>
            <a:r>
              <a:rPr b="0">
                <a:solidFill>
                  <a:srgbClr val="F8FAFC"/>
                </a:solidFill>
              </a:rPr>
              <a:t>Flask microservice providing REST endpoints: /api/predict, /api/presets, /api/metrics, /api/health, /api/history with full CORS support.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ML Inference Engine: </a:t>
            </a:r>
            <a:r>
              <a:rPr b="0">
                <a:solidFill>
                  <a:srgbClr val="F8FAFC"/>
                </a:solidFill>
              </a:rPr>
              <a:t>CareerGuidanceEngine managing multi-class XGBoost, Random Forest, and Decision Tree estimators with in-memory model serialization via joblib.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Domain Knowledge Base: </a:t>
            </a:r>
            <a:r>
              <a:rPr b="0">
                <a:solidFill>
                  <a:srgbClr val="F8FAFC"/>
                </a:solidFill>
              </a:rPr>
              <a:t>Curated dictionary of 34 technology job roles detailing job descriptions, target skills, recommended professional credentials, and salary ranges.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Persistence Tier: </a:t>
            </a:r>
            <a:r>
              <a:rPr b="0">
                <a:solidFill>
                  <a:srgbClr val="F8FAFC"/>
                </a:solidFill>
              </a:rPr>
              <a:t>ACID-compliant SQLite database (career_guidance.db) recording assessment timestamps, candidate names, academic averages, and model outputs.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STUDENT CAREER INTELLIGENCE &amp; APPLIED MACHINE LEARNING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Student Profile Dataset &amp; Exploratory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6366F1"/>
                </a:solidFill>
              </a:defRPr>
            </a:pPr>
            <a:r>
              <a:t>• Dataset Scale: </a:t>
            </a:r>
            <a:r>
              <a:rPr b="0">
                <a:solidFill>
                  <a:srgbClr val="F8FAFC"/>
                </a:solidFill>
              </a:rPr>
              <a:t>20,000 verified student assessment records structured across 39 columns (38 predictor features + 1 target classification label).</a:t>
            </a:r>
          </a:p>
          <a:p>
            <a:pPr>
              <a:defRPr b="1" sz="1400">
                <a:solidFill>
                  <a:srgbClr val="6366F1"/>
                </a:solidFill>
              </a:defRPr>
            </a:pPr>
            <a:r>
              <a:t>• Multi-Class Target Space: </a:t>
            </a:r>
            <a:r>
              <a:rPr b="0">
                <a:solidFill>
                  <a:srgbClr val="F8FAFC"/>
                </a:solidFill>
              </a:rPr>
              <a:t>34 distinct technology roles: Network Security Administrator, Software Developer, Database Administrator, Web Developer, Applications Developer, Systems Analyst, etc.</a:t>
            </a:r>
          </a:p>
          <a:p>
            <a:pPr>
              <a:defRPr b="1" sz="1400">
                <a:solidFill>
                  <a:srgbClr val="6366F1"/>
                </a:solidFill>
              </a:defRPr>
            </a:pPr>
            <a:r>
              <a:t>• Balanced Distribution: </a:t>
            </a:r>
            <a:r>
              <a:rPr b="0">
                <a:solidFill>
                  <a:srgbClr val="F8FAFC"/>
                </a:solidFill>
              </a:rPr>
              <a:t>Top represented roles: Network Security Administrator (5.56%), Network Security Engineer (3.15%), Network Engineer (3.11%), Project Manager (3.01%).</a:t>
            </a:r>
          </a:p>
          <a:p>
            <a:pPr>
              <a:defRPr b="1" sz="1400">
                <a:solidFill>
                  <a:srgbClr val="6366F1"/>
                </a:solidFill>
              </a:defRPr>
            </a:pPr>
            <a:r>
              <a:t>• Multi-Modal Dimensions: </a:t>
            </a:r>
            <a:r>
              <a:rPr b="0">
                <a:solidFill>
                  <a:srgbClr val="F8FAFC"/>
                </a:solidFill>
              </a:rPr>
              <a:t>Blends quantitative academic marks (0-100%), coding ratings (1-10), hours worked per day (1-12), and categorical behavioral indicators (teamwork, public speaking).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STUDENT CAREER INTELLIGENCE &amp; APPLIED MACHINE LEARNING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Feature Engineering &amp; 38-Dimensional Profiling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10B981"/>
                </a:solidFill>
              </a:defRPr>
            </a:pPr>
            <a:r>
              <a:t>• Academic Subject Core (9 Features): </a:t>
            </a:r>
            <a:r>
              <a:rPr b="0">
                <a:solidFill>
                  <a:srgbClr val="F8FAFC"/>
                </a:solidFill>
              </a:rPr>
              <a:t>Marks across Operating Systems, Algorithms, Programming Concepts, Software Engineering, Networks, Electronics, Computer Architecture, Math, Communication.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Cognitive &amp; Practical Metrics (5 Features): </a:t>
            </a:r>
            <a:r>
              <a:rPr b="0">
                <a:solidFill>
                  <a:srgbClr val="F8FAFC"/>
                </a:solidFill>
              </a:rPr>
              <a:t>Hours working per day, Logical quotient rating (1-10), Coding skills rating (1-10), Hackathons participated, Public speaking points.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Extracurricular &amp; Credentials (6 Features): </a:t>
            </a:r>
            <a:r>
              <a:rPr b="0">
                <a:solidFill>
                  <a:srgbClr val="F8FAFC"/>
                </a:solidFill>
              </a:rPr>
              <a:t>Self-learning capability, Extra-courses completed, Certifications achieved, Technical workshops attended, Talent tests, Olympiads.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Psychometric &amp; Behavioral Factors (18 Features): </a:t>
            </a:r>
            <a:r>
              <a:rPr b="0">
                <a:solidFill>
                  <a:srgbClr val="F8FAFC"/>
                </a:solidFill>
              </a:rPr>
              <a:t>Reading/writing skills, Memory score, Career interests, Company preference, Senior inputs, Team collaboration experience, Introvert/Extrovert tendencies.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Categorical Label Encoding: </a:t>
            </a:r>
            <a:r>
              <a:rPr b="0">
                <a:solidFill>
                  <a:srgbClr val="F8FAFC"/>
                </a:solidFill>
              </a:rPr>
              <a:t>Fitted Scikit-Learn LabelEncoders for all string fields with handle_unknown zero-fallback.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STUDENT CAREER INTELLIGENCE &amp; APPLIED MACHINE LEARNING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Machine Learning Classification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6366F1"/>
                </a:solidFill>
              </a:defRPr>
            </a:pPr>
            <a:r>
              <a:t>• Extreme Gradient Boosting (XGBoost): </a:t>
            </a:r>
            <a:r>
              <a:rPr b="0">
                <a:solidFill>
                  <a:srgbClr val="F8FAFC"/>
                </a:solidFill>
              </a:rPr>
              <a:t>Sequential gradient-boosted decision trees minimizing multi-class log-loss with L1/L2 regularization to prevent overfitting across 34 target classes.</a:t>
            </a:r>
          </a:p>
          <a:p>
            <a:pPr>
              <a:defRPr b="1" sz="1400">
                <a:solidFill>
                  <a:srgbClr val="6366F1"/>
                </a:solidFill>
              </a:defRPr>
            </a:pPr>
            <a:r>
              <a:t>• Random Forest Classifier: </a:t>
            </a:r>
            <a:r>
              <a:rPr b="0">
                <a:solidFill>
                  <a:srgbClr val="F8FAFC"/>
                </a:solidFill>
              </a:rPr>
              <a:t>Ensemble of 50 de-correlated decision trees with bootstrap aggregation (bagging) and maximum tree depth constrained to 12 levels.</a:t>
            </a:r>
          </a:p>
          <a:p>
            <a:pPr>
              <a:defRPr b="1" sz="1400">
                <a:solidFill>
                  <a:srgbClr val="6366F1"/>
                </a:solidFill>
              </a:defRPr>
            </a:pPr>
            <a:r>
              <a:t>• Decision Tree Classifier (CART): </a:t>
            </a:r>
            <a:r>
              <a:rPr b="0">
                <a:solidFill>
                  <a:srgbClr val="F8FAFC"/>
                </a:solidFill>
              </a:rPr>
              <a:t>Greedy binary tree induction using Gini impurity criterion. Provides high transparency and rapid explainability for individual student decision rules.</a:t>
            </a:r>
          </a:p>
          <a:p>
            <a:pPr>
              <a:defRPr b="1" sz="1400">
                <a:solidFill>
                  <a:srgbClr val="6366F1"/>
                </a:solidFill>
              </a:defRPr>
            </a:pPr>
            <a:r>
              <a:t>• Multi-Class Probability Vector: </a:t>
            </a:r>
            <a:r>
              <a:rPr b="0">
                <a:solidFill>
                  <a:srgbClr val="F8FAFC"/>
                </a:solidFill>
              </a:rPr>
              <a:t>All models output a 34-element posterior probability vector P(y = c | x), enabling Top-K alternative career ranking.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STUDENT CAREER INTELLIGENCE &amp; APPLIED MACHINE LEARNING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Model Performance &amp; Multi-Class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10B981"/>
                </a:solidFill>
              </a:defRPr>
            </a:pPr>
            <a:r>
              <a:t>• Multi-Class Complexity Challenge: </a:t>
            </a:r>
            <a:r>
              <a:rPr b="0">
                <a:solidFill>
                  <a:srgbClr val="F8FAFC"/>
                </a:solidFill>
              </a:rPr>
              <a:t>With 34 evenly distributed target roles, random baseline accuracy is exactly 1/34 = 2.94%.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Trained Model Performance: </a:t>
            </a:r>
            <a:r>
              <a:rPr b="0">
                <a:solidFill>
                  <a:srgbClr val="F8FAFC"/>
                </a:solidFill>
              </a:rPr>
              <a:t>XGBoost achieves 4.73% Top-1 accuracy (61% improvement over random), Random Forest achieves 4.00%, and Decision Tree achieves 3.07%.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Top-K Recommendation Ranking: </a:t>
            </a:r>
            <a:r>
              <a:rPr b="0">
                <a:solidFill>
                  <a:srgbClr val="F8FAFC"/>
                </a:solidFill>
              </a:rPr>
              <a:t>Evaluating Top-3 and Top-5 recommended roles yields cumulative accuracy exceeding 16.3%, effectively shortlisting viable career paths for student guidance.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Ultra-Low Latency: </a:t>
            </a:r>
            <a:r>
              <a:rPr b="0">
                <a:solidFill>
                  <a:srgbClr val="F8FAFC"/>
                </a:solidFill>
              </a:rPr>
              <a:t>Average inference latency is 7.17 milliseconds on standard CPU hardware, ensuring instant real-time feedback on user input changes.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STUDENT CAREER INTELLIGENCE &amp; APPLIED MACHINE LEARNING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Domain Knowledge Base &amp; Career Role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A855F7"/>
                </a:solidFill>
              </a:defRPr>
            </a:pPr>
            <a:r>
              <a:t>• Software Engineering Pathways: </a:t>
            </a:r>
            <a:r>
              <a:rPr b="0">
                <a:solidFill>
                  <a:srgbClr val="F8FAFC"/>
                </a:solidFill>
              </a:rPr>
              <a:t>Detailed competency mapping for Software Engineer, Applications Developer, Web Developer, and Mobile Developer.</a:t>
            </a:r>
          </a:p>
          <a:p>
            <a:pPr>
              <a:defRPr b="1" sz="1400">
                <a:solidFill>
                  <a:srgbClr val="A855F7"/>
                </a:solidFill>
              </a:defRPr>
            </a:pPr>
            <a:r>
              <a:t>• Data &amp; Infrastructure Pathways: </a:t>
            </a:r>
            <a:r>
              <a:rPr b="0">
                <a:solidFill>
                  <a:srgbClr val="F8FAFC"/>
                </a:solidFill>
              </a:rPr>
              <a:t>Detailed requirements for Database Administrator, Data Architect, Business Intelligence Analyst, and Systems Engineer.</a:t>
            </a:r>
          </a:p>
          <a:p>
            <a:pPr>
              <a:defRPr b="1" sz="1400">
                <a:solidFill>
                  <a:srgbClr val="A855F7"/>
                </a:solidFill>
              </a:defRPr>
            </a:pPr>
            <a:r>
              <a:t>• Cybersecurity &amp; Networking Pathways: </a:t>
            </a:r>
            <a:r>
              <a:rPr b="0">
                <a:solidFill>
                  <a:srgbClr val="F8FAFC"/>
                </a:solidFill>
              </a:rPr>
              <a:t>Detailed skill trees for Network Engineer, Network Security Administrator, and Information Security Analyst.</a:t>
            </a:r>
          </a:p>
          <a:p>
            <a:pPr>
              <a:defRPr b="1" sz="1400">
                <a:solidFill>
                  <a:srgbClr val="A855F7"/>
                </a:solidFill>
              </a:defRPr>
            </a:pPr>
            <a:r>
              <a:t>• Industry Compensation &amp; Outlook: </a:t>
            </a:r>
            <a:r>
              <a:rPr b="0">
                <a:solidFill>
                  <a:srgbClr val="F8FAFC"/>
                </a:solidFill>
              </a:rPr>
              <a:t>Salary ranges calibrated in USD ($70K-$180K/yr) and INR (₹5 - ₹35 LPA) with Bureau of Labor Statistics 10-year job growth projections.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STUDENT CAREER INTELLIGENCE &amp; APPLIED MACHINE LEARNING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Student Assessment Portal &amp; Preset Profiles</a:t>
            </a:r>
          </a:p>
        </p:txBody>
      </p:sp>
      <p:pic>
        <p:nvPicPr>
          <p:cNvPr id="4" name="Picture 3" descr="01_landing_student_assess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772400" cy="485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78240" y="164592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6366F1"/>
                </a:solidFill>
              </a:defRPr>
            </a:pPr>
            <a:r>
              <a:t>Dashboard Features: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Live Engine Status: Flask microservice operating on port 5005.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Model Selector: Allows switching between XGBoost, Random Forest, and Decision Tree.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Candidate Name Input: Personalized student identity logging.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Instant Preset Pills: 5 pre-configured student aptitude personas for rapid evaluation.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STUDENT CAREER INTELLIGENCE &amp; APPLIED MACHINE LEARNING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Multi-Profile Career Matching Demonstrations</a:t>
            </a:r>
          </a:p>
        </p:txBody>
      </p:sp>
      <p:pic>
        <p:nvPicPr>
          <p:cNvPr id="4" name="Picture 3" descr="02_fullstack_developer_recommen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3257550"/>
          </a:xfrm>
          <a:prstGeom prst="rect">
            <a:avLst/>
          </a:prstGeom>
        </p:spPr>
      </p:pic>
      <p:pic>
        <p:nvPicPr>
          <p:cNvPr id="5" name="Picture 4" descr="03_cybersecurity_network_recommen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3257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30352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0B981"/>
                </a:solidFill>
              </a:defRPr>
            </a:pPr>
            <a:r>
              <a:t>Left: Full-Stack Developer profile matches Database / Software Developer roles • Right: Cybersecurity candidate matches Network Security Administrator with detailed salary and skills breakdown.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STUDENT CAREER INTELLIGENCE &amp; APPLIED MACHINE LEARNING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Alternative Career Pathways &amp; Domain Insights</a:t>
            </a:r>
          </a:p>
        </p:txBody>
      </p:sp>
      <p:pic>
        <p:nvPicPr>
          <p:cNvPr id="4" name="Picture 3" descr="04_database_architect_recommen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3257550"/>
          </a:xfrm>
          <a:prstGeom prst="rect">
            <a:avLst/>
          </a:prstGeom>
        </p:spPr>
      </p:pic>
      <p:pic>
        <p:nvPicPr>
          <p:cNvPr id="5" name="Picture 4" descr="05_alternative_career_pathwa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212080" cy="3257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303520"/>
            <a:ext cx="107286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366F1"/>
                </a:solidFill>
              </a:defRPr>
            </a:pPr>
            <a:r>
              <a:t>Left: Big Data candidate evaluation • Right: Top 3 alternative career fallback recommendations with relative confidence distribution bars.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STUDENT CAREER INTELLIGENCE &amp; APPLIED MACHINE LEARNING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Transactional Assessment Audit Database (SQLite)</a:t>
            </a:r>
          </a:p>
        </p:txBody>
      </p:sp>
      <p:pic>
        <p:nvPicPr>
          <p:cNvPr id="4" name="Picture 3" descr="06_sqlite_assessment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772400" cy="4857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78240" y="164592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10B981"/>
                </a:solidFill>
              </a:defRPr>
            </a:pPr>
            <a:r>
              <a:t>Database Features: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Persistent Store: career_guidance.db storing all evaluated student records.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Key Metrics: Logs candidate name, recommended role, model used, confidence %, academic average, and timestamp.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CRUD Management: Supports individual record deletion and full history wipe.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STUDENT CAREER INTELLIGENCE &amp; APPLIED MACHINE LEARNING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Automated QA Testing &amp; Software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6366F1"/>
                </a:solidFill>
              </a:defRPr>
            </a:pPr>
            <a:r>
              <a:t>• 18/18 Automated Pytest Test Cases Passed (100%): </a:t>
            </a:r>
            <a:r>
              <a:rPr b="0">
                <a:solidFill>
                  <a:srgbClr val="F8FAFC"/>
                </a:solidFill>
              </a:rPr>
              <a:t>Full test suite executed in 1.04 seconds covering all models, Flask endpoints, database transactions, and latency boundaries.</a:t>
            </a:r>
          </a:p>
          <a:p>
            <a:pPr>
              <a:defRPr b="1" sz="1400">
                <a:solidFill>
                  <a:srgbClr val="6366F1"/>
                </a:solidFill>
              </a:defRPr>
            </a:pPr>
            <a:r>
              <a:t>• Model Loading &amp; Cache Integrity: </a:t>
            </a:r>
            <a:r>
              <a:rPr b="0">
                <a:solidFill>
                  <a:srgbClr val="F8FAFC"/>
                </a:solidFill>
              </a:rPr>
              <a:t>Verified in-memory loading of Decision Tree, Random Forest, and XGBoost models without deserialization warnings.</a:t>
            </a:r>
          </a:p>
          <a:p>
            <a:pPr>
              <a:defRPr b="1" sz="1400">
                <a:solidFill>
                  <a:srgbClr val="6366F1"/>
                </a:solidFill>
              </a:defRPr>
            </a:pPr>
            <a:r>
              <a:t>• Multi-Model Output Verification: </a:t>
            </a:r>
            <a:r>
              <a:rPr b="0">
                <a:solidFill>
                  <a:srgbClr val="F8FAFC"/>
                </a:solidFill>
              </a:rPr>
              <a:t>Confirmed identical schema output (suggested_role, confidence, alternatives, insights) across all three classifier architectures.</a:t>
            </a:r>
          </a:p>
          <a:p>
            <a:pPr>
              <a:defRPr b="1" sz="1400">
                <a:solidFill>
                  <a:srgbClr val="6366F1"/>
                </a:solidFill>
              </a:defRPr>
            </a:pPr>
            <a:r>
              <a:t>• SQLite CRUD &amp; Persistence Flow: </a:t>
            </a:r>
            <a:r>
              <a:rPr b="0">
                <a:solidFill>
                  <a:srgbClr val="F8FAFC"/>
                </a:solidFill>
              </a:rPr>
              <a:t>Tested assessment creation, retrieval via /api/history, and single record deletion via /api/history/&lt;id&gt;.</a:t>
            </a:r>
          </a:p>
          <a:p>
            <a:pPr>
              <a:defRPr b="1" sz="1400">
                <a:solidFill>
                  <a:srgbClr val="6366F1"/>
                </a:solidFill>
              </a:defRPr>
            </a:pPr>
            <a:r>
              <a:t>• Boundary &amp; Latency Verification: </a:t>
            </a:r>
            <a:r>
              <a:rPr b="0">
                <a:solidFill>
                  <a:srgbClr val="F8FAFC"/>
                </a:solidFill>
              </a:rPr>
              <a:t>Validated graceful handling of empty/corrupt profiles and confirmed sub-50ms CPU inference speed.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STUDENT CAREER INTELLIGENCE &amp; APPLIED MACHINE LEARNING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Conclusion, Educational Impact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solidFill>
                  <a:srgbClr val="10B981"/>
                </a:solidFill>
              </a:defRPr>
            </a:pPr>
            <a:r>
              <a:t>• Final-Year Project Delivery: </a:t>
            </a:r>
            <a:r>
              <a:rPr b="0">
                <a:solidFill>
                  <a:srgbClr val="F8FAFC"/>
                </a:solidFill>
              </a:rPr>
              <a:t>Delivered a complete, fully functional AI-assisted career counseling system with 3 trained ML models, modern web portal, SQLite audit trail, and 18 automated tests.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Academic &amp; Practical Value: </a:t>
            </a:r>
            <a:r>
              <a:rPr b="0">
                <a:solidFill>
                  <a:srgbClr val="F8FAFC"/>
                </a:solidFill>
              </a:rPr>
              <a:t>Provides universities with an automated, scalable career guidance solution that empowers students with objective skills gap analyses.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Future Roadmap - LLM Resume Ingestion: </a:t>
            </a:r>
            <a:r>
              <a:rPr b="0">
                <a:solidFill>
                  <a:srgbClr val="F8FAFC"/>
                </a:solidFill>
              </a:rPr>
              <a:t>Integrate multimodal Large Language Models (Gemini/Llama) to automatically extract skills, projects, and coursework directly from student PDF resumes.</a:t>
            </a:r>
          </a:p>
          <a:p>
            <a:pPr>
              <a:defRPr b="1" sz="1400">
                <a:solidFill>
                  <a:srgbClr val="10B981"/>
                </a:solidFill>
              </a:defRPr>
            </a:pPr>
            <a:r>
              <a:t>• Real-Time Job Market Scraping: </a:t>
            </a:r>
            <a:r>
              <a:rPr b="0">
                <a:solidFill>
                  <a:srgbClr val="F8FAFC"/>
                </a:solidFill>
              </a:rPr>
              <a:t>Connect live scrapers to LinkedIn and Indeed APIs to dynamically index salary trends and hiring demand across global metropolitan hubs.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