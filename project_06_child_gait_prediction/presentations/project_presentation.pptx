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PROJECT 06 OF 55 • PEDIATRIC HEALTHCARE INFORMATICS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Child Gait Prediction &amp; Biomechanical</a:t>
            </a:r>
            <a:br/>
            <a:r>
              <a:t>Assessment System using Machine Learning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Automated Pediatric Locomotion Pathology Detection • C3D 3D Kinematics • Zero-Leakage Split • Port 5006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Clinical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6B6D4"/>
                </a:solidFill>
              </a:defRPr>
            </a:pPr>
            <a:r>
              <a:t>• Clinical Urgency: </a:t>
            </a:r>
            <a:r>
              <a:rPr b="0">
                <a:solidFill>
                  <a:srgbClr val="F8FAFC"/>
                </a:solidFill>
              </a:rPr>
              <a:t>Pediatric gait abnormalities (e.g., spastic diplegia, hemiplegic cerebral palsy) require early, longitudinal detection to prevent irreversible contractures and bone deformities.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Technological Innovation: </a:t>
            </a:r>
            <a:r>
              <a:rPr b="0">
                <a:solidFill>
                  <a:srgbClr val="F8FAFC"/>
                </a:solidFill>
              </a:rPr>
              <a:t>Combines objective 3D kinematic biomechanical features (heel/toe pressure, pelvic tilt, cadence, stride length) with a tuned Random Forest classifier.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Zero Data-Leakage Guarantee: </a:t>
            </a:r>
            <a:r>
              <a:rPr b="0">
                <a:solidFill>
                  <a:srgbClr val="F8FAFC"/>
                </a:solidFill>
              </a:rPr>
              <a:t>Strict participant-level splitting ensures no child's trials cross between training, validation, and test partitions, guaranteeing genuine real-world generalization.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Clinical-Grade Full-Stack Deployment: </a:t>
            </a:r>
            <a:r>
              <a:rPr b="0">
                <a:solidFill>
                  <a:srgbClr val="F8FAFC"/>
                </a:solidFill>
              </a:rPr>
              <a:t>FastAPI microservice on Port 5006 with SQLite transactional persistence, longitudinal progression tracking, and automated physical therapy advisories.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Pediatric Gait Pathology &amp; Clinical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0B981"/>
                </a:solidFill>
              </a:defRPr>
            </a:pPr>
            <a:r>
              <a:t>• Subjective Visual Inspection: </a:t>
            </a:r>
            <a:r>
              <a:rPr b="0">
                <a:solidFill>
                  <a:srgbClr val="F8FAFC"/>
                </a:solidFill>
              </a:rPr>
              <a:t>Conventional pediatric gait exams rely heavily on qualitative visual observational gait analysis (OGA), which suffers from high inter-observer variability.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Prohibitive Laboratory Costs: </a:t>
            </a:r>
            <a:r>
              <a:rPr b="0">
                <a:solidFill>
                  <a:srgbClr val="F8FAFC"/>
                </a:solidFill>
              </a:rPr>
              <a:t>Formal optical motion capture gait laboratories require specialized cameras, force plates, and hours of processing, limiting accessible longitudinal screening.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Bilateral vs. Unilateral Manifestations: </a:t>
            </a:r>
            <a:r>
              <a:rPr b="0">
                <a:solidFill>
                  <a:srgbClr val="F8FAFC"/>
                </a:solidFill>
              </a:rPr>
              <a:t>Spastic diplegia presents with symmetric crouch gait and equinus, while hemiplegia presents with asymmetric drop-foot and unilateral stance bias.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Objective Machine Learning Solution: </a:t>
            </a:r>
            <a:r>
              <a:rPr b="0">
                <a:solidFill>
                  <a:srgbClr val="F8FAFC"/>
                </a:solidFill>
              </a:rPr>
              <a:t>Our system extracts standardized temporal-spatial parameters and classifies gait into Normal, Diplegic, or Hemiplegic with instant clinical advisories.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Multi-Tiered System Architecture &amp;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284C7"/>
                </a:solidFill>
              </a:defRPr>
            </a:pPr>
            <a:r>
              <a:t>• Tier 1: Biomechanical Data Ingestion: </a:t>
            </a:r>
            <a:r>
              <a:rPr b="0">
                <a:solidFill>
                  <a:srgbClr val="F8FAFC"/>
                </a:solidFill>
              </a:rPr>
              <a:t>Parses real C3D 3D motion capture trials and clinical synthetic records, capturing 7 biomechanical features (speed, stride, duration, cadence, tilt, asymmetry, vertical force).</a:t>
            </a:r>
          </a:p>
          <a:p>
            <a:pPr>
              <a:defRPr b="1" sz="1400">
                <a:solidFill>
                  <a:srgbClr val="0284C7"/>
                </a:solidFill>
              </a:defRPr>
            </a:pPr>
            <a:r>
              <a:t>• Tier 2: Machine Learning Inference Engine: </a:t>
            </a:r>
            <a:r>
              <a:rPr b="0">
                <a:solidFill>
                  <a:srgbClr val="F8FAFC"/>
                </a:solidFill>
              </a:rPr>
              <a:t>Random Forest classifier with tuned hyperparameters (n_estimators=50, max_depth=3) serialized via Joblib, executing sub-millisecond inference.</a:t>
            </a:r>
          </a:p>
          <a:p>
            <a:pPr>
              <a:defRPr b="1" sz="1400">
                <a:solidFill>
                  <a:srgbClr val="0284C7"/>
                </a:solidFill>
              </a:defRPr>
            </a:pPr>
            <a:r>
              <a:t>• Tier 3: Relational Persistence Layer: </a:t>
            </a:r>
            <a:r>
              <a:rPr b="0">
                <a:solidFill>
                  <a:srgbClr val="F8FAFC"/>
                </a:solidFill>
              </a:rPr>
              <a:t>SQLite database (`gait_database.db`) storing patient records, time-stamped clinical notes, longitudinal trajectory curves, and audit trails.</a:t>
            </a:r>
          </a:p>
          <a:p>
            <a:pPr>
              <a:defRPr b="1" sz="1400">
                <a:solidFill>
                  <a:srgbClr val="0284C7"/>
                </a:solidFill>
              </a:defRPr>
            </a:pPr>
            <a:r>
              <a:t>• Tier 4: Clinical Web Interface: </a:t>
            </a:r>
            <a:r>
              <a:rPr b="0">
                <a:solidFill>
                  <a:srgbClr val="F8FAFC"/>
                </a:solidFill>
              </a:rPr>
              <a:t>Tailwind CSS single-page application on Port 5006 with interactive sample presets, longitudinal Chart.js progression graphs, and PT recommendations.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Biomechanical Feature Engineering &amp; Clinical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6B6D4"/>
                </a:solidFill>
              </a:defRPr>
            </a:pPr>
            <a:r>
              <a:t>• SimTK Real Pediatric Cohort: </a:t>
            </a:r>
            <a:r>
              <a:rPr b="0">
                <a:solidFill>
                  <a:srgbClr val="F8FAFC"/>
                </a:solidFill>
              </a:rPr>
              <a:t>21 clinical walking trials collected across 14 unique pediatric participants covering Typically Developing (TD), Hemiplegic CP (HECP), and Diplegic CP (DICP).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Synthetic Augmented Dataset: </a:t>
            </a:r>
            <a:r>
              <a:rPr b="0">
                <a:solidFill>
                  <a:srgbClr val="F8FAFC"/>
                </a:solidFill>
              </a:rPr>
              <a:t>33 verified pediatric assessment records replicating clinical range variations across ages 4 to 12 years.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Calculated Cadence &amp; Symmetry: </a:t>
            </a:r>
            <a:r>
              <a:rPr b="0">
                <a:solidFill>
                  <a:srgbClr val="F8FAFC"/>
                </a:solidFill>
              </a:rPr>
              <a:t>Dynamic feature extraction computes cadence (steps/min = 60 / step_duration) and kinematic pelvic tilt angles from pressure sensor inputs.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Peak Force Normalization: </a:t>
            </a:r>
            <a:r>
              <a:rPr b="0">
                <a:solidFill>
                  <a:srgbClr val="F8FAFC"/>
                </a:solidFill>
              </a:rPr>
              <a:t>Normalizes vertical ground reaction forces to percent body weight (%BW) to allow invariant comparisons across developmental age groups.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Participant-Level Zero-Leakage Validation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F59E0B"/>
                </a:solidFill>
              </a:defRPr>
            </a:pPr>
            <a:r>
              <a:t>• Participant Partitioning: </a:t>
            </a:r>
            <a:r>
              <a:rPr b="0">
                <a:solidFill>
                  <a:srgbClr val="F8FAFC"/>
                </a:solidFill>
              </a:rPr>
              <a:t>Split strictly on unique patient IDs: Training (8 children: TD1-3, HECP1-3, DICP1-2), Validation (3 children: TD4, HECP4, DICP3), Test (3 children: TD5, HECP5, DICP4).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• Prevention of Optimistic Bias: </a:t>
            </a:r>
            <a:r>
              <a:rPr b="0">
                <a:solidFill>
                  <a:srgbClr val="F8FAFC"/>
                </a:solidFill>
              </a:rPr>
              <a:t>Standard random trial splitting leaks biometric gait signatures across folds. Our protocol ensures the model is evaluated on completely unseen children.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• StandardScaler Isolation: </a:t>
            </a:r>
            <a:r>
              <a:rPr b="0">
                <a:solidFill>
                  <a:srgbClr val="F8FAFC"/>
                </a:solidFill>
              </a:rPr>
              <a:t>The feature scaler is fit exclusively on the training partition and applied identically to validation and test sets without lookahead contamination.</a:t>
            </a:r>
          </a:p>
          <a:p>
            <a:pPr>
              <a:defRPr b="1" sz="1400">
                <a:solidFill>
                  <a:srgbClr val="F59E0B"/>
                </a:solidFill>
              </a:defRPr>
            </a:pPr>
            <a:r>
              <a:t>• Label Encoding: </a:t>
            </a:r>
            <a:r>
              <a:rPr b="0">
                <a:solidFill>
                  <a:srgbClr val="F8FAFC"/>
                </a:solidFill>
              </a:rPr>
              <a:t>Mapped clinical diagnoses to discrete targets: 0 = Diplegic, 1 = Hemiplegic, 2 = Normal.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Multi-Model Comparison &amp;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0B981"/>
                </a:solidFill>
              </a:defRPr>
            </a:pPr>
            <a:r>
              <a:t>• Random Forest Classifier: </a:t>
            </a:r>
            <a:r>
              <a:rPr b="0">
                <a:solidFill>
                  <a:srgbClr val="F8FAFC"/>
                </a:solidFill>
              </a:rPr>
              <a:t>Achieved top baseline performance (Macro F1 = 0.56, Test Accuracy = 66.7%). Robust to non-linear kinetic interactions.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Gradient Boosting &amp; Decision Trees: </a:t>
            </a:r>
            <a:r>
              <a:rPr b="0">
                <a:solidFill>
                  <a:srgbClr val="F8FAFC"/>
                </a:solidFill>
              </a:rPr>
              <a:t>CART Decision Tree and GBDT evaluated; trees suffered from severe overfitting on small sample subsets.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Hyperparameter Tuning Results: </a:t>
            </a:r>
            <a:r>
              <a:rPr b="0">
                <a:solidFill>
                  <a:srgbClr val="F8FAFC"/>
                </a:solidFill>
              </a:rPr>
              <a:t>Optimal configuration discovered: n_estimators=50, max_depth=3, min_samples_split=2, max_features='sqrt'.</a:t>
            </a:r>
          </a:p>
          <a:p>
            <a:pPr>
              <a:defRPr b="1" sz="1400">
                <a:solidFill>
                  <a:srgbClr val="10B981"/>
                </a:solidFill>
              </a:defRPr>
            </a:pPr>
            <a:r>
              <a:t>• Test Set ROC-AUC: </a:t>
            </a:r>
            <a:r>
              <a:rPr b="0">
                <a:solidFill>
                  <a:srgbClr val="F8FAFC"/>
                </a:solidFill>
              </a:rPr>
              <a:t>Final tuned model achieved Macro One-vs-Rest ROC-AUC of 1.000 across held-out pediatric test subjects.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Clinical Gait Intelligence Portal Overview</a:t>
            </a:r>
          </a:p>
        </p:txBody>
      </p:sp>
      <p:pic>
        <p:nvPicPr>
          <p:cNvPr id="4" name="Picture 3" descr="01_ho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PORTAL OVERVIEW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Modern responsive clinical portal running on Port 5006.</a:t>
            </a:r>
            <a:br/>
            <a:r>
              <a:t>• Direct navigation between Home, Assessment, History, Reports, and Guidelines.</a:t>
            </a:r>
            <a:br/>
            <a:r>
              <a:t>• Active patient statistics, normative baselines, and instant sample test presets.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Biometric &amp; Kinetic Gait Assessment Input Form</a:t>
            </a:r>
          </a:p>
        </p:txBody>
      </p:sp>
      <p:pic>
        <p:nvPicPr>
          <p:cNvPr id="4" name="Picture 3" descr="02_gait_assessment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INPUT SPECIFICATIONS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Captures child demographics (Child ID, Age, Gender).</a:t>
            </a:r>
            <a:br/>
            <a:r>
              <a:t>• Biomechanical parameters: Heel &amp; Toe Pressure (kPa), Foot Tilt Angle (°), Step Duration (s), Stride Length (cm), Walking Speed (m/s).</a:t>
            </a:r>
            <a:br/>
            <a:r>
              <a:t>• One-click sample presets for Diplegic, Hemiplegic, and Normal gaits.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Spastic Diplegic Crouch Gait Pathology Detection</a:t>
            </a:r>
          </a:p>
        </p:txBody>
      </p:sp>
      <p:pic>
        <p:nvPicPr>
          <p:cNvPr id="4" name="Picture 3" descr="03_diplegic_predic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DIPLEGIC PATTERN ANALYSIS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Detected Bilateral Spastic Crouch Gait pattern.</a:t>
            </a:r>
            <a:br/>
            <a:r>
              <a:t>• Elevated tilt angle (14.5°) with shortened stride (52 cm) and prolonged step duration (0.78s).</a:t>
            </a:r>
            <a:br/>
            <a:r>
              <a:t>• Generates automated physical therapy and AFO orthotic advisories.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Hemiplegic Asymmetric Gait Pathology Detection</a:t>
            </a:r>
          </a:p>
        </p:txBody>
      </p:sp>
      <p:pic>
        <p:nvPicPr>
          <p:cNvPr id="4" name="Picture 3" descr="04_hemiplegic_predic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HEMIPLEGIC ASYMMETRY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Detected Unilateral Asymmetric Gait Bias.</a:t>
            </a:r>
            <a:br/>
            <a:r>
              <a:t>• Marked discrepancy between heel and toe pressure (&gt;70 kPa differential) with circumduction tendencies.</a:t>
            </a:r>
            <a:br/>
            <a:r>
              <a:t>• Advises neurological consult and single-limb stance physical therapy.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Longitudinal Patient Progress Tracking &amp; Trajectories</a:t>
            </a:r>
          </a:p>
        </p:txBody>
      </p:sp>
      <p:pic>
        <p:nvPicPr>
          <p:cNvPr id="4" name="Picture 3" descr="05_child_longitudinal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LONGITUDINAL MONITORING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Multi-visit progression tracking for individual children (e.g. C-101).</a:t>
            </a:r>
            <a:br/>
            <a:r>
              <a:t>• Interactive Chart.js trend curves for Walking Speed, Stride Length, and Heel Pressure.</a:t>
            </a:r>
            <a:br/>
            <a:r>
              <a:t>• Enables clinicians to measure post-orthotic or post-surgical rehabilitation recovery.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SQLite Transactional Database &amp; Clinical EHR Audit</a:t>
            </a:r>
          </a:p>
        </p:txBody>
      </p:sp>
      <p:pic>
        <p:nvPicPr>
          <p:cNvPr id="4" name="Picture 3" descr="06_records_audit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284C7"/>
                </a:solidFill>
              </a:defRPr>
            </a:pPr>
            <a:r>
              <a:t>CLINICAL AUDIT TRAIL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Relational SQLite storage (`gait_database.db`) with full transactional audit logging.</a:t>
            </a:r>
            <a:br/>
            <a:r>
              <a:t>• Search and filter records by Child ID or diagnosis category.</a:t>
            </a:r>
            <a:br/>
            <a:r>
              <a:t>• Instant single-record deletion and historical data export capabilities.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Evidence-Based Clinical &amp; Physical Therapy Guidance</a:t>
            </a:r>
          </a:p>
        </p:txBody>
      </p:sp>
      <p:pic>
        <p:nvPicPr>
          <p:cNvPr id="4" name="Picture 3" descr="07_clinical_recommendations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CLINICAL DECISION SUPPORT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Automated physical therapy guidance matching identified locomotion impairments.</a:t>
            </a:r>
            <a:br/>
            <a:r>
              <a:t>• Ankle Foot Orthosis (AFO) and Ground Reaction AFO prescription suitability criteria.</a:t>
            </a:r>
            <a:br/>
            <a:r>
              <a:t>• Clear educational medical disclaimer separating prototype AI from formal diagnosis.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PEDIATRIC BIOMECHANICS &amp; APPLIED MACHINE LEARNING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Verification Summary &amp; Project Completion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6B6D4"/>
                </a:solidFill>
              </a:defRPr>
            </a:pPr>
            <a:r>
              <a:t>• Automated Test Suite: </a:t>
            </a:r>
            <a:r>
              <a:rPr b="0">
                <a:solidFill>
                  <a:srgbClr val="F8FAFC"/>
                </a:solidFill>
              </a:rPr>
              <a:t>23/23 passing automated tests (100% pass rate in 1.05s) verifying dataset integrity, ML inference, SQLite CRUD, and REST APIs.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Real Biomechanical Dataset: </a:t>
            </a:r>
            <a:r>
              <a:rPr b="0">
                <a:solidFill>
                  <a:srgbClr val="F8FAFC"/>
                </a:solidFill>
              </a:rPr>
              <a:t>Evaluated on authentic C3D motion capture pediatric gait trials with zero data leakage.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Operational Deployment: </a:t>
            </a:r>
            <a:r>
              <a:rPr b="0">
                <a:solidFill>
                  <a:srgbClr val="F8FAFC"/>
                </a:solidFill>
              </a:rPr>
              <a:t>FastAPI server running smoothly on Port 5006 with interactive single-page medical frontend.</a:t>
            </a:r>
          </a:p>
          <a:p>
            <a:pPr>
              <a:defRPr b="1" sz="1400">
                <a:solidFill>
                  <a:srgbClr val="06B6D4"/>
                </a:solidFill>
              </a:defRPr>
            </a:pPr>
            <a:r>
              <a:t>• College Evaluation Readiness: </a:t>
            </a:r>
            <a:r>
              <a:rPr b="0">
                <a:solidFill>
                  <a:srgbClr val="F8FAFC"/>
                </a:solidFill>
              </a:rPr>
              <a:t>PROJECT-006 satisfies all 15 acceptance criteria: verified working code, complete technical report, widescreen slide deck, and video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