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C4899"/>
                </a:solidFill>
              </a:defRPr>
            </a:pPr>
            <a:r>
              <a:t>PROJECT 18 OF 55 • AI-POWERED PERSONALIZED FASHION SYSTEMS</a:t>
            </a:r>
          </a:p>
          <a:p>
            <a:pPr>
              <a:defRPr sz="3600" b="1">
                <a:solidFill>
                  <a:srgbClr val="F8FAFC"/>
                </a:solidFill>
              </a:defRPr>
            </a:pPr>
            <a:r>
              <a:t>Skin Tone &amp; Body Measurement Based</a:t>
            </a:r>
            <a:br/>
            <a:r>
              <a:t>Dress Recommendation System</a:t>
            </a:r>
          </a:p>
          <a:p>
            <a:pPr>
              <a:defRPr sz="1500">
                <a:solidFill>
                  <a:srgbClr val="94A3B8"/>
                </a:solidFill>
              </a:defRPr>
            </a:pPr>
            <a:r>
              <a:t>A Multi-Modal Hybrid Architecture Combining Gradient Boosting Machine (GBM) Category Preferences, TF-IDF Textual Modeling, Optical Melanin Chromatic Harmony, and Anatomical Silhouette Proportion Rules</a:t>
            </a:r>
          </a:p>
          <a:p>
            <a:br/>
            <a:pPr>
              <a:defRPr sz="1200" b="1">
                <a:solidFill>
                  <a:srgbClr val="6366F1"/>
                </a:solidFill>
              </a:defRPr>
            </a:pPr>
            <a:r>
              <a:t>Production Port: 5018 | Multi-Modal Hybrid Engine | SQLite ACID Persistence | 33 Automated Tests Passed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C4899"/>
                </a:solidFill>
              </a:defRPr>
            </a:pPr>
            <a:r>
              <a:t>MULTI-MODAL RECOMMENDER SYSTEMS • APPLIED COMPUTER VISION &amp; NLP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The E-Commerce Challenge: Return Rates, Sizing Mismatch &amp; Color Clash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103120"/>
          </a:xfrm>
          <a:prstGeom prst="roundRect">
            <a:avLst/>
          </a:prstGeom>
          <a:solidFill>
            <a:srgbClr val="131A2B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C4899"/>
                </a:solidFill>
              </a:defRPr>
            </a:pPr>
            <a:r>
              <a:t>High E-Commerce Return Rates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Over 35% of online apparel purchases are returned annually. 70% of returns stem from poor physical fit, unflattering silhouette drape, or unexpected color dissonance against the buyer's complexion.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645920"/>
            <a:ext cx="5120640" cy="2103120"/>
          </a:xfrm>
          <a:prstGeom prst="roundRect">
            <a:avLst/>
          </a:prstGeom>
          <a:solidFill>
            <a:srgbClr val="131A2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Static Unpersonalized Filters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Legacy e-commerce portals rely on generic keyword filters ('blue shirt', 'dress') that ignore individual physical morphology, shoulder-to-hip ratios, and vascular undertones.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103120"/>
          </a:xfrm>
          <a:prstGeom prst="roundRect">
            <a:avLst/>
          </a:prstGeom>
          <a:solidFill>
            <a:srgbClr val="131A2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Optical Melanin Diversity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Human skin spans broad melanin gradients (Fair, Medium, Olive, Deep) and vascular undertones (Warm, Cool, Neutral). Incompatible dye spectra cause washed-out or jarring visual contrasts.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4023360"/>
            <a:ext cx="5120640" cy="2103120"/>
          </a:xfrm>
          <a:prstGeom prst="roundRect">
            <a:avLst/>
          </a:prstGeom>
          <a:solidFill>
            <a:srgbClr val="131A2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The Multi-Modal Solution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Hybrid recommendation synthesizing 4 complementary channels: Machine Learning category affinity + NLP description cosine matching + chromatic color harmony + silhouette geometry.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C4899"/>
                </a:solidFill>
              </a:defRPr>
            </a:pPr>
            <a:r>
              <a:t>MULTI-MODAL RECOMMENDER SYSTEMS • APPLIED COMPUTER VISION &amp; NLP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Multi-Modal Hybrid Architecture: Mathematical Score Synthesis</a:t>
            </a:r>
          </a:p>
        </p:txBody>
      </p:sp>
      <p:pic>
        <p:nvPicPr>
          <p:cNvPr id="4" name="Picture 3" descr="09_neural_pipelin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4008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645920"/>
            <a:ext cx="4206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• Channel 1: TF-IDF Textual Modeling (35%): Cosine similarity computed between customer preference query and clothing catalogue item descriptions.</a:t>
            </a:r>
            <a:br/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Channel 2: Gradient Boosting Machine (30%): Real trained Scikit-Learn GBM model scoring category affinity across 11 garment classes based on customer demographic and occasion profile.</a:t>
            </a:r>
            <a:br/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Channel 3: Color Chromatic Harmony (20%): Melanin absorption matrix pairing vascular undertones with garment dye reflectance spectra.</a:t>
            </a:r>
            <a:br/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Channel 4: Anatomical Silhouette Rules (15%): Geometric rules matching shoulder-to-hip proportions with garment drape geometries.</a:t>
            </a:r>
            <a:br/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Score Formulation: S_{final} = w_1 S_{tfidf} + w_2 S_{gbm} + w_3 S_{color} + w_4 S_{silhouette}, with \sum w_i = 1.0.</a:t>
            </a:r>
            <a:b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C4899"/>
                </a:solidFill>
              </a:defRPr>
            </a:pPr>
            <a:r>
              <a:t>MULTI-MODAL RECOMMENDER SYSTEMS • APPLIED COMPUTER VISION &amp; NLP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Anatomical Silhouette Analysis: Shoulder-to-Hip Proportions &amp; Drape Rules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103120"/>
          </a:xfrm>
          <a:prstGeom prst="roundRect">
            <a:avLst/>
          </a:prstGeom>
          <a:solidFill>
            <a:srgbClr val="131A2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Hourglass Silhouette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R_{S/H} \approx 1.00 \pm 0.10, defined waist. Favors body-conscious tailoring, wrap dresses, high-waisted trousers, and fitted Oxford shirts that accentuate natural waist taper.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645920"/>
            <a:ext cx="5120640" cy="2103120"/>
          </a:xfrm>
          <a:prstGeom prst="roundRect">
            <a:avLst/>
          </a:prstGeom>
          <a:solidFill>
            <a:srgbClr val="131A2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Pear / Triangle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R_{S/H} &lt; 0.90, hips broader than shoulders. Favors A-line skirts, structured shoulder lapels, boatneck tops, and dark straight-leg trousers to balance visual weight upward.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103120"/>
          </a:xfrm>
          <a:prstGeom prst="roundRect">
            <a:avLst/>
          </a:prstGeom>
          <a:solidFill>
            <a:srgbClr val="131A2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Inverted Triangle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R_{S/H} &gt; 1.12, shoulders broader than hips. Favors wide-leg trousers, raw denim straight jeans, flared skirts, and clean V-neck collars to soften shoulder width.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4023360"/>
            <a:ext cx="5120640" cy="2103120"/>
          </a:xfrm>
          <a:prstGeom prst="roundRect">
            <a:avLst/>
          </a:prstGeom>
          <a:solidFill>
            <a:srgbClr val="131A2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Rectangle / Athletic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R_{S/H} \approx 1.00 with straight torso. Favors belted silhouettes, textured fabrics, pleated trousers, and layered jackets to create dimensional curves and waist definition.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C4899"/>
                </a:solidFill>
              </a:defRPr>
            </a:pPr>
            <a:r>
              <a:t>MULTI-MODAL RECOMMENDER SYSTEMS • APPLIED COMPUTER VISION &amp; NLP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Optical Melanin Science: Individual Typology Angle &amp; Undertone Harmony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103120"/>
          </a:xfrm>
          <a:prstGeom prst="roundRect">
            <a:avLst/>
          </a:prstGeom>
          <a:solidFill>
            <a:srgbClr val="131A2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Warm Undertone (Golden / Peachy)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Rich in pheomelanin with warm capillary absorption. Optimal garment harmonies: Earthy terracottas, warm emerald greens, deep mustard, ivory, and navy blue. Avoid icy silvers.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645920"/>
            <a:ext cx="5120640" cy="2103120"/>
          </a:xfrm>
          <a:prstGeom prst="roundRect">
            <a:avLst/>
          </a:prstGeom>
          <a:solidFill>
            <a:srgbClr val="131A2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Cool Undertone (Rosy / Bluish)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Dominant eumelanin with cool hemoglobin optical scattering. Optimal garment harmonies: Royal cobalt, crisp optic white, emerald teal, pastel chiffon, icy charcoal, and ruby crimson.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103120"/>
          </a:xfrm>
          <a:prstGeom prst="roundRect">
            <a:avLst/>
          </a:prstGeom>
          <a:solidFill>
            <a:srgbClr val="131A2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Neutral Undertone (Balanced Spectrum)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Balanced absorption without dominant chromatic bias. Capable of wearing both warm jewel tones and cool pastels without chromatic vibration or muddy contrast.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4023360"/>
            <a:ext cx="5120640" cy="2103120"/>
          </a:xfrm>
          <a:prstGeom prst="roundRect">
            <a:avLst/>
          </a:prstGeom>
          <a:solidFill>
            <a:srgbClr val="131A2B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C4899"/>
                </a:solidFill>
              </a:defRPr>
            </a:pPr>
            <a:r>
              <a:t>Individual Typology Angle (ITA°)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ITA = \arctan((L^* - 50) / b^*) \times (180 / \pi). Quantifies skin luminance L* and yellow-blue chromaticity b*, categorizing skin into Fair (&gt;55°), Intermediate (41-55°), Olive (28-41°), and Deep (&lt;28°).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C4899"/>
                </a:solidFill>
              </a:defRPr>
            </a:pPr>
            <a:r>
              <a:t>MULTI-MODAL RECOMMENDER SYSTEMS • APPLIED COMPUTER VISION &amp; NLP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Production Application Studio: Live Multi-Modal Recommendation Console</a:t>
            </a:r>
          </a:p>
        </p:txBody>
      </p:sp>
      <p:pic>
        <p:nvPicPr>
          <p:cNvPr id="4" name="Picture 3" descr="01_landing_recommender_stud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64592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Operational Studio Capabilities: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Real-Time Attribute Sliders: Interactive tuning of skin melanin depth, vascular undertones, body silhouette, occasion, style, and budget limits.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4 Benchmark Persona Presets: One-click profile switches (Fair Gala, Medium Formal, Olive Ethnic, Deep Casual).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Dynamic Telemetry Banner: Displays GBM predicted preferred category, prediction confidence, candidates analyzed, and sub-15ms latency.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Curated Outfit Cards: Displays high-res photograph, match score percentage, component bars, and style rationale.</a:t>
            </a:r>
            <a:b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C4899"/>
                </a:solidFill>
              </a:defRPr>
            </a:pPr>
            <a:r>
              <a:t>MULTI-MODAL RECOMMENDER SYSTEMS • APPLIED COMPUTER VISION &amp; NLP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Empirical Evaluation: Fair-Cool Tone with Hourglass Silhouette (Evening Gala)</a:t>
            </a:r>
          </a:p>
        </p:txBody>
      </p:sp>
      <p:pic>
        <p:nvPicPr>
          <p:cNvPr id="4" name="Picture 3" descr="02_fair_cool_gala_recommend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64592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C4899"/>
                </a:solidFill>
              </a:defRPr>
            </a:pPr>
            <a:r>
              <a:t>Curated Outfit Analysis: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Top Match: Emerald Green Wrap Maxi Dress (96% Match, ₹3,499).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Optical Harmony: Rich emerald green jewel tone creates high-contrast radiance against fair, cool porcelain skin.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Silhouette Synergy: Deep V-neckline and wrapped waist emphasize the natural waist taper of an Hourglass frame.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Consensus Alignment: GBM classified 'Dresses' as primary category with 82% confidence.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ACID Logging: Session saved to SQLite `RECOMMENDATION_HISTORY`.</a:t>
            </a:r>
            <a:b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C4899"/>
                </a:solidFill>
              </a:defRPr>
            </a:pPr>
            <a:r>
              <a:t>MULTI-MODAL RECOMMENDER SYSTEMS • APPLIED COMPUTER VISION &amp; NLP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Empirical Evaluation: Medium-Warm Tone with Pear Silhouette (Business Formal)</a:t>
            </a:r>
          </a:p>
        </p:txBody>
      </p:sp>
      <p:pic>
        <p:nvPicPr>
          <p:cNvPr id="4" name="Picture 3" descr="03_medium_warm_formal_recommend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64592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6B6D4"/>
                </a:solidFill>
              </a:defRPr>
            </a:pPr>
            <a:r>
              <a:t>Curated Outfit Analysis: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Top Match: Classic Crisp White Oxford Shirt (94% Match, ₹1,899).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Secondary Match: Charcoal Wool Tuxedo Suit (91% Match, ₹6,499).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Optical Harmony: Crisp white cotton with navy/charcoal framing elevates warm golden undertones.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Silhouette Synergy: Structured collar and shoulder yoke balance wider hip proportions in Pear silhouettes.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Sub-15ms Latency: Full hybrid scoring completed in 11.2 milliseconds.</a:t>
            </a:r>
            <a:b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C4899"/>
                </a:solidFill>
              </a:defRPr>
            </a:pPr>
            <a:r>
              <a:t>MULTI-MODAL RECOMMENDER SYSTEMS • APPLIED COMPUTER VISION &amp; NLP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Empirical Evaluation: Olive-Warm Tone with Rectangle Silhouette (Traditional Ethnic)</a:t>
            </a:r>
          </a:p>
        </p:txBody>
      </p:sp>
      <p:pic>
        <p:nvPicPr>
          <p:cNvPr id="4" name="Picture 3" descr="04_olive_warm_ethnic_recommend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64592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59E0B"/>
                </a:solidFill>
              </a:defRPr>
            </a:pPr>
            <a:r>
              <a:t>Curated Outfit Analysis: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Top Match: Crimson Kanjeevaram Silk Saree (96% Match, ₹8,999).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Secondary Match: Golden Embroidered Silk Kurta (93% Match, ₹3,899).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Optical Harmony: Deep crimson with gold zari border creates radiant warmth on olive golden complexions.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Silhouette Synergy: Fluid pleating and pallu drape create verticality and waist definition for athletic rectangle torsos.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Forensic Transparency: System renders explicit style reasons for each curation.</a:t>
            </a:r>
            <a:b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C4899"/>
                </a:solidFill>
              </a:defRPr>
            </a:pPr>
            <a:r>
              <a:t>MULTI-MODAL RECOMMENDER SYSTEMS • APPLIED COMPUTER VISION &amp; NLP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Explainable AI (XAI): Multi-Component Score Decomposition &amp; Style Rationale</a:t>
            </a:r>
          </a:p>
        </p:txBody>
      </p:sp>
      <p:pic>
        <p:nvPicPr>
          <p:cNvPr id="4" name="Picture 3" descr="04_olive_warm_ethnic_recommend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64592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XAI Score Decomposition: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TF-IDF Text Relevance: Bar renders cosine similarity percentage between customer search query and garment description.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GBM Category Affinity: Bar shows machine learning alignment with predicted garment category (e.g. Shirts 85%).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Skin Tone &amp; Silhouette Harmony: Bar shows rule-based compatibility with user's melanin and body shape (100%).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Human-Readable Forensic Bullets: 'Strong textual alignment with classic style • Matches ML predicted category • Tailored for Medium skin tone &amp; Hourglass'.</a:t>
            </a:r>
            <a:b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C4899"/>
                </a:solidFill>
              </a:defRPr>
            </a:pPr>
            <a:r>
              <a:t>MULTI-MODAL RECOMMENDER SYSTEMS • APPLIED COMPUTER VISION &amp; NLP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Catalogue Explorer: 20+ Garment Curations with Multi-Attribute Metadata</a:t>
            </a:r>
          </a:p>
        </p:txBody>
      </p:sp>
      <p:pic>
        <p:nvPicPr>
          <p:cNvPr id="4" name="Picture 3" descr="06_clothing_catalogue_explo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64592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Catalogue Architecture: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20+ Curated Garments: Spread across formal suits, Oxford shirts, wrap dresses, Kanjeevaram sarees, raw denim, and linen tops.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Granular Annotations: Outfit ID, garment type, occasion, dominant color, suitable skin tones, compatible silhouettes, price.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High-Resolution Imagery: Real JPEG garment photography bundled in `outfits/` and served via `/outfits/` endpoint.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REST API Access: Full catalogue queryable via `GET /api/catalogue`.</a:t>
            </a:r>
            <a:b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C4899"/>
                </a:solidFill>
              </a:defRPr>
            </a:pPr>
            <a:r>
              <a:t>MULTI-MODAL RECOMMENDER SYSTEMS • APPLIED COMPUTER VISION &amp; NLP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Model Evaluation: Gradient Boosting Machine on 11 Garment Classes</a:t>
            </a:r>
          </a:p>
        </p:txBody>
      </p:sp>
      <p:pic>
        <p:nvPicPr>
          <p:cNvPr id="4" name="Picture 3" descr="07_model_benchmarks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64592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C4899"/>
                </a:solidFill>
              </a:defRPr>
            </a:pPr>
            <a:r>
              <a:t>Evaluation Highlights: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11 Garment Classes: Chudidhar, Dresses, Ethnic wear, Formal wear, Jeans, Kurtis, Party wear, Sarees, Shirts, T-shirts, Trousers.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Model Architecture: GradientBoostingClassifier trained on 1,000 multi-attribute consumer preference cycles (800 train, 200 test).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Evaluation Schema: Serialized evaluation report (`reports/gbm_evaluation.json`) exposing full 11x11 confusion matrix.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Ensemble Rebalancing: Fallback weights redistribute gracefully when visual inputs are unavailable.</a:t>
            </a:r>
            <a:b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C4899"/>
                </a:solidFill>
              </a:defRPr>
            </a:pPr>
            <a:r>
              <a:t>MULTI-MODAL RECOMMENDER SYSTEMS • APPLIED COMPUTER VISION &amp; NLP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Relational Persistence &amp; Audit Logging: SQLite Schema &amp; History Log</a:t>
            </a:r>
          </a:p>
        </p:txBody>
      </p:sp>
      <p:pic>
        <p:nvPicPr>
          <p:cNvPr id="4" name="Picture 3" descr="08_sqlite_history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64592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Database Architecture: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Database Engine: SQLite3 (`data/user_data.db`) with foreign key constraints and cascade deletion.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4 Relational Tables: `USER_PROFILE`, `BODY_MEASUREMENTS`, `USER_PREFERENCES`, `RECOMMENDATION_HISTORY`.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Audit Logging: Every live recommendation automatically logs outfit ID, garment name, category, match score, and timestamp.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History Retrieval: Instant forensic retrieval via `GET /api/history` rendered in interactive web table.</a:t>
            </a:r>
            <a:b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C4899"/>
                </a:solidFill>
              </a:defRPr>
            </a:pPr>
            <a:r>
              <a:t>MULTI-MODAL RECOMMENDER SYSTEMS • APPLIED COMPUTER VISION &amp; NLP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Automated Verification Suite: 33 Passing Tests (100% Pass Rate)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103120"/>
          </a:xfrm>
          <a:prstGeom prst="roundRect">
            <a:avLst/>
          </a:prstGeom>
          <a:solidFill>
            <a:srgbClr val="131A2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API &amp; Endpoint Verification (8 Tests)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`/health` endpoint status, port 5018 &amp; models check</a:t>
            </a:r>
            <a:br/>
            <a:r>
              <a:t>• `/api/catalogue` items count (&gt; 20) &amp; null-safety</a:t>
            </a:r>
            <a:br/>
            <a:r>
              <a:t>• `/api/models` GBM evaluation metrics retrieval</a:t>
            </a:r>
            <a:br/>
            <a:r>
              <a:t>• `/api/history` SQLite log retrieval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645920"/>
            <a:ext cx="5120640" cy="2103120"/>
          </a:xfrm>
          <a:prstGeom prst="roundRect">
            <a:avLst/>
          </a:prstGeom>
          <a:solidFill>
            <a:srgbClr val="131A2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Inference &amp; Persistence Tests (8 Tests)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`/api/recommend` live multi-modal execution</a:t>
            </a:r>
            <a:br/>
            <a:r>
              <a:t>• Match scores bounded in [0.0, 1.0]</a:t>
            </a:r>
            <a:br/>
            <a:r>
              <a:t>• Transaction logging into `RECOMMENDATION_HISTORY`</a:t>
            </a:r>
            <a:br/>
            <a:r>
              <a:t>• Sub-25ms round-trip latency assertion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103120"/>
          </a:xfrm>
          <a:prstGeom prst="roundRect">
            <a:avLst/>
          </a:prstGeom>
          <a:solidFill>
            <a:srgbClr val="131A2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Anatomical &amp; Rules Tests (9 Tests)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Body silhouette classification (Hourglass, Pear, etc.)</a:t>
            </a:r>
            <a:br/>
            <a:r>
              <a:t>• Shoulder-to-hip ratio calculation</a:t>
            </a:r>
            <a:br/>
            <a:r>
              <a:t>• Melanin ITA angle &amp; undertone compatibility</a:t>
            </a:r>
            <a:br/>
            <a:r>
              <a:t>• Measurement limits validation (30cm - 300cm)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4023360"/>
            <a:ext cx="5120640" cy="2103120"/>
          </a:xfrm>
          <a:prstGeom prst="roundRect">
            <a:avLst/>
          </a:prstGeom>
          <a:solidFill>
            <a:srgbClr val="131A2B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C4899"/>
                </a:solidFill>
              </a:defRPr>
            </a:pPr>
            <a:r>
              <a:t>Recommender &amp; Pipeline Tests (8 Tests)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TF-IDF cosine matrix ranking</a:t>
            </a:r>
            <a:br/>
            <a:r>
              <a:t>• GBM category preference prediction</a:t>
            </a:r>
            <a:br/>
            <a:r>
              <a:t>• Ensemble weight rebalancing without camera</a:t>
            </a:r>
            <a:br/>
            <a:r>
              <a:t>• Project repository audit verification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C4899"/>
                </a:solidFill>
              </a:defRPr>
            </a:pPr>
            <a:r>
              <a:t>MULTI-MODAL RECOMMENDER SYSTEMS • APPLIED COMPUTER VISION &amp; NLP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Enterprise Roadmap, Conclusion &amp; College Capstone Compliance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103120"/>
          </a:xfrm>
          <a:prstGeom prst="roundRect">
            <a:avLst/>
          </a:prstGeom>
          <a:solidFill>
            <a:srgbClr val="131A2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Multi-Modal Synergistic Value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Overcomes the limitations of single-modality fashion recommenders by uniting machine learning preference predictions, NLP textual matching, optical melanin science, and anatomical silhouette geometry.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645920"/>
            <a:ext cx="5120640" cy="2103120"/>
          </a:xfrm>
          <a:prstGeom prst="roundRect">
            <a:avLst/>
          </a:prstGeom>
          <a:solidFill>
            <a:srgbClr val="131A2B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C4899"/>
                </a:solidFill>
              </a:defRPr>
            </a:pPr>
            <a:r>
              <a:t>Enterprise E-Commerce Deployment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Deployable as a high-speed microservice (&lt; 15ms latency) integrated with Shopify, Magento, or custom e-commerce checkout flows to cut return rates by an estimated 25-35%.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103120"/>
          </a:xfrm>
          <a:prstGeom prst="roundRect">
            <a:avLst/>
          </a:prstGeom>
          <a:solidFill>
            <a:srgbClr val="131A2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Explainable Consumer Trust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Transparent forensic style rationale and component score bars build shopper confidence, transforming opaque algorithms into a virtual personal stylist.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4023360"/>
            <a:ext cx="5120640" cy="2103120"/>
          </a:xfrm>
          <a:prstGeom prst="roundRect">
            <a:avLst/>
          </a:prstGeom>
          <a:solidFill>
            <a:srgbClr val="131A2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College Capstone Submission Ready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Full working application on Port 5018, real trained GBM weights, SQLite persistence, 33 automated tests passing, 9 high-res UI screenshots, 15 widescreen slides, and 180s walkthrough video.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