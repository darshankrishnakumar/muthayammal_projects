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6366F1"/>
                </a:solidFill>
              </a:rPr>
              <a:t>CAPSTONE VERIFICATION PORTFOLIO • PROJECT-046</a:t>
            </a:r>
          </a:p>
          <a:p>
            <a:pPr>
              <a:spcAft>
                <a:spcPts val="1600"/>
              </a:spcAft>
            </a:pPr>
            <a:r>
              <a:rPr b="1" sz="3600">
                <a:solidFill>
                  <a:srgbClr val="FFFFFF"/>
                </a:solidFill>
              </a:rPr>
              <a:t>Automated Product Defect Detection &amp;
Quality Control in Manufacturing Lines</a:t>
            </a:r>
          </a:p>
          <a:p>
            <a:pPr>
              <a:spcAft>
                <a:spcPts val="2400"/>
              </a:spcAft>
            </a:pPr>
            <a:r>
              <a:rPr sz="1400">
                <a:solidFill>
                  <a:srgbClr val="CBD5E1"/>
                </a:solidFill>
              </a:rPr>
              <a:t>High-Throughput Machine Vision Architecture Combining Deep Feature Pyramid Networks (FPN),
Multi-Target Neural Roughness Regression, Pneumatic Actuation, and SHA-256 Audit Integrity.</a:t>
            </a:r>
          </a:p>
          <a:p>
            <a:r>
              <a:rPr b="1" sz="1100">
                <a:solidFill>
                  <a:srgbClr val="6366F1"/>
                </a:solidFill>
              </a:rPr>
              <a:t>Port Allocation: 5046 | Architecture: PyTorch Dual-Engine (MPS/CUDA) | DB: SQLite WAL | Tests: 35/35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OPERATIONAL MANDATE • PROJECT-046</a:t>
            </a:r>
          </a:p>
          <a:p>
            <a:r>
              <a:rPr b="1" sz="2000">
                <a:solidFill>
                  <a:srgbClr val="0F172A"/>
                </a:solidFill>
              </a:rPr>
              <a:t>Executive Briefing: Modern Manufacturing Quality Control Bottlenecks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Manual Inspection Bottlenecks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Throughput Limitations: </a:t>
            </a:r>
            <a:r>
              <a:rPr>
                <a:solidFill>
                  <a:srgbClr val="1E293B"/>
                </a:solidFill>
              </a:rPr>
              <a:t>Human visual inspectors suffer cognitive fatigue, capping inspection cadence at 15-20 units/min.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Micro-Defect Blindspots: </a:t>
            </a:r>
            <a:r>
              <a:rPr>
                <a:solidFill>
                  <a:srgbClr val="1E293B"/>
                </a:solidFill>
              </a:rPr>
              <a:t>Sub-millimeter micro-fissures and subtle surface roughness variations (Ra) escape unassisted visual detection.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High Escape Costs: </a:t>
            </a:r>
            <a:r>
              <a:rPr>
                <a:solidFill>
                  <a:srgbClr val="1E293B"/>
                </a:solidFill>
              </a:rPr>
              <a:t>Defective components assembled into downstream sub-assemblies multiply warranty scrap costs by up to 40x.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Lack of Auditability: </a:t>
            </a:r>
            <a:r>
              <a:rPr>
                <a:solidFill>
                  <a:srgbClr val="1E293B"/>
                </a:solidFill>
              </a:rPr>
              <a:t>Traditional factories lack immutable digital records of optical verdicts and surface roughness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Autonomous Edge Vision Requirements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Sub-15ms Latency: </a:t>
            </a:r>
            <a:r>
              <a:rPr>
                <a:solidFill>
                  <a:srgbClr val="1E293B"/>
                </a:solidFill>
              </a:rPr>
              <a:t>Inline inspection must classify and segment moving parts on high-speed belts without halting the line.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Multi-Scale Defect Sensitivity: </a:t>
            </a:r>
            <a:r>
              <a:rPr>
                <a:solidFill>
                  <a:srgbClr val="1E293B"/>
                </a:solidFill>
              </a:rPr>
              <a:t>Simultaneous detection of micro-scratches (P2 layer) and macro structural cracks/dents (P3-P5).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Dual-Modal Telemetry: </a:t>
            </a:r>
            <a:r>
              <a:rPr>
                <a:solidFill>
                  <a:srgbClr val="1E293B"/>
                </a:solidFill>
              </a:rPr>
              <a:t>Integration of 2D optical spatial imagery with 1D surface roughness (Ra) profilometry telemetry.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Deterministic Actuation: </a:t>
            </a:r>
            <a:r>
              <a:rPr>
                <a:solidFill>
                  <a:srgbClr val="1E293B"/>
                </a:solidFill>
              </a:rPr>
              <a:t>Instantaneous trigger signals for pneumatic rejector solenoids operating at 6.0-9.0 Bar.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Delivered Solution Architecture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DeepFPNDefectNet: </a:t>
            </a:r>
            <a:r>
              <a:rPr>
                <a:solidFill>
                  <a:srgbClr val="1E293B"/>
                </a:solidFill>
              </a:rPr>
              <a:t>Multi-scale lateral feature fusion network outputting pixel segmentation masks and 5-class defect logits.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ManufacturingDefectRiskRegressorNet: </a:t>
            </a:r>
            <a:r>
              <a:rPr>
                <a:solidFill>
                  <a:srgbClr val="1E293B"/>
                </a:solidFill>
              </a:rPr>
              <a:t>10-input neural regressor predicting Severity %, Defect Area %, Roughness Ra, and Eject Confidence.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SQLite WAL ACID Persistence: </a:t>
            </a:r>
            <a:r>
              <a:rPr>
                <a:solidFill>
                  <a:srgbClr val="1E293B"/>
                </a:solidFill>
              </a:rPr>
              <a:t>High-concurrency Write-Ahead Logging ensuring zero lock contention during high-speed scans.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Cryptographic Ledger: </a:t>
            </a:r>
            <a:r>
              <a:rPr>
                <a:solidFill>
                  <a:srgbClr val="1E293B"/>
                </a:solidFill>
              </a:rPr>
              <a:t>Continuous SHA-256 block hash chaining establishing non-repudiation and ISO 9001 quality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SYSTEM TOPOLOGY • PROJECT-046</a:t>
            </a:r>
          </a:p>
          <a:p>
            <a:r>
              <a:rPr b="1" sz="2000">
                <a:solidFill>
                  <a:srgbClr val="0F172A"/>
                </a:solidFill>
              </a:rPr>
              <a:t>End-to-End System Architecture: Edge Vision to Actuator 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Optical Sensor &amp; Machine Vision Pipeline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High-Speed Telecentric Imaging: </a:t>
            </a:r>
            <a:r>
              <a:rPr>
                <a:solidFill>
                  <a:srgbClr val="1E293B"/>
                </a:solidFill>
              </a:rPr>
              <a:t>Line-scan cameras capture 4096x3072 raw RGB frames synchronized via optical encoder pulses.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Feature Pyramid Network: </a:t>
            </a:r>
            <a:r>
              <a:rPr>
                <a:solidFill>
                  <a:srgbClr val="1E293B"/>
                </a:solidFill>
              </a:rPr>
              <a:t>ResNet-style backbone with P2-P5 lateral connections and 1x1 convolutions for multi-scale feature maps.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Segmentation &amp; Classification Heads: </a:t>
            </a:r>
            <a:r>
              <a:rPr>
                <a:solidFill>
                  <a:srgbClr val="1E293B"/>
                </a:solidFill>
              </a:rPr>
              <a:t>Simultaneous output of single-channel defect heatmaps and multi-class softmax logits.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Sub-Pixel Defect Bounding: </a:t>
            </a:r>
            <a:r>
              <a:rPr>
                <a:solidFill>
                  <a:srgbClr val="1E293B"/>
                </a:solidFill>
              </a:rPr>
              <a:t>Bounding box localization with minimum enclosing area computation and pixel area conversion.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Real-Time Inference Loop: </a:t>
            </a:r>
            <a:r>
              <a:rPr>
                <a:solidFill>
                  <a:srgbClr val="1E293B"/>
                </a:solidFill>
              </a:rPr>
              <a:t>Execution on Apple Silicon Metal Performance Shaders (MPS) achieving 11.2 ms cycle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Actuator Control &amp; Cryptographic Persistence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Multi-Target Neural Regressor: </a:t>
            </a:r>
            <a:r>
              <a:rPr>
                <a:solidFill>
                  <a:srgbClr val="1E293B"/>
                </a:solidFill>
              </a:rPr>
              <a:t>Processes composite optical features to output continuous mechanical metrics and pneumatic pulse width.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PLC &amp; Solenoid Dispatch: </a:t>
            </a:r>
            <a:r>
              <a:rPr>
                <a:solidFill>
                  <a:srgbClr val="1E293B"/>
                </a:solidFill>
              </a:rPr>
              <a:t>Binary actuator signal routing: ROUTE_CONVEYOR (Bin A) or TRIGGER_PNEUMATIC_EJECT (Bin B).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SQLite WAL Database Engine: </a:t>
            </a:r>
            <a:r>
              <a:rPr>
                <a:solidFill>
                  <a:srgbClr val="1E293B"/>
                </a:solidFill>
              </a:rPr>
              <a:t>Thread-safe connection pooling storing inspected parts, optical templates, and audit logs.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Cryptographic Audit Chaining: </a:t>
            </a:r>
            <a:r>
              <a:rPr>
                <a:solidFill>
                  <a:srgbClr val="1E293B"/>
                </a:solidFill>
              </a:rPr>
              <a:t>SHA-256 block hash computation linking Part ID, verdict, defect metrics, and previous block hash.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WebSocket Event Telemetry: </a:t>
            </a:r>
            <a:r>
              <a:rPr>
                <a:solidFill>
                  <a:srgbClr val="1E293B"/>
                </a:solidFill>
              </a:rPr>
              <a:t>Bi-directional streaming delivering real-time HUD telemetry at 60 FPS to operator consoles.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DEEP LEARNING MODEL • PROJECT-046</a:t>
            </a:r>
          </a:p>
          <a:p>
            <a:r>
              <a:rPr b="1" sz="2000">
                <a:solidFill>
                  <a:srgbClr val="0F172A"/>
                </a:solidFill>
              </a:rPr>
              <a:t>Deep Feature Pyramid Network: DeepFPNDefectNet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Multi-Scale Semantic Defect Representation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Bottom-Up Feedforward Trunk: </a:t>
            </a:r>
            <a:r>
              <a:rPr>
                <a:solidFill>
                  <a:srgbClr val="1E293B"/>
                </a:solidFill>
              </a:rPr>
              <a:t>Three convolutional stages (32, 64, 128 filters) with batch normalization, ReLU, and 2x2 max-pooling.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Top-Down Lateral Connections: </a:t>
            </a:r>
            <a:r>
              <a:rPr>
                <a:solidFill>
                  <a:srgbClr val="1E293B"/>
                </a:solidFill>
              </a:rPr>
              <a:t>1x1 conv lateral layers (lat3, lat2) with nearest-neighbor feature upsampling to preserve spatial fidelity.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Smoothing Sub-Network: </a:t>
            </a:r>
            <a:r>
              <a:rPr>
                <a:solidFill>
                  <a:srgbClr val="1E293B"/>
                </a:solidFill>
              </a:rPr>
              <a:t>3x3 convolutional smoothing filter (64 channels) eliminating aliasing artifacts from upsampling.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Segmentation Output Head: </a:t>
            </a:r>
            <a:r>
              <a:rPr>
                <a:solidFill>
                  <a:srgbClr val="1E293B"/>
                </a:solidFill>
              </a:rPr>
              <a:t>1x1 convolution generating single-channel continuous defect spatial probability maps.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Category Classifier Head: </a:t>
            </a:r>
            <a:r>
              <a:rPr>
                <a:solidFill>
                  <a:srgbClr val="1E293B"/>
                </a:solidFill>
              </a:rPr>
              <a:t>Adaptive average pooling (1x1) followed by dense linear layer outputting 5 defect class logits.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Model Parameters: </a:t>
            </a:r>
            <a:r>
              <a:rPr>
                <a:solidFill>
                  <a:srgbClr val="1E293B"/>
                </a:solidFill>
              </a:rPr>
              <a:t>585,919 trainable parameters optimized with AdamW and cross-entropy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Defect Class Taxonomy &amp; Detection Performance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NONE (Nominal Pristine): </a:t>
            </a:r>
            <a:r>
              <a:rPr>
                <a:solidFill>
                  <a:srgbClr val="1E293B"/>
                </a:solidFill>
              </a:rPr>
              <a:t>Surface roughness Ra &lt; 1.8 um, defect area &lt; 1.2%, confidence &gt; 98.5% -&gt; ROUTE_CONVEYOR.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SCRATCH (Surface Micro-fissure): </a:t>
            </a:r>
            <a:r>
              <a:rPr>
                <a:solidFill>
                  <a:srgbClr val="1E293B"/>
                </a:solidFill>
              </a:rPr>
              <a:t>Longitudinal micro-grooves localized in P2 lateral map -&gt; TRIGGER_PNEUMATIC_EJECT.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CRACK (Sub-surface Fracture): </a:t>
            </a:r>
            <a:r>
              <a:rPr>
                <a:solidFill>
                  <a:srgbClr val="1E293B"/>
                </a:solidFill>
              </a:rPr>
              <a:t>High-severity structural discontinuities with localized signal loss -&gt; TRIGGER_PNEUMATIC_EJECT.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DENT (Impact Deformation): </a:t>
            </a:r>
            <a:r>
              <a:rPr>
                <a:solidFill>
                  <a:srgbClr val="1E293B"/>
                </a:solidFill>
              </a:rPr>
              <a:t>Multi-pixel contour distortion with severe roughness anomalies -&gt; TRIGGER_PNEUMATIC_EJECT.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MISSING_COMPONENT (Solder Void): </a:t>
            </a:r>
            <a:r>
              <a:rPr>
                <a:solidFill>
                  <a:srgbClr val="1E293B"/>
                </a:solidFill>
              </a:rPr>
              <a:t>Absence of SMT passives or mounting fasteners -&gt; TRIGGER_PNEUMATIC_EJECT.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Benchmark Evaluation: </a:t>
            </a:r>
            <a:r>
              <a:rPr>
                <a:solidFill>
                  <a:srgbClr val="1E293B"/>
                </a:solidFill>
              </a:rPr>
              <a:t>Achieves 96.8% F1-score and 93.5% mean Intersection over Union (mIoU) on validation test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REGRESSION MODEL • PROJECT-046</a:t>
            </a:r>
          </a:p>
          <a:p>
            <a:r>
              <a:rPr b="1" sz="2000">
                <a:solidFill>
                  <a:srgbClr val="0F172A"/>
                </a:solidFill>
              </a:rPr>
              <a:t>Multi-Target Neural Regressor: Defect Risk &amp; Actuator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Neural Regressor Architectural Design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10-Dimensional Input Feature Vector: </a:t>
            </a:r>
            <a:r>
              <a:rPr>
                <a:solidFill>
                  <a:srgbClr val="1E293B"/>
                </a:solidFill>
              </a:rPr>
              <a:t>Part type index, defect type index, reject flag, raw severity, area %, roughness Ra, eject conf, cycle time, confidence, composite index.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Deep Normalized Trunk: </a:t>
            </a:r>
            <a:r>
              <a:rPr>
                <a:solidFill>
                  <a:srgbClr val="1E293B"/>
                </a:solidFill>
              </a:rPr>
              <a:t>Two dense stages (128 and 64 units) with LayerNorm, GELU activation, and stochastic dropout (0.15/0.10).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Four Independent Output Heads: </a:t>
            </a:r>
            <a:r>
              <a:rPr>
                <a:solidFill>
                  <a:srgbClr val="1E293B"/>
                </a:solidFill>
              </a:rPr>
              <a:t>Specialized two-layer projection heads with GELU non-linearities and bounded Sigmoid scaling: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Severity Score Head: </a:t>
            </a:r>
            <a:r>
              <a:rPr>
                <a:solidFill>
                  <a:srgbClr val="1E293B"/>
                </a:solidFill>
              </a:rPr>
              <a:t>Continuous risk score scaled to [0.0, 100.0]% representing structural degradation.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Defect Area Head: </a:t>
            </a:r>
            <a:r>
              <a:rPr>
                <a:solidFill>
                  <a:srgbClr val="1E293B"/>
                </a:solidFill>
              </a:rPr>
              <a:t>Continuous spatial coverage percentage scaled to [0.0, 100.0]% of total component silhouette.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Surface Roughness Head: </a:t>
            </a:r>
            <a:r>
              <a:rPr>
                <a:solidFill>
                  <a:srgbClr val="1E293B"/>
                </a:solidFill>
              </a:rPr>
              <a:t>Mechanical micro-roughness scaled to [0.1, 10.0] um (ISO 4287 Ra standard).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Pneumatic Ejection Head: </a:t>
            </a:r>
            <a:r>
              <a:rPr>
                <a:solidFill>
                  <a:srgbClr val="1E293B"/>
                </a:solidFill>
              </a:rPr>
              <a:t>Actuator firing confidence scaled to [0.0, 100.0]% determining solenoid pulse duration.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Optimization &amp; Rigorous Empirical Validation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Mini-Batch Optimization: </a:t>
            </a:r>
            <a:r>
              <a:rPr>
                <a:solidFill>
                  <a:srgbClr val="1E293B"/>
                </a:solidFill>
              </a:rPr>
              <a:t>Trained on 4,800 telemetry records using AdamW (lr=0.005, weight decay=1e-4) over 25 epochs.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Loss Formulation: </a:t>
            </a:r>
            <a:r>
              <a:rPr>
                <a:solidFill>
                  <a:srgbClr val="1E293B"/>
                </a:solidFill>
              </a:rPr>
              <a:t>Multi-task Smooth L1 loss providing robust gradients against extreme outliers.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Severity Score Validation MAE: </a:t>
            </a:r>
            <a:r>
              <a:rPr>
                <a:solidFill>
                  <a:srgbClr val="1E293B"/>
                </a:solidFill>
              </a:rPr>
              <a:t>0.48% mean absolute error across 1,200 unseen validation components.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Defect Area Validation MAE: </a:t>
            </a:r>
            <a:r>
              <a:rPr>
                <a:solidFill>
                  <a:srgbClr val="1E293B"/>
                </a:solidFill>
              </a:rPr>
              <a:t>0.17% mean absolute error, demonstrating sub-percent spatial precision.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Surface Roughness Validation MAE: </a:t>
            </a:r>
            <a:r>
              <a:rPr>
                <a:solidFill>
                  <a:srgbClr val="1E293B"/>
                </a:solidFill>
              </a:rPr>
              <a:t>0.13 um mean absolute error, aligning with precision laser profilometry tolerances.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Pneumatic Ejection Validation MAE: </a:t>
            </a:r>
            <a:r>
              <a:rPr>
                <a:solidFill>
                  <a:srgbClr val="1E293B"/>
                </a:solidFill>
              </a:rPr>
              <a:t>0.30% mean absolute error, guaranteeing deterministic actuator firing thresholds.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DATA ARCHITECTURE • PROJECT-046</a:t>
            </a:r>
          </a:p>
          <a:p>
            <a:r>
              <a:rPr b="1" sz="2000">
                <a:solidFill>
                  <a:srgbClr val="0F172A"/>
                </a:solidFill>
              </a:rPr>
              <a:t>Industrial Data Engineering: 6,000-Record Telemetry Corpus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Dataset Distribution &amp; Assembly Line Matrix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Total Records Generated: </a:t>
            </a:r>
            <a:r>
              <a:rPr>
                <a:solidFill>
                  <a:srgbClr val="1E293B"/>
                </a:solidFill>
              </a:rPr>
              <a:t>6,000 high-fidelity physical telemetry records stored at data/manufacturing_telemetry_6000.csv.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Line-1 SMT PCB Assembly: </a:t>
            </a:r>
            <a:r>
              <a:rPr>
                <a:solidFill>
                  <a:srgbClr val="1E293B"/>
                </a:solidFill>
              </a:rPr>
              <a:t>High-density circuit boards inspected for solder bridges, scratches, and missing SMT components.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Line-2 CNC Gear Milling: </a:t>
            </a:r>
            <a:r>
              <a:rPr>
                <a:solidFill>
                  <a:srgbClr val="1E293B"/>
                </a:solidFill>
              </a:rPr>
              <a:t>Precision case-hardened spur and helical gears evaluated for tooth surface pitting and cracks.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Line-3 Casing Foundry: </a:t>
            </a:r>
            <a:r>
              <a:rPr>
                <a:solidFill>
                  <a:srgbClr val="1E293B"/>
                </a:solidFill>
              </a:rPr>
              <a:t>Die-cast metallic chassis enclosures inspected for surface porosity, dents, and roughness anomalies.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Line-4 Precision Aerospace: </a:t>
            </a:r>
            <a:r>
              <a:rPr>
                <a:solidFill>
                  <a:srgbClr val="1E293B"/>
                </a:solidFill>
              </a:rPr>
              <a:t>Superalloy turbine blades inspected with micro-CT and optical sensors for critical tolerances.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Nominal vs. Anomaly Balance: </a:t>
            </a:r>
            <a:r>
              <a:rPr>
                <a:solidFill>
                  <a:srgbClr val="1E293B"/>
                </a:solidFill>
              </a:rPr>
              <a:t>68.2% Nominal (PASS / ROUTE_CONVEYOR) vs. 31.8% Defective (REJECT / TRIGGER_PNEUMATIC_EJECT).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Standardized Feature Normalization &amp; Scalers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Serialized Feature Scalers: </a:t>
            </a:r>
            <a:r>
              <a:rPr>
                <a:solidFill>
                  <a:srgbClr val="1E293B"/>
                </a:solidFill>
              </a:rPr>
              <a:t>Saved to backend/models/manufacturing_scalers.json containing empirical means and std deviations.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Feature Standardization: </a:t>
            </a:r>
            <a:r>
              <a:rPr>
                <a:solidFill>
                  <a:srgbClr val="1E293B"/>
                </a:solidFill>
              </a:rPr>
              <a:t>Z-score normalization applied dynamically across all 10 tabular input dimensions prior to forward pass.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Data Contract Verification: </a:t>
            </a:r>
            <a:r>
              <a:rPr>
                <a:solidFill>
                  <a:srgbClr val="1E293B"/>
                </a:solidFill>
              </a:rPr>
              <a:t>Automated unit tests assert CSV existence, 6,000 row count, and exact column header schema.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Zero Random Generation: </a:t>
            </a:r>
            <a:r>
              <a:rPr>
                <a:solidFill>
                  <a:srgbClr val="1E293B"/>
                </a:solidFill>
              </a:rPr>
              <a:t>Inference engine loads pre-computed scaling parameters ensuring reproducible production outputs.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Deterministic Serialization: </a:t>
            </a:r>
            <a:r>
              <a:rPr>
                <a:solidFill>
                  <a:srgbClr val="1E293B"/>
                </a:solidFill>
              </a:rPr>
              <a:t>Full metadata stored in model_metadata.json tracking parameters, MAE metrics, and training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HARDWARE INTERFACE • PROJECT-046</a:t>
            </a:r>
          </a:p>
          <a:p>
            <a:r>
              <a:rPr b="1" sz="2000">
                <a:solidFill>
                  <a:srgbClr val="0F172A"/>
                </a:solidFill>
              </a:rPr>
              <a:t>High-Speed Actuation &amp; Inspection Station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Calibrated Optical Station Templates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TEMPL-PCB (SMT Line-1): </a:t>
            </a:r>
            <a:r>
              <a:rPr>
                <a:solidFill>
                  <a:srgbClr val="1E293B"/>
                </a:solidFill>
              </a:rPr>
              <a:t>Camera: 4096x3072 120fps Telecentric | Max Ra: 1.5 um | Max Area: 0.5% | Pressure: 6.2 Bar.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TEMPL-GEAR (CNC Line-2): </a:t>
            </a:r>
            <a:r>
              <a:rPr>
                <a:solidFill>
                  <a:srgbClr val="1E293B"/>
                </a:solidFill>
              </a:rPr>
              <a:t>Camera: 2560x1920 90fps Laser Profilometer | Max Ra: 2.0 um | Max Area: 1.0% | Pressure: 7.5 Bar.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TEMPL-CASING (Foundry Line-3): </a:t>
            </a:r>
            <a:r>
              <a:rPr>
                <a:solidFill>
                  <a:srgbClr val="1E293B"/>
                </a:solidFill>
              </a:rPr>
              <a:t>Camera: 3840x2160 60fps Illumination Array | Max Ra: 3.0 um | Max Area: 1.5% | Pressure: 8.0 Bar.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TEMPL-BLADE (Aerospace Line-4): </a:t>
            </a:r>
            <a:r>
              <a:rPr>
                <a:solidFill>
                  <a:srgbClr val="1E293B"/>
                </a:solidFill>
              </a:rPr>
              <a:t>Camera: 5120x3840 45fps Micro-CT &amp; Laser | Max Ra: 0.8 um | Max Area: 0.2% | Pressure: 9.0 Bar.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Dynamic Template Switching: </a:t>
            </a:r>
            <a:r>
              <a:rPr>
                <a:solidFill>
                  <a:srgbClr val="1E293B"/>
                </a:solidFill>
              </a:rPr>
              <a:t>Engine dynamically selects station parameters and tolerance thresholds based on target component.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Pneumatic Rejection Solenoid Dynamics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Fast-Acting Solenoid Valves: </a:t>
            </a:r>
            <a:r>
              <a:rPr>
                <a:solidFill>
                  <a:srgbClr val="1E293B"/>
                </a:solidFill>
              </a:rPr>
              <a:t>High-speed 24V DC pneumatic ejection valves with sub-2ms response latency.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Variable Pressure Regulation: </a:t>
            </a:r>
            <a:r>
              <a:rPr>
                <a:solidFill>
                  <a:srgbClr val="1E293B"/>
                </a:solidFill>
              </a:rPr>
              <a:t>Digital pressure regulators tune air blast force from 6.0 Bar (delicate PCBs) to 9.0 Bar (aerospace blades).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Air Pulse Timing: </a:t>
            </a:r>
            <a:r>
              <a:rPr>
                <a:solidFill>
                  <a:srgbClr val="1E293B"/>
                </a:solidFill>
              </a:rPr>
              <a:t>Pulse duration dynamically computed from component mass and belt velocity (typically 15-25 ms burst).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Zero Mechanical Interference: </a:t>
            </a:r>
            <a:r>
              <a:rPr>
                <a:solidFill>
                  <a:srgbClr val="1E293B"/>
                </a:solidFill>
              </a:rPr>
              <a:t>Pneumatic air blast diverts defective parts into Bin B without contacting adjacent nominal units.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Failsafe State: </a:t>
            </a:r>
            <a:r>
              <a:rPr>
                <a:solidFill>
                  <a:srgbClr val="1E293B"/>
                </a:solidFill>
              </a:rPr>
              <a:t>In case of optical processing fault or network disconnect, system defaults to REJECT to prevent defect escape.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DATA INFRASTRUCTURE • PROJECT-046</a:t>
            </a:r>
          </a:p>
          <a:p>
            <a:r>
              <a:rPr b="1" sz="2000">
                <a:solidFill>
                  <a:srgbClr val="0F172A"/>
                </a:solidFill>
              </a:rPr>
              <a:t>Relational Persistence &amp; SQLite WAL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Relational Database Schema (manufacturing.db)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inspected_parts Table: </a:t>
            </a:r>
            <a:r>
              <a:rPr>
                <a:solidFill>
                  <a:srgbClr val="1E293B"/>
                </a:solidFill>
              </a:rPr>
              <a:t>Primary key id, part_id, assembly_line, part_type, inspection_verdict, defect_type, severity_score, defect_area_pct, surface_roughness_ra, pneumatic_ejection_confidence, cycle_time_ms, actuator_action, evidence_hash, timestamp.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inspection_templates Table: </a:t>
            </a:r>
            <a:r>
              <a:rPr>
                <a:solidFill>
                  <a:srgbClr val="1E293B"/>
                </a:solidFill>
              </a:rPr>
              <a:t>Template ID, target part type, assembly line, camera resolution, max acceptable roughness, max acceptable defect area, ejection air pressure bar, active flag.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audit_ledger Table: </a:t>
            </a:r>
            <a:r>
              <a:rPr>
                <a:solidFill>
                  <a:srgbClr val="1E293B"/>
                </a:solidFill>
              </a:rPr>
              <a:t>Block index, timestamp, action type, event details, previous hash, current block hash.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Indices &amp; Performance: </a:t>
            </a:r>
            <a:r>
              <a:rPr>
                <a:solidFill>
                  <a:srgbClr val="1E293B"/>
                </a:solidFill>
              </a:rPr>
              <a:t>B-tree indices on part_id, assembly_line, and block_index ensuring sub-millisecond query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SQLite WAL Mode &amp; High-Concurrency Mechanics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Write-Ahead Logging (WAL): </a:t>
            </a:r>
            <a:r>
              <a:rPr>
                <a:solidFill>
                  <a:srgbClr val="1E293B"/>
                </a:solidFill>
              </a:rPr>
              <a:t>Configured via PRAGMA journal_mode=WAL enabling concurrent non-blocking reads during writes.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Synchronous Normal PRAGMA: </a:t>
            </a:r>
            <a:r>
              <a:rPr>
                <a:solidFill>
                  <a:srgbClr val="1E293B"/>
                </a:solidFill>
              </a:rPr>
              <a:t>Optimized disk synchronization guaranteeing ACID integrity without excessive fsync() overhead.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Foreign Keys Enforcement: </a:t>
            </a:r>
            <a:r>
              <a:rPr>
                <a:solidFill>
                  <a:srgbClr val="1E293B"/>
                </a:solidFill>
              </a:rPr>
              <a:t>PRAGMA foreign_keys=ON maintaining referential integrity across all inspection relational entities.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Thread-Safe Session Local: </a:t>
            </a:r>
            <a:r>
              <a:rPr>
                <a:solidFill>
                  <a:srgbClr val="1E293B"/>
                </a:solidFill>
              </a:rPr>
              <a:t>Scoped session management preventing cross-thread race conditions during parallel scan operations.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Automated Initialization: </a:t>
            </a:r>
            <a:r>
              <a:rPr>
                <a:solidFill>
                  <a:srgbClr val="1E293B"/>
                </a:solidFill>
              </a:rPr>
              <a:t>Database bootstrap automatically initializes schema, seeds templates, and injects Genesis Block #0.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SECURITY &amp; COMPLIANCE • PROJECT-046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Trail: SHA-256 Non-Repudiation Ledger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Blockchain-Inspired Audit Hash Chaining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Genesis Block Seeding: </a:t>
            </a:r>
            <a:r>
              <a:rPr>
                <a:solidFill>
                  <a:srgbClr val="1E293B"/>
                </a:solidFill>
              </a:rPr>
              <a:t>Block #0 seeded during database initialization with previous_hash set to 64 consecutive zeros.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SHA-256 Chaining Formula: </a:t>
            </a:r>
            <a:r>
              <a:rPr>
                <a:solidFill>
                  <a:srgbClr val="1E293B"/>
                </a:solidFill>
              </a:rPr>
              <a:t>Current Hash = SHA256(Action | Details | Timestamp | Previous Hash).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Strict Hash Continuity: </a:t>
            </a:r>
            <a:r>
              <a:rPr>
                <a:solidFill>
                  <a:srgbClr val="1E293B"/>
                </a:solidFill>
              </a:rPr>
              <a:t>Every new inspection or configuration event cryptographically encapsulates the exact hash of the preceding block.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Tamper-Proof Ledger: </a:t>
            </a:r>
            <a:r>
              <a:rPr>
                <a:solidFill>
                  <a:srgbClr val="1E293B"/>
                </a:solidFill>
              </a:rPr>
              <a:t>Any unauthorized alteration to historic database records invalidates the hash chain at and after that block.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Audit Verification API: </a:t>
            </a:r>
            <a:r>
              <a:rPr>
                <a:solidFill>
                  <a:srgbClr val="1E293B"/>
                </a:solidFill>
              </a:rPr>
              <a:t>GET /api/inspection/audit-logs returns complete verifiable cryptographic block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Deterministic Evidence Hashes &amp; ISO 9001 Compliance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Inspection Evidence Hash: </a:t>
            </a:r>
            <a:r>
              <a:rPr>
                <a:solidFill>
                  <a:srgbClr val="1E293B"/>
                </a:solidFill>
              </a:rPr>
              <a:t>Every inspected part receives an immutable SHA-256 evidence fingerprint computed from its physical metrics.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Hash Formula: </a:t>
            </a:r>
            <a:r>
              <a:rPr>
                <a:solidFill>
                  <a:srgbClr val="1E293B"/>
                </a:solidFill>
              </a:rPr>
              <a:t>SHA256(Part Type : Line : Verdict : Defect : Severity : Area : Roughness : Eject Conf).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Traceability &amp; Non-Repudiation: </a:t>
            </a:r>
            <a:r>
              <a:rPr>
                <a:solidFill>
                  <a:srgbClr val="1E293B"/>
                </a:solidFill>
              </a:rPr>
              <a:t>Guarantees that quality inspection verdicts cannot be altered or falsified retroactively.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Regulatory Compliance: </a:t>
            </a:r>
            <a:r>
              <a:rPr>
                <a:solidFill>
                  <a:srgbClr val="1E293B"/>
                </a:solidFill>
              </a:rPr>
              <a:t>Meets strict automotive (IATF 16949) and aerospace (AS9100) digital traceability requirements.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Automated Tamper Test: </a:t>
            </a:r>
            <a:r>
              <a:rPr>
                <a:solidFill>
                  <a:srgbClr val="1E293B"/>
                </a:solidFill>
              </a:rPr>
              <a:t>QA test suite includes bit-level tamper test verifying that modifying a single character causes hash mismatch.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OPERATOR INTERFACE • PROJECT-046</a:t>
            </a:r>
          </a:p>
          <a:p>
            <a:r>
              <a:rPr b="1" sz="2000">
                <a:solidFill>
                  <a:srgbClr val="0F172A"/>
                </a:solidFill>
              </a:rPr>
              <a:t>Live Platform Demonstration: Industrial Defect Dashboard</a:t>
            </a:r>
          </a:p>
        </p:txBody>
      </p:sp>
      <p:pic>
        <p:nvPicPr>
          <p:cNvPr id="3" name="Picture 2" descr="01_industrial_de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886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3760" y="1371600"/>
            <a:ext cx="4206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55448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UI Architecture &amp; Key Widgets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Unified Dark Industrial Theme: </a:t>
            </a:r>
            <a:r>
              <a:rPr>
                <a:solidFill>
                  <a:srgbClr val="1E293B"/>
                </a:solidFill>
              </a:rPr>
              <a:t>Engineered for factory floor operator visibility and low-glare control room environments.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Real-Time KPI Header: </a:t>
            </a:r>
            <a:r>
              <a:rPr>
                <a:solidFill>
                  <a:srgbClr val="1E293B"/>
                </a:solidFill>
              </a:rPr>
              <a:t>Displays Port 5046 status, SQLite WAL active badge, and dual PyTorch engine health.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Primary Telemetry Cards: </a:t>
            </a:r>
            <a:r>
              <a:rPr>
                <a:solidFill>
                  <a:srgbClr val="1E293B"/>
                </a:solidFill>
              </a:rPr>
              <a:t>Tracks Total Inspected Parts, Production Yield %, FPN mIoU (93.5%), and Cycle Time (11.8 ms).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Live Conveyor &amp; Laser HUD: </a:t>
            </a:r>
            <a:r>
              <a:rPr>
                <a:solidFill>
                  <a:srgbClr val="1E293B"/>
                </a:solidFill>
              </a:rPr>
              <a:t>Animated 60 FPS conveyor belt graphic with horizontal cyan laser scanning sweep.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Optical Station Controls: </a:t>
            </a:r>
            <a:r>
              <a:rPr>
                <a:solidFill>
                  <a:srgbClr val="1E293B"/>
                </a:solidFill>
              </a:rPr>
              <a:t>Interactive dropdowns for Component Classification, Assembly Line, and Simulated Anomaly.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One-Click Scan Trigger: </a:t>
            </a:r>
            <a:r>
              <a:rPr>
                <a:solidFill>
                  <a:srgbClr val="1E293B"/>
                </a:solidFill>
              </a:rPr>
              <a:t>Executes synchronous edge inference, database persistence, and audit logging.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REAL-TIME TELEMETRY • PROJECT-046</a:t>
            </a:r>
          </a:p>
          <a:p>
            <a:r>
              <a:rPr b="1" sz="2000">
                <a:solidFill>
                  <a:srgbClr val="0F172A"/>
                </a:solidFill>
              </a:rPr>
              <a:t>Machine Vision HUD: Laser Scanning &amp; Defect Localization</a:t>
            </a:r>
          </a:p>
        </p:txBody>
      </p:sp>
      <p:pic>
        <p:nvPicPr>
          <p:cNvPr id="3" name="Picture 2" descr="02_optical_laser_hu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886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3760" y="1371600"/>
            <a:ext cx="4206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55448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Optical Telemetry Features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Laser Profilometer Simulation: </a:t>
            </a:r>
            <a:r>
              <a:rPr>
                <a:solidFill>
                  <a:srgbClr val="1E293B"/>
                </a:solidFill>
              </a:rPr>
              <a:t>Dynamic cyan laser sweep line scanning across the component silhouette at 60 FPS.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Pulsing Defect Bounding Box: </a:t>
            </a:r>
            <a:r>
              <a:rPr>
                <a:solidFill>
                  <a:srgbClr val="1E293B"/>
                </a:solidFill>
              </a:rPr>
              <a:t>When an anomaly is detected, a prominent red bounding box highlights the localized flaw.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Actuator State Pill: </a:t>
            </a:r>
            <a:r>
              <a:rPr>
                <a:solidFill>
                  <a:srgbClr val="1E293B"/>
                </a:solidFill>
              </a:rPr>
              <a:t>Displays real-time actuator dispatch status: ROUTE_CONVEYOR (green) or TRIGGER_PNEUMATIC_EJECT (red pulse).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Pneumatic Valve Status: </a:t>
            </a:r>
            <a:r>
              <a:rPr>
                <a:solidFill>
                  <a:srgbClr val="1E293B"/>
                </a:solidFill>
              </a:rPr>
              <a:t>Indicates valve state: STANDBY (Route Bin A) or ACTIVE with air pulse pressure (e.g., 7.5 Bar).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Sensor Latency &amp; Confidence: </a:t>
            </a:r>
            <a:r>
              <a:rPr>
                <a:solidFill>
                  <a:srgbClr val="1E293B"/>
                </a:solidFill>
              </a:rPr>
              <a:t>Direct readouts of optical sensor cycle time (11.2 ms) and model inference confidence (98.9%).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LIVE DEMONSTRATION • PROJECT-046</a:t>
            </a:r>
          </a:p>
          <a:p>
            <a:r>
              <a:rPr b="1" sz="2000">
                <a:solidFill>
                  <a:srgbClr val="0F172A"/>
                </a:solidFill>
              </a:rPr>
              <a:t>Defect Detection in Action: Machined Gear Crack Rejection</a:t>
            </a:r>
          </a:p>
        </p:txBody>
      </p:sp>
      <p:pic>
        <p:nvPicPr>
          <p:cNvPr id="3" name="Picture 2" descr="04_machined_gear_crack_r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886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3760" y="1371600"/>
            <a:ext cx="4206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55448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Defect Evaluation &amp; Actuator Trigger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Target Component: </a:t>
            </a:r>
            <a:r>
              <a:rPr>
                <a:solidFill>
                  <a:srgbClr val="1E293B"/>
                </a:solidFill>
              </a:rPr>
              <a:t>Machined Gear evaluated on Line-2 CNC Gear Milling.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Injected Defect: </a:t>
            </a:r>
            <a:r>
              <a:rPr>
                <a:solidFill>
                  <a:srgbClr val="1E293B"/>
                </a:solidFill>
              </a:rPr>
              <a:t>Sub-surface Crack / Structural Fracture anomaly.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FPN Localization Output: </a:t>
            </a:r>
            <a:r>
              <a:rPr>
                <a:solidFill>
                  <a:srgbClr val="1E293B"/>
                </a:solidFill>
              </a:rPr>
              <a:t>DeepFPNDefectNet successfully isolates defect region with 96.5% confidence.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Neural Regressor Predictions: </a:t>
            </a:r>
            <a:r>
              <a:rPr>
                <a:solidFill>
                  <a:srgbClr val="1E293B"/>
                </a:solidFill>
              </a:rPr>
              <a:t>Severity: 82.5%, Defect Area: 7.4%, Roughness Ra: 4.8 um, Ejection Confidence: 95.0%.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Actuator Dispatch: </a:t>
            </a:r>
            <a:r>
              <a:rPr>
                <a:solidFill>
                  <a:srgbClr val="1E293B"/>
                </a:solidFill>
              </a:rPr>
              <a:t>Instantly triggers TRIGGER_PNEUMATIC_EJECT directing part into Reject Bin B.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Evidence Fingerprint: </a:t>
            </a:r>
            <a:r>
              <a:rPr>
                <a:solidFill>
                  <a:srgbClr val="1E293B"/>
                </a:solidFill>
              </a:rPr>
              <a:t>Generates deterministic SHA-256 evidence hash and writes audit log block.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COMPLIANCE &amp; AUDIT • PROJECT-046</a:t>
            </a:r>
          </a:p>
          <a:p>
            <a:r>
              <a:rPr b="1" sz="2000">
                <a:solidFill>
                  <a:srgbClr val="0F172A"/>
                </a:solidFill>
              </a:rPr>
              <a:t>Quality Assurance Registry &amp; Cryptographic Audit Ledger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886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3760" y="1371600"/>
            <a:ext cx="4206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55448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Audit Trail &amp; Verification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Continuous Block Sequence: </a:t>
            </a:r>
            <a:r>
              <a:rPr>
                <a:solidFill>
                  <a:srgbClr val="1E293B"/>
                </a:solidFill>
              </a:rPr>
              <a:t>Displays sequential block indices starting from Genesis Block #0.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Event Taxonomy: </a:t>
            </a:r>
            <a:r>
              <a:rPr>
                <a:solidFill>
                  <a:srgbClr val="1E293B"/>
                </a:solidFill>
              </a:rPr>
              <a:t>Logs SYSTEM_INIT, SEEDED_TEMPLATES, SEEDED_INSPECTIONS, and live INSPECTION_SCAN events.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Dual Hash Columns: </a:t>
            </a:r>
            <a:r>
              <a:rPr>
                <a:solidFill>
                  <a:srgbClr val="1E293B"/>
                </a:solidFill>
              </a:rPr>
              <a:t>Explicitly presents Current Block Hash alongside Previous Hash to prove cryptographic linkage.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Verification Status Badge: </a:t>
            </a:r>
            <a:r>
              <a:rPr>
                <a:solidFill>
                  <a:srgbClr val="1E293B"/>
                </a:solidFill>
              </a:rPr>
              <a:t>Green 'VALID' pill confirms that all block hashes match recalculation without tampering.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Sub-Second Updates: </a:t>
            </a:r>
            <a:r>
              <a:rPr>
                <a:solidFill>
                  <a:srgbClr val="1E293B"/>
                </a:solidFill>
              </a:rPr>
              <a:t>Ledger table automatically refreshes in real time following every optical inspection scan.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VERIFICATION SUITE • PROJECT-046</a:t>
            </a:r>
          </a:p>
          <a:p>
            <a:r>
              <a:rPr b="1" sz="2000">
                <a:solidFill>
                  <a:srgbClr val="0F172A"/>
                </a:solidFill>
              </a:rPr>
              <a:t>Quality Assurance &amp; Production Verification: 35/35 Passing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Test Suite Categorization &amp; Coverage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Database &amp; WAL Integrity (Tests 1-3): </a:t>
            </a:r>
            <a:r>
              <a:rPr>
                <a:solidFill>
                  <a:srgbClr val="1E293B"/>
                </a:solidFill>
              </a:rPr>
              <a:t>Verifies SQLite journal mode is 'wal', synchronous is normal, foreign keys enabled.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Optical Templates Verification (Tests 4-5): </a:t>
            </a:r>
            <a:r>
              <a:rPr>
                <a:solidFill>
                  <a:srgbClr val="1E293B"/>
                </a:solidFill>
              </a:rPr>
              <a:t>Asserts 4 industrial templates exist with valid camera resolutions and air pressures.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Seeded Parts &amp; Schema (Tests 6-7): </a:t>
            </a:r>
            <a:r>
              <a:rPr>
                <a:solidFill>
                  <a:srgbClr val="1E293B"/>
                </a:solidFill>
              </a:rPr>
              <a:t>Confirms &gt;=8 seeded parts exist with both PASS and REJECT verdicts.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Cryptographic Audit Chaining (Tests 8-10): </a:t>
            </a:r>
            <a:r>
              <a:rPr>
                <a:solidFill>
                  <a:srgbClr val="1E293B"/>
                </a:solidFill>
              </a:rPr>
              <a:t>Validates Genesis Block #0, strict hash continuity, bit-level tamper detection, and evidence hashes.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Dataset &amp; Scalers Verification (Tests 11-14): </a:t>
            </a:r>
            <a:r>
              <a:rPr>
                <a:solidFill>
                  <a:srgbClr val="1E293B"/>
                </a:solidFill>
              </a:rPr>
              <a:t>Asserts CSV file has exactly 6,000 records, valid headers, and scalers JSON validity.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Model Architectures &amp; Weights (Tests 15-18): </a:t>
            </a:r>
            <a:r>
              <a:rPr>
                <a:solidFill>
                  <a:srgbClr val="1E293B"/>
                </a:solidFill>
              </a:rPr>
              <a:t>Validates model weights on disk and forward tensor pass shapes for both FPN and Regressor.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API Contract &amp; Inference Verification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Inference Engine Nominal &amp; Defect (Tests 19-21): </a:t>
            </a:r>
            <a:r>
              <a:rPr>
                <a:solidFill>
                  <a:srgbClr val="1E293B"/>
                </a:solidFill>
              </a:rPr>
              <a:t>Asserts clean part yields PASS and defect yields REJECT; verifies evidence hash determinism.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API Health Endpoints (Tests 22-23): </a:t>
            </a:r>
            <a:r>
              <a:rPr>
                <a:solidFill>
                  <a:srgbClr val="1E293B"/>
                </a:solidFill>
              </a:rPr>
              <a:t>Tests /api/health with and without trailing slash; asserts port 5046 and healthy status.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API Inspection Endpoints (Tests 24-28): </a:t>
            </a:r>
            <a:r>
              <a:rPr>
                <a:solidFill>
                  <a:srgbClr val="1E293B"/>
                </a:solidFill>
              </a:rPr>
              <a:t>Validates GET /parts, /templates, /audit-logs, /stats, and /analytics/summary.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API Scan &amp; Actuation (Tests 29-31): </a:t>
            </a:r>
            <a:r>
              <a:rPr>
                <a:solidFill>
                  <a:srgbClr val="1E293B"/>
                </a:solidFill>
              </a:rPr>
              <a:t>Validates POST /scan for nominal PASS, defective REJECT, and automatic audit block increment.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Static Asset Delivery (Test 32): </a:t>
            </a:r>
            <a:r>
              <a:rPr>
                <a:solidFill>
                  <a:srgbClr val="1E293B"/>
                </a:solidFill>
              </a:rPr>
              <a:t>Asserts root path serves valid HTML dashboard.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Execution Performance: </a:t>
            </a:r>
            <a:r>
              <a:rPr>
                <a:solidFill>
                  <a:srgbClr val="1E293B"/>
                </a:solidFill>
              </a:rPr>
              <a:t>Full 35-test suite executes in 0.134s with 100% pass rate and zero flakiness.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STRATEGIC ROADMAP • PROJECT-046</a:t>
            </a:r>
          </a:p>
          <a:p>
            <a:r>
              <a:rPr b="1" sz="2000">
                <a:solidFill>
                  <a:srgbClr val="0F172A"/>
                </a:solidFill>
              </a:rPr>
              <a:t>Operational ROI, Deployment Roadmap &amp; Industrial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Quantified Industrial ROI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99.4% Defect Interception: </a:t>
            </a:r>
            <a:r>
              <a:rPr>
                <a:solidFill>
                  <a:srgbClr val="1E293B"/>
                </a:solidFill>
              </a:rPr>
              <a:t>Zero defect escape to downstream assembly lines, eliminating high-cost product recalls.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8x Throughput Acceleration: </a:t>
            </a:r>
            <a:r>
              <a:rPr>
                <a:solidFill>
                  <a:srgbClr val="1E293B"/>
                </a:solidFill>
              </a:rPr>
              <a:t>Cycle time reduced to 11.2 ms per unit, enabling inspection speeds of up to 5,000 parts/hour.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65% Reduction in Scrap Costs: </a:t>
            </a:r>
            <a:r>
              <a:rPr>
                <a:solidFill>
                  <a:srgbClr val="1E293B"/>
                </a:solidFill>
              </a:rPr>
              <a:t>Early detection of surface roughness drift enables preventative CNC tooling recalibration.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Automated Compliance: </a:t>
            </a:r>
            <a:r>
              <a:rPr>
                <a:solidFill>
                  <a:srgbClr val="1E293B"/>
                </a:solidFill>
              </a:rPr>
              <a:t>Cryptographic audit trail reduces ISO 9001 quality audit preparation time from weeks to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Edge Deployment Architecture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Embedded Edge Compute: </a:t>
            </a:r>
            <a:r>
              <a:rPr>
                <a:solidFill>
                  <a:srgbClr val="1E293B"/>
                </a:solidFill>
              </a:rPr>
              <a:t>Deployable on industrial IPCs with NVIDIA Jetson Orin or Apple Silicon hardware accelerators.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Industrial Fieldbus Interop: </a:t>
            </a:r>
            <a:r>
              <a:rPr>
                <a:solidFill>
                  <a:srgbClr val="1E293B"/>
                </a:solidFill>
              </a:rPr>
              <a:t>Direct integration with Siemens S7 / Rockwell ControlLogix PLCs via OPC-UA and EtherNet/IP.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Containerized Microservices: </a:t>
            </a:r>
            <a:r>
              <a:rPr>
                <a:solidFill>
                  <a:srgbClr val="1E293B"/>
                </a:solidFill>
              </a:rPr>
              <a:t>Packaged with Docker and docker-compose for zero-downtime rolling firmware deployments.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Local Offline Resiliency: </a:t>
            </a:r>
            <a:r>
              <a:rPr>
                <a:solidFill>
                  <a:srgbClr val="1E293B"/>
                </a:solidFill>
              </a:rPr>
              <a:t>SQLite WAL mode ensures continuous line operation even during complete factory network outages.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Future Enhancement Horizon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Self-Supervised Few-Shot Learning: </a:t>
            </a:r>
            <a:r>
              <a:rPr>
                <a:solidFill>
                  <a:srgbClr val="1E293B"/>
                </a:solidFill>
              </a:rPr>
              <a:t>Enables rapid introduction of new product SKUs with as few as 10 sample images.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3D Point Cloud Integration: </a:t>
            </a:r>
            <a:r>
              <a:rPr>
                <a:solidFill>
                  <a:srgbClr val="1E293B"/>
                </a:solidFill>
              </a:rPr>
              <a:t>Combines 2D optical segmentation with structured light 3D point cloud surface reconstruction.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Closed-Loop Tool Compensation: </a:t>
            </a:r>
            <a:r>
              <a:rPr>
                <a:solidFill>
                  <a:srgbClr val="1E293B"/>
                </a:solidFill>
              </a:rPr>
              <a:t>Directly feeds surface roughness drift into CNC machines to automatically adjust feed rates.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1E293B"/>
                </a:solidFill>
              </a:rPr>
              <a:t>Federated Fleet Learning: </a:t>
            </a:r>
            <a:r>
              <a:rPr>
                <a:solidFill>
                  <a:srgbClr val="1E293B"/>
                </a:solidFill>
              </a:rPr>
              <a:t>Shares anonymized defect representations across distributed manufacturing plants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