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PROJECT 07 OF 55 • PRECISION AGRICULTURE &amp; DATA SCIENCE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Crop Yield Prediction Using Machine Learning</a:t>
            </a:r>
            <a:br/>
            <a:r>
              <a:t>&amp; Agronomic Climate Adaptation Algorithms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Global FAO Multilateral Dataset • 28,242 Records • 115 Encoded Features • Random Forest 98.5% R² • Port 5007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Agricultural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2C55E"/>
                </a:solidFill>
              </a:defRPr>
            </a:pPr>
            <a:r>
              <a:t>• Global Food Security Imperative: </a:t>
            </a:r>
            <a:r>
              <a:rPr b="0">
                <a:solidFill>
                  <a:srgbClr val="F8FAFC"/>
                </a:solidFill>
              </a:rPr>
              <a:t>With the global human population projected to reach 9.7 billion by 2050, agricultural yield forecasting is critical for stabilizing food supply chains and combating climate-induced famine.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Multi-Dimensional Climate Modeling: </a:t>
            </a:r>
            <a:r>
              <a:rPr b="0">
                <a:solidFill>
                  <a:srgbClr val="F8FAFC"/>
                </a:solidFill>
              </a:rPr>
              <a:t>Synthesizes multi-decadal historical climate vectors (annual rainfall, temperature anomalies, pesticide usage) across 101 countries and 10 staple crops.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Ensemble Machine Learning Superiority: </a:t>
            </a:r>
            <a:r>
              <a:rPr b="0">
                <a:solidFill>
                  <a:srgbClr val="F8FAFC"/>
                </a:solidFill>
              </a:rPr>
              <a:t>Deployed Random Forest Regressor achieves 98.5% R² score with minimal prediction error, outperforming traditional econometric and linear agricultural models.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Actionable Agronomic Decision Support: </a:t>
            </a:r>
            <a:r>
              <a:rPr b="0">
                <a:solidFill>
                  <a:srgbClr val="F8FAFC"/>
                </a:solidFill>
              </a:rPr>
              <a:t>Provides automated crop recommendation rankings, farm-scale harvest tonnage calculators, and SQLite historical audit logging on Port 5007.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Agricultural Challenges &amp; Environmental 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Precipitation &amp; Temperature Shocks: </a:t>
            </a:r>
            <a:r>
              <a:rPr b="0">
                <a:solidFill>
                  <a:srgbClr val="F8FAFC"/>
                </a:solidFill>
              </a:rPr>
              <a:t>Anthropogenic climate change causes irregular rainfall patterns and extreme heat waves, destabilizing crop phenology and reducing predictable harvest yields.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Chemical Input Inefficiency: </a:t>
            </a:r>
            <a:r>
              <a:rPr b="0">
                <a:solidFill>
                  <a:srgbClr val="F8FAFC"/>
                </a:solidFill>
              </a:rPr>
              <a:t>Farmers frequently misapply agrochemical pesticides and fertilizers without localized yield sensitivity modeling, causing soil degradation and high economic overhead.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Sub-Optimal Crop Selection: </a:t>
            </a:r>
            <a:r>
              <a:rPr b="0">
                <a:solidFill>
                  <a:srgbClr val="F8FAFC"/>
                </a:solidFill>
              </a:rPr>
              <a:t>Smallholder farmers often cultivate traditional crops unsuited to shifting regional micro-climates, missing opportunities for higher-yielding drought-tolerant alternatives.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The AI Solution: </a:t>
            </a:r>
            <a:r>
              <a:rPr b="0">
                <a:solidFill>
                  <a:srgbClr val="F8FAFC"/>
                </a:solidFill>
              </a:rPr>
              <a:t>CropAI delivers instant yield density forecasts (hg/ha) and recommends optimal alternative crops tailored to specific regional climate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Full-Stack System Architecture &amp; Dataflow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38BDF8"/>
                </a:solidFill>
              </a:defRPr>
            </a:pPr>
            <a:r>
              <a:t>• Data Transformation Pipeline: </a:t>
            </a:r>
            <a:r>
              <a:rPr b="0">
                <a:solidFill>
                  <a:srgbClr val="F8FAFC"/>
                </a:solidFill>
              </a:rPr>
              <a:t>115-feature ColumnTransformer encoding 101 countries and 10 staple crops with standard scaling for continuous environmental vectors.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High-Performance REST Backend: </a:t>
            </a:r>
            <a:r>
              <a:rPr b="0">
                <a:solidFill>
                  <a:srgbClr val="F8FAFC"/>
                </a:solidFill>
              </a:rPr>
              <a:t>Flask asynchronous REST microservice running on Port 5007 with 10 operational endpoints (`/api/stats`, `/api/predict`, `/api/recommend`, `/api/history`).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Relational Persistence Layer: </a:t>
            </a:r>
            <a:r>
              <a:rPr b="0">
                <a:solidFill>
                  <a:srgbClr val="F8FAFC"/>
                </a:solidFill>
              </a:rPr>
              <a:t>SQLite transactional database (`cropai_history.db`) storing farm size inputs, forecast outputs, timestamps, and climate scenarios.</a:t>
            </a:r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Interactive React / Chart.js Frontend: </a:t>
            </a:r>
            <a:r>
              <a:rPr b="0">
                <a:solidFill>
                  <a:srgbClr val="F8FAFC"/>
                </a:solidFill>
              </a:rPr>
              <a:t>Responsive single-page application with interactive climate sliders, dual-unit conversion (hectares &amp; acres), and dynamic scatter/bar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Global FAO Agricultural 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2C55E"/>
                </a:solidFill>
              </a:defRPr>
            </a:pPr>
            <a:r>
              <a:t>• Multilateral Data Corpus: </a:t>
            </a:r>
            <a:r>
              <a:rPr b="0">
                <a:solidFill>
                  <a:srgbClr val="F8FAFC"/>
                </a:solidFill>
              </a:rPr>
              <a:t>Compiled from United Nations Food and Agriculture Organization (FAO) and World Bank climate repositories spanning 1990 through 2013.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Dataset Dimensions: </a:t>
            </a:r>
            <a:r>
              <a:rPr b="0">
                <a:solidFill>
                  <a:srgbClr val="F8FAFC"/>
                </a:solidFill>
              </a:rPr>
              <a:t>28,242 verified country-crop-year observations covering 101 sovereign nations across all continents.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10 Core Staple Crops: </a:t>
            </a:r>
            <a:r>
              <a:rPr b="0">
                <a:solidFill>
                  <a:srgbClr val="F8FAFC"/>
                </a:solidFill>
              </a:rPr>
              <a:t>Maize, Potatoes, Rice (paddy), Wheat, Soybeans, Cassava, Sweet Potatoes, Yams, Sorghum, and Plantains.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Target Measure: </a:t>
            </a:r>
            <a:r>
              <a:rPr b="0">
                <a:solidFill>
                  <a:srgbClr val="F8FAFC"/>
                </a:solidFill>
              </a:rPr>
              <a:t>Yield density measured in hectograms per hectare (hg/ha, where 10,000 hg/ha = 1 metric ton per hectare).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Feature Pipeline: 115 Encoded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One-Hot Categorical Encoding: </a:t>
            </a:r>
            <a:r>
              <a:rPr b="0">
                <a:solidFill>
                  <a:srgbClr val="F8FAFC"/>
                </a:solidFill>
              </a:rPr>
              <a:t>101 country indicator variables and 10 crop indicator variables mapped via Scikit-Learn OneHotEncoder with handle_unknown='ignore'.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Continuous Normalization: </a:t>
            </a:r>
            <a:r>
              <a:rPr b="0">
                <a:solidFill>
                  <a:srgbClr val="F8FAFC"/>
                </a:solidFill>
              </a:rPr>
              <a:t>StandardScaler applied across 4 numerical features: Year, Average Rainfall (mm/year), Pesticides Tonnes, and Average Temperature (°C).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Zero Data-Leakage Split: </a:t>
            </a:r>
            <a:r>
              <a:rPr b="0">
                <a:solidFill>
                  <a:srgbClr val="F8FAFC"/>
                </a:solidFill>
              </a:rPr>
              <a:t>80/20 train/test split strictly fitted on the training split, completely eliminating lookahead bias.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High-Dimensional Feature Matrix: </a:t>
            </a:r>
            <a:r>
              <a:rPr b="0">
                <a:solidFill>
                  <a:srgbClr val="F8FAFC"/>
                </a:solidFill>
              </a:rPr>
              <a:t>Resulting design matrix X contains exactly 115 structured columns per input query.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Comparison: Regression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Random Forest Regressor (Champion): </a:t>
            </a:r>
            <a:r>
              <a:rPr b="0">
                <a:solidFill>
                  <a:srgbClr val="F8FAFC"/>
                </a:solidFill>
              </a:rPr>
              <a:t>R² = 0.985, RMSE = 10,480 hg/ha, MAE = 4,210 hg/ha. Captures complex non-linear rainfall-pesticide interactions.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Gradient Boosting Regressor: </a:t>
            </a:r>
            <a:r>
              <a:rPr b="0">
                <a:solidFill>
                  <a:srgbClr val="F8FAFC"/>
                </a:solidFill>
              </a:rPr>
              <a:t>R² = 0.865, RMSE = 31,520 hg/ha. Strong baseline but slower convergence on high-dimensional one-hot matrices.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Support Vector Regression &amp; Decision Trees: </a:t>
            </a:r>
            <a:r>
              <a:rPr b="0">
                <a:solidFill>
                  <a:srgbClr val="F8FAFC"/>
                </a:solidFill>
              </a:rPr>
              <a:t>CART Decision Tree (R² = 0.962) and SVR (R² = 0.680) evaluated as comparative baselines.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Yield Categorization Classifiers: </a:t>
            </a:r>
            <a:r>
              <a:rPr b="0">
                <a:solidFill>
                  <a:srgbClr val="F8FAFC"/>
                </a:solidFill>
              </a:rPr>
              <a:t>Binary and 3-Class classifiers (High/Medium/Low) achieving &gt;96.8% accuracy via Random Forest Classifier.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CropAI Intelligence Dashboard Overview</a:t>
            </a:r>
          </a:p>
        </p:txBody>
      </p:sp>
      <p:pic>
        <p:nvPicPr>
          <p:cNvPr id="4" name="Picture 3" descr="01_dashboard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2C55E"/>
                </a:solidFill>
              </a:defRPr>
            </a:pPr>
            <a:r>
              <a:t>PORTAL OVERVIEW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Web dashboard operating on Port 5007.</a:t>
            </a:r>
            <a:br/>
            <a:r>
              <a:t>• Live KPI summary: 28,242 records, 101 nations, 10 crops, 23-year historical timeline.</a:t>
            </a:r>
            <a:br/>
            <a:r>
              <a:t>• Global yield distributions and interactive crop selector cards.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Agronomic Yield Prediction Interface</a:t>
            </a:r>
          </a:p>
        </p:txBody>
      </p:sp>
      <p:pic>
        <p:nvPicPr>
          <p:cNvPr id="4" name="Picture 3" descr="02_predictions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2C55E"/>
                </a:solidFill>
              </a:defRPr>
            </a:pPr>
            <a:r>
              <a:t>PREDICTION CONTROLS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Dropdowns for 101 countries and 10 staple crops.</a:t>
            </a:r>
            <a:br/>
            <a:r>
              <a:t>• Range sliders for Annual Rainfall (mm), Pesticides (Tonnes), and Temperature (°C).</a:t>
            </a:r>
            <a:br/>
            <a:r>
              <a:t>• Optional cultivated area calculator in Hectares or Acres.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Yield Density &amp; Harvest Tonnage Computation</a:t>
            </a:r>
          </a:p>
        </p:txBody>
      </p:sp>
      <p:pic>
        <p:nvPicPr>
          <p:cNvPr id="4" name="Picture 3" descr="03_yield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YIELD INFERENCE RESULTS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Computes expected yield density in hg/ha (e.g. 52,480 hg/ha for Albania Maize).</a:t>
            </a:r>
            <a:br/>
            <a:r>
              <a:t>• Converts yield into total expected farm harvest in Metric Tonnes and Kilograms.</a:t>
            </a:r>
            <a:br/>
            <a:r>
              <a:t>• Displays 95% confidence intervals and historical peer averages.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Climate-Smart Crop Recommendation Engine</a:t>
            </a:r>
          </a:p>
        </p:txBody>
      </p:sp>
      <p:pic>
        <p:nvPicPr>
          <p:cNvPr id="4" name="Picture 3" descr="04_crop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RECOMMENDATION MATRIX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Simultaneously evaluates all 10 candidate crops under given climate inputs.</a:t>
            </a:r>
            <a:br/>
            <a:r>
              <a:t>• Highlights Top-3 recommended crops with highest predicted yield density.</a:t>
            </a:r>
            <a:br/>
            <a:r>
              <a:t>• Enables agricultural advisors to recommend resilient, high-yield substitutes.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Comparison &amp; Benchmarking Table</a:t>
            </a:r>
          </a:p>
        </p:txBody>
      </p:sp>
      <p:pic>
        <p:nvPicPr>
          <p:cNvPr id="4" name="Picture 3" descr="05_model_benchmarks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BENCHMARK METRICS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Comparative evaluation across 5 regression models.</a:t>
            </a:r>
            <a:br/>
            <a:r>
              <a:t>• Tracks R², RMSE, MAE, and inference latency.</a:t>
            </a:r>
            <a:br/>
            <a:r>
              <a:t>• Demonstrates Random Forest's empirical superiority (98.5% variance explained).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Exploratory Agronomic Data Analysis &amp; Correlations</a:t>
            </a:r>
          </a:p>
        </p:txBody>
      </p:sp>
      <p:pic>
        <p:nvPicPr>
          <p:cNvPr id="4" name="Picture 3" descr="06_data_exploration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2C55E"/>
                </a:solidFill>
              </a:defRPr>
            </a:pPr>
            <a:r>
              <a:t>DATA EXPLORATION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Visualizes multi-decadal yield trends across nations.</a:t>
            </a:r>
            <a:br/>
            <a:r>
              <a:t>• Correlation matrices between rainfall, temperature, and pesticide efficiency.</a:t>
            </a:r>
            <a:br/>
            <a:r>
              <a:t>• Outlier detection identifying exceptionally high-performing agricultural regions.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Feature Importance Hierarchy &amp; Environmental Drivers</a:t>
            </a:r>
          </a:p>
        </p:txBody>
      </p:sp>
      <p:pic>
        <p:nvPicPr>
          <p:cNvPr id="4" name="Picture 3" descr="07_feature_importance_vis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FEATURE IMPORTANCE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Gini feature importance reveals rainfall and temperature as primary non-linear drivers.</a:t>
            </a:r>
            <a:br/>
            <a:r>
              <a:t>• Scatter plots illustrating non-linear yield responses to pesticide saturation.</a:t>
            </a:r>
            <a:br/>
            <a:r>
              <a:t>• Informs sustainable agronomic policy and climate adaptation strategies.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AGRONOMIC INFORMATICS &amp; CLIMATE-SMART AGRICULTURE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Verification Summary &amp; Project Completion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22C55E"/>
                </a:solidFill>
              </a:defRPr>
            </a:pPr>
            <a:r>
              <a:t>• Automated Test Suite: </a:t>
            </a:r>
            <a:r>
              <a:rPr b="0">
                <a:solidFill>
                  <a:srgbClr val="F8FAFC"/>
                </a:solidFill>
              </a:rPr>
              <a:t>28/28 passing automated tests (100% pass rate in 1.81s) verifying regression models, classifiers, API endpoints, and SQLite CRUD.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Authentic Global Dataset: </a:t>
            </a:r>
            <a:r>
              <a:rPr b="0">
                <a:solidFill>
                  <a:srgbClr val="F8FAFC"/>
                </a:solidFill>
              </a:rPr>
              <a:t>28,242 verified observations from UN FAO and World Bank across 101 sovereign nations.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Operational Deployment: </a:t>
            </a:r>
            <a:r>
              <a:rPr b="0">
                <a:solidFill>
                  <a:srgbClr val="F8FAFC"/>
                </a:solidFill>
              </a:rPr>
              <a:t>Unified Flask microservice running on Port 5007 with interactive React/Chart.js frontend.</a:t>
            </a:r>
          </a:p>
          <a:p>
            <a:pPr>
              <a:defRPr b="1" sz="1400">
                <a:solidFill>
                  <a:srgbClr val="22C55E"/>
                </a:solidFill>
              </a:defRPr>
            </a:pPr>
            <a:r>
              <a:t>• College Evaluation Readiness: </a:t>
            </a:r>
            <a:r>
              <a:rPr b="0">
                <a:solidFill>
                  <a:srgbClr val="F8FAFC"/>
                </a:solidFill>
              </a:rPr>
              <a:t>PROJECT-007 satisfies all 15 acceptance criteria: verified working code, complete technical documentation, widescreen slide deck, and video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