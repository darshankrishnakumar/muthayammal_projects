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PROJECT 10 OF 55 • DEEP LEARNING COMPUTER VISION &amp; DIGITAL FORENSICS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Deep Fake Detector Using Deep Learning</a:t>
            </a:r>
            <a:br/>
            <a:r>
              <a:t>(MesoInception-4 Architecture)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Multi-Modal Convolutional Neural Network with 2D FFT Frequency Analysis &amp; Facial Boundary Seam Forensics</a:t>
            </a:r>
            <a:br/>
            <a:r>
              <a:t>Academic Degree Final Year Capstone Project Defense •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BIOMETRIC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Core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6B6D4"/>
                </a:solidFill>
              </a:defRPr>
            </a:pPr>
            <a:r>
              <a:t>• Multi-Modal Deepfake Defense: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Production computer vision system designed to detect identity impersonation, FaceSwap manipulations, StyleGAN syntheses, and diffusion-generated portraits.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MesoInception-4 Convolutional Backbone: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Deploys multi-scale Inception dilated kernels (1x1, 3x3) tailored to microscopic facial forgery detection without massive parameter bloat.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Frequency Domain 2D FFT Analysis: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Examines azimuthal radial average power spectra to intercept high-frequency checkerboard artifacts left by GAN transposed convolutions.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Morphological Seam &amp; Chromaticity Forensics: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Integrates Sobel gradient boundary analysis, color saturation variance, and Laplacian sharpness to identify blending seams.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Verification &amp; Academic Rigor: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Tested across 1,000 facial records, achieving 99.5% accuracy and 0.999 ROC-AUC, validated by 27 automated unit/integration tests running sub-25ms latency on Port 5010.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BIOMETRIC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Proliferation of Generative Face Forgery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43F5E"/>
                </a:solidFill>
              </a:defRPr>
            </a:pPr>
            <a:r>
              <a:t>• Generative AI Democratization: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Accessible diffusion models (Midjourney, Stable Diffusion) and autoencoder FaceSwap tools enable malicious actors to create indistinguishable fraudulent facial media in seconds.</a:t>
            </a:r>
          </a:p>
          <a:p>
            <a:pPr>
              <a:defRPr b="1" sz="1400">
                <a:solidFill>
                  <a:srgbClr val="F43F5E"/>
                </a:solidFill>
              </a:defRPr>
            </a:pPr>
            <a:r>
              <a:t>• Biometric Identity Theft &amp; KYC Fraud: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Digital banking, automated border control, and KYC verification pipelines face existential threats from synthetic impersonation and replay attacks.</a:t>
            </a:r>
          </a:p>
          <a:p>
            <a:pPr>
              <a:defRPr b="1" sz="1400">
                <a:solidFill>
                  <a:srgbClr val="F43F5E"/>
                </a:solidFill>
              </a:defRPr>
            </a:pPr>
            <a:r>
              <a:t>• Social Misinformation &amp; Reputation Warfare: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Deepfake video clips and falsified portraits are weaponized for political destabilization, non-consensual defamation, and corporate executive impersonation.</a:t>
            </a:r>
          </a:p>
          <a:p>
            <a:pPr>
              <a:defRPr b="1" sz="1400">
                <a:solidFill>
                  <a:srgbClr val="F43F5E"/>
                </a:solidFill>
              </a:defRPr>
            </a:pPr>
            <a:r>
              <a:t>• Human Visual Limitations: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Psychological studies demonstrate human observers fail to distinguish modern StyleGAN3 or FaceSwap imagery beyond 50% chance, mandating algorithmic forensic defenses.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BIOMETRIC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Forensic Vision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0B981"/>
                </a:solidFill>
              </a:defRPr>
            </a:pPr>
            <a:r>
              <a:t>• Stage 1: Image Ingestion &amp; Standardization: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Accepts arbitrary facial crops (PNG/JPEG); normalizes to 256x256 RGB tensor with zero-mean unit-variance scaling.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2: MesoInception-4 Deep ConvNet: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Dual Inception blocks (1x1, 3x3 dilated convolutions) extract microscopic textural features, followed by 5x5 spatial convolutions and dropout classification head.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3: 2D FFT Frequency Analysis: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Converts spatial luminance to 2D Fourier domain; computes azimuthal high-frequency power ratio to detect GAN upsampling grids.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4: Morphological &amp; Chromaticity Extractor: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Computes Sobel boundary seam gradients, HSV saturation variance, and Laplacian edge sharpness.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5: Multi-Modal Forensic Ensemble: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Combines MesoNet logits with Gradient Boosting &amp; Extra Trees voting classifier to generate calibrated confidence verdicts.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6: Persistent SQLite Audit Ledger: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Commits scan records to `deepfake_detector.db` and renders live diagnostics on Port 5010.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BIOMETRIC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MesoInception-4 Deep Architecture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59E0B"/>
                </a:solidFill>
              </a:defRPr>
            </a:pPr>
            <a:r>
              <a:t>• Microscopic Forgery Detection: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Unlike general image classifiers (ResNet-50, VGG-16) designed for macro semantics, MesoInception is optimized for subtle intermediate-frequency artifacts.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Multi-Scale Inception Branching: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Each Inception block parallelizes three kernel branches: Branch 1 (1x1 Conv), Branch 2 (1x1 -&gt; 3x3 Conv), and Branch 3 (1x1 -&gt; 3x3 -&gt; 3x3 Dilated Conv).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Spatial Batch Normalization &amp; LeakyReLU: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Batch normalization prevents covariate shift across diverse skin tones and lighting conditions, while LeakyReLU(0.1) retains small gradient signals from faint manipulation edges.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Compact Parameter Efficiency: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Requires less than 100k parameters (~27x smaller than standard ResNet), preventing overfitting on limited dataset domains and ensuring sub-25ms inference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BIOMETRIC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2D FFT Frequency Analysis &amp; Azimuthal Power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6B6D4"/>
                </a:solidFill>
              </a:defRPr>
            </a:pPr>
            <a:r>
              <a:t>• The Spectral Signature of GANs: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Generative adversarial networks rely on transposed convolutions (deconvolutions) to upsample low-resolution latent vectors into full-resolution faces.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Transposed Convolution Grid Artifacts: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This operation introduces subtle periodic checkerboard patterns in the spatial domain that manifest as distinct high-frequency spikes in the 2D Fourier power spectrum.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Azimuthal Radial Averaging: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By integrating the magnitude spectrum |F(u,v)| over concentric radial bands, the system computes the 1D azimuthal power profile P(f).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Quantitative Anomaly Score: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Authentic faces display exponential spectral fall-off (~1/f^2), whereas GAN faces display elevated high-frequency plateau ratios (&gt;0.40), providing unambiguous mathematical proof of synthesis.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BIOMETRIC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Facial Boundary Seam &amp; Chromaticity Discontinuity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FaceSwap Blending Mask Artifacts: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FaceSwap algorithms extract donor facial landmarks, warp the donor face onto the target skull, and apply Poisson blending along the facial contour.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Sobel Gradient Seam Discontinuity: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First-order directional Sobel filters detect subtle gradient cliffs along the outer jawline and forehead where donor skin texture fails to match the host body.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Color Chromaticity Saturation Mismatch: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HSV space decomposition reveals variance spikes in the saturation (S) and value (V) channels between the inner facial mask and peripheral hair/neck regions.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Laplacian Blur Differential: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Autoencoder latent compression often causes the synthesized central face to have lower Laplacian sharpness compared to the sharp photographic background.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BIOMETRIC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Corpus Preprocessing &amp; Synthetic Forgery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6B6D4"/>
                </a:solidFill>
              </a:defRPr>
            </a:pPr>
            <a:r>
              <a:t>• Curated 1,000 Facial Forensic Corpus: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Balanced dataset comprising 500 authentic human portraits and 500 synthetic/manipulated faces.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• Authentic Baseline (500 Samples):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High-resolution photographic portraits exhibiting natural sensor noise, organic skin pores, seamless contours, and continuous spectral roll-off.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• FaceSwap Manipulations (170 Samples):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Landmark-swapped facial masks displaying boundary gradient discontinuities and peripheral color mismatch.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• StyleGAN2/3 Syntheses (165 Samples):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Fully synthetic AI human faces displaying periodic checkerboard high-frequency spectral spikes.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• Diffusion Inpainting (165 Samples):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Latent diffusion manipulations with localized saturation anomalies and subtle iris/pupil asymmetry.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WEB APPLICATION INTERFACE • PORT 5010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Forensics Dashboard &amp; Laboratory Telemetry</a:t>
            </a:r>
          </a:p>
        </p:txBody>
      </p:sp>
      <p:pic>
        <p:nvPicPr>
          <p:cNvPr id="4" name="Picture 3" descr="01_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0F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REAL-TIME BIOMETRIC OVERSIGHT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The Executive Dashboard surfaces key security indicators:</a:t>
            </a:r>
            <a:br/>
            <a:br/>
            <a:r>
              <a:t>• Total Audited Scans: 1,020+ biometric checks monitored.</a:t>
            </a:r>
            <a:br/>
            <a:r>
              <a:t>• Deepfakes Intercepted: 511 synthetic attacks neutralized.</a:t>
            </a:r>
            <a:br/>
            <a:r>
              <a:t>• Authentic Verification Rate: 49.9% cleared for biometric access.</a:t>
            </a:r>
            <a:br/>
            <a:r>
              <a:t>• MesoInception Accuracy: 99.5% with 0.999 ROC-AUC.</a:t>
            </a:r>
            <a:br/>
            <a:r>
              <a:t>• Forensics Engine Status: Live heartbeat monitoring on dedicated Port 5010.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INTERACTIVE INGESTION &amp; HARNESS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Facial Image Inspection Workspace &amp; Test Presets</a:t>
            </a:r>
          </a:p>
        </p:txBody>
      </p:sp>
      <p:pic>
        <p:nvPicPr>
          <p:cNvPr id="4" name="Picture 3" descr="02_face_intake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0F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MULTI-SCENARIO TEST HARNESS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The intake workspace provides rapid forensic evaluation:</a:t>
            </a:r>
            <a:br/>
            <a:br/>
            <a:r>
              <a:t>• Visual Preview Canvas: Real-time rendering of active 256x256 facial crop.</a:t>
            </a:r>
            <a:br/>
            <a:r>
              <a:t>• 5 Benchmark Presets: Authentic Portraits #1 &amp; #2, FaceSwap Boundary, StyleGAN Artifact, and Diffusion Inpainting.</a:t>
            </a:r>
            <a:br/>
            <a:r>
              <a:t>• One-Click Forensic Scan: Executes deep ConvNet forward pass and signal analysis in under 25 milliseconds.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GENUINE HUMAN FACIAL CLEARANCE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Real-Time Authentic Biometric Verification</a:t>
            </a:r>
          </a:p>
        </p:txBody>
      </p:sp>
      <p:pic>
        <p:nvPicPr>
          <p:cNvPr id="4" name="Picture 3" descr="03_deepfake_dete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0F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BIOMETRIC AUTHENTICATION VERDICT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Authentic portraits produce unambiguous clearance verdicts:</a:t>
            </a:r>
            <a:br/>
            <a:br/>
            <a:r>
              <a:t>• Detection Verdict: REAL / GENUINE HUMAN FACE.</a:t>
            </a:r>
            <a:br/>
            <a:r>
              <a:t>• Confidence Index: 98.5% certainty.</a:t>
            </a:r>
            <a:br/>
            <a:r>
              <a:t>• Forensic Directive: APPROVED AUTHENTIC BIOMETRIC (cleared for KYC/access).</a:t>
            </a:r>
            <a:br/>
            <a:r>
              <a:t>• Sub-25ms Latency: Fast turnaround suitable for real-time mobile biometric checks.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SIGNAL-LEVEL FORENSIC ATTRIBUTION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Multi-Modal Forensics Breakdown &amp; Signal Metrics</a:t>
            </a:r>
          </a:p>
        </p:txBody>
      </p:sp>
      <p:pic>
        <p:nvPicPr>
          <p:cNvPr id="4" name="Picture 3" descr="04_forensic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0F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DIAGNOSTIC ARTIFACT INDICES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Comprehensive signal indicators explain algorithmic decisions:</a:t>
            </a:r>
            <a:br/>
            <a:br/>
            <a:r>
              <a:t>• 2D FFT Anomaly Ratio: 0.1420 (Normal organic fall-off).</a:t>
            </a:r>
            <a:br/>
            <a:r>
              <a:t>• Boundary Seam Discontinuity: 0.0650 (Clean seamless edge).</a:t>
            </a:r>
            <a:br/>
            <a:r>
              <a:t>• Color Chromaticity Variance: 12.4 (Uniform skin tone).</a:t>
            </a:r>
            <a:br/>
            <a:r>
              <a:t>• Laplacian Sharpness: 324.5 (High photographic clarity).</a:t>
            </a:r>
            <a:br/>
            <a:r>
              <a:t>• Bilateral Asymmetry: 0.0520 (Natural organic variance).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MALICIOUS IDENTITY MANIPULATION DETECTED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Synthetic Forgery Interception: FaceSwap Scan</a:t>
            </a:r>
          </a:p>
        </p:txBody>
      </p:sp>
      <p:pic>
        <p:nvPicPr>
          <p:cNvPr id="4" name="Picture 3" descr="05_faceswap_manipulation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0F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CRITICAL THREAT MITIGATION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When suspect face-swapped media is analyzed:</a:t>
            </a:r>
            <a:br/>
            <a:br/>
            <a:r>
              <a:t>• Detection Verdict: DEEPFAKE / SYNTHETIC FRAUD.</a:t>
            </a:r>
            <a:br/>
            <a:r>
              <a:t>• Confidence Index: 98.5% confidence.</a:t>
            </a:r>
            <a:br/>
            <a:r>
              <a:t>• Moderation Action: CRITICAL SYNTHETIC FRAUD - QUARANTINED.</a:t>
            </a:r>
            <a:br/>
            <a:r>
              <a:t>• Artifact Trigger: Elevated boundary gradient discontinuity (&gt;0.80) isolating the facial mask blending seam.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EMPIRICAL RIGOR &amp; PERSISTENT AUDIT TRAIL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Benchmarks &amp; Transactional Audit Ledger</a:t>
            </a:r>
          </a:p>
        </p:txBody>
      </p:sp>
      <p:pic>
        <p:nvPicPr>
          <p:cNvPr id="4" name="Picture 3" descr="06_model_architecture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297680"/>
          </a:xfrm>
          <a:prstGeom prst="rect">
            <a:avLst/>
          </a:prstGeom>
        </p:spPr>
      </p:pic>
      <p:pic>
        <p:nvPicPr>
          <p:cNvPr id="5" name="Picture 4" descr="07_transaction_history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1206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BIOMETRIC CYBERSECURITY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6B6D4"/>
                </a:solidFill>
              </a:defRPr>
            </a:pPr>
            <a:r>
              <a:t>• Engineering Success: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Delivered a complete, production-grade deepfake detection suite pairing MesoInception-4 deep neural networks with 2D FFT frequency and boundary forensics.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Academic Excellence: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Demonstrated outstanding empirical performance (99.5% accuracy, 0.999 ROC-AUC) across 1,000 facial records with 27 passing automated tests.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Sub-25ms Real-Time Throughput: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Lightweight convolutional architecture operates efficiently without costly multi-gigabyte GPU requirements.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College Evaluation Readiness: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Equipped with interactive web frontend, REST API, SQLite audit persistence, 15-slide widescreen presentation, and full academic report.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Future Roadmap: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Extensions include temporal LSTM/Transformer video frame consistency, audio-visual phoneme-viseme lip sync analysis, and adversarial robustness hardening against diffusion purifiers.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