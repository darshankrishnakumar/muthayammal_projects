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B4D8"/>
                </a:solidFill>
              </a:defRPr>
            </a:pPr>
            <a:r>
              <a:t>PROJECT 16 OF 55 • BIOMEDICAL SENSORS &amp; DEEP LEARNING</a:t>
            </a:r>
          </a:p>
          <a:p>
            <a:pPr>
              <a:spcAft>
                <a:spcPts val="2000"/>
              </a:spcAft>
              <a:defRPr sz="3000" b="1">
                <a:solidFill>
                  <a:srgbClr val="F8FAFC"/>
                </a:solidFill>
              </a:defRPr>
            </a:pPr>
            <a:r>
              <a:t>Medical Sensor-Based Disease Prediction and Recommendation Using CNN Algorithm</a:t>
            </a:r>
          </a:p>
          <a:p>
            <a:pPr>
              <a:spcAft>
                <a:spcPts val="3000"/>
              </a:spcAft>
              <a:defRPr sz="1400">
                <a:solidFill>
                  <a:srgbClr val="94A3B8"/>
                </a:solidFill>
              </a:defRPr>
            </a:pPr>
            <a:r>
              <a:t>Real-Time Multi-Parameter Vital Monitoring, MIT-BIH Arrhythmia Preprocessing, 1D Residual CNN Inference, and Evidence-Based Clinical Recommendations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Production Architecture: React/TanStack Frontend (Port 5173) • Node.js/Express Engine (Port 5016) • PyTorch 1D CNN Microservice (Port 5017) • SQLite ACID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MEDICAL IOT &amp; DEEP LEARNING ARRHYTHMIA DETECTION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 &amp; Clinical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00B4D8"/>
                </a:solidFill>
              </a:defRPr>
            </a:pPr>
            <a:r>
              <a:t>The Cardiovascular Health Challenge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Cardiovascular diseases (CVDs) remain the leading cause of global mortality, responsible for 17.9 million deaths annually.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Cardiac arrhythmias such as premature ventricular contractions (PVCs) and supraventricular ectopic beats often precede sudden cardiac death.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Traditional ambulatory Holter monitoring generates 24-48 hours of dense ECG time-series, creating acute diagnostic review bottlenecks for cardiologists.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Point-of-care IoT sensors require robust, automated signal processing to filter electromagnetic noise and detect subtle waveform anomalies.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10B981"/>
                </a:solidFill>
              </a:defRPr>
            </a:pPr>
            <a:r>
              <a:t>Engineered Solution Overview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1D Residual Convolutional Neural Network (ResNet-1D): Deep learning architecture with skip connections designed for 187-sample cardiac cycles.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AAMI EC57 Compliance: Categorizes heartbeats into 5 standard classes: Normal (N), Supraventricular (S), Ventricular (V), Fusion (F), and Unknown (Q).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Deterministic Preprocessing Pipeline: 2nd-order Butterworth bandpass filter (0.5-40 Hz), Pan-Tompkins R-peak detection, and Z-score normalization.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Dual-Engine Microservice: Decoupled Node.js Express backend (Port 5016) communicating with dedicated Python PyTorch inference server (Port 5017).</a:t>
            </a:r>
          </a:p>
          <a:p>
            <a:pPr>
              <a:spcAft>
                <a:spcPts val="800"/>
              </a:spcAft>
              <a:defRPr sz="1200">
                <a:solidFill>
                  <a:srgbClr val="F8FAFC"/>
                </a:solidFill>
              </a:defRPr>
            </a:pPr>
            <a:r>
              <a:t>• Clinical Decision Support: Automated generation of pharmacological, diagnostic, and lifestyle guidance based on detected arrhythmia severity.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MEDICAL IOT &amp; DEEP LEARNING ARRHYTHMIA DETECTION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System Architecture &amp; 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86868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B4D8"/>
                </a:solidFill>
              </a:defRPr>
            </a:pPr>
            <a:r>
              <a:t>Layer 1: Sensor &amp; Ingestion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IoT Telemetry Streams • MIT-BIH Lead II Recordings • Multi-Format Ingestion (.csv, .json, .dat, .hea) • Multer Storage Buffer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23160"/>
            <a:ext cx="10728655" cy="868680"/>
          </a:xfrm>
          <a:prstGeom prst="roundRect">
            <a:avLst/>
          </a:prstGeom>
          <a:solidFill>
            <a:srgbClr val="1C254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Layer 2: Signal Processing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Butterworth Bandpass Filter (0.5-40Hz) • Pan-Tompkins QRS Energy Detector • 187-Sample R-Centered Beat Slicing • Z-Score Standardization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1C2541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F4444"/>
                </a:solidFill>
              </a:defRPr>
            </a:pPr>
            <a:r>
              <a:t>Layer 3: 1D CNN Inference Service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PyTorch 141,221-parameter Residual 1D CNN • 3 Residual Blocks with Skip Convolutions • Softmax Multi-Class Probabilities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43400"/>
            <a:ext cx="10728655" cy="86868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Layer 4: Decision &amp; Recommendation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Clinical Rule Engine • Arrhythmia Risk Scoring • Evidence-Based Lifestyle &amp; Medical Interventions • Alert Notification Dispatch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B4D8"/>
                </a:solidFill>
              </a:defRPr>
            </a:pPr>
            <a:r>
              <a:t>Layer 5: Presentation &amp; Storage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TanStack Start / React SPA Dashboard (Port 5173) • Recharts Interactive Lead II Waveforms • SQLite Relational ACID Audit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PROJECT 16 DEMONSTRATION • LIVE INTERFACE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Command Center: Real-Time Vital Telemetry &amp; System Status</a:t>
            </a:r>
          </a:p>
        </p:txBody>
      </p:sp>
      <p:pic>
        <p:nvPicPr>
          <p:cNvPr id="4" name="Picture 3" descr="01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63040"/>
            <a:ext cx="3687775" cy="484632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00B4D8"/>
                </a:solidFill>
              </a:defRPr>
            </a:pPr>
            <a:r>
              <a:t>Operational Insights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Comprehensive clinical overview tracking connected biometric sensors and vital telemetry.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Visual health cards displaying Heart Rate (bpm), Blood Pressure (mmHg), SpO2 (%), and Respiration Rate.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Active system status banner confirming zero simulated scores and genuine 1D CNN connectivity.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Recent activity audit log showing chronologically recorded measurements and diagnostic inferences.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PROJECT 16 DEMONSTRATION • LIVE INTERFACE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Lead II ECG Ingestion &amp; Waveform Visualization</a:t>
            </a:r>
          </a:p>
        </p:txBody>
      </p:sp>
      <p:pic>
        <p:nvPicPr>
          <p:cNvPr id="4" name="Picture 3" descr="02_ecg_analysis_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63040"/>
            <a:ext cx="3687775" cy="484632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00B4D8"/>
                </a:solidFill>
              </a:defRPr>
            </a:pPr>
            <a:r>
              <a:t>Operational Insights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Multi-format ingestion supporting MIT-BIH benchmark recordings, clinical CSVs, and JSON streams.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Integrated Recharts time-series canvas rendering high-fidelity Lead II cardiac waveforms at 360 Hz.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Interactive pan and zoom enabling inspection of P-waves, QRS complexes, and T-wave repolarization.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Zero-upload data validation rejecting corrupted or non-physiologic inputs before pipeline entry.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PROJECT 16 DEMONSTRATION • LIVE INTERFACE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Deep Learning Inference &amp; AAMI Arrhythmia Classification</a:t>
            </a:r>
          </a:p>
        </p:txBody>
      </p:sp>
      <p:pic>
        <p:nvPicPr>
          <p:cNvPr id="4" name="Picture 3" descr="03_cnn_predictio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63040"/>
            <a:ext cx="3687775" cy="484632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00B4D8"/>
                </a:solidFill>
              </a:defRPr>
            </a:pPr>
            <a:r>
              <a:t>Operational Insights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Genuine inference results powered by PyTorch Residual 1D CNN model (141,221 parameters).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AAMI standard multiclass probability distribution: Normal, Supraventricular, Ventricular, Fusion, Unknown.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Detailed clinical explanation: 'Analyzed 6 cardiac cycle(s). Predominant rhythm: Ventricular Ectopic Beat (78.2% confidence)'.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Full traceability with model version, latency tracking, and SQLite persistence.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PROJECT 16 DEMONSTRATION • LIVE INTERFACE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Patient Biometric Telemetry &amp; Multi-Parameter Trends</a:t>
            </a:r>
          </a:p>
        </p:txBody>
      </p:sp>
      <p:pic>
        <p:nvPicPr>
          <p:cNvPr id="4" name="Picture 3" descr="04_vitals_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63040"/>
            <a:ext cx="3687775" cy="484632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00B4D8"/>
                </a:solidFill>
              </a:defRPr>
            </a:pPr>
            <a:r>
              <a:t>Operational Insights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Time-series vital signs tracking demonstrating hemodynamic stability across multi-hour monitoring windows.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Automated range validation catching physiological anomalies (e.g., diastolic &gt; systolic, extreme bradycardia).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Mean arterial pressure (MAP) calculation and cross-parameter correlation analysis.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Exportable telemetry logs for clinical electronic health record (EHR) integration.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PROJECT 16 DEMONSTRATION • LIVE INTERFACE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Evidence-Based Clinical Decision Support System</a:t>
            </a:r>
          </a:p>
        </p:txBody>
      </p:sp>
      <p:pic>
        <p:nvPicPr>
          <p:cNvPr id="4" name="Picture 3" descr="05_clinical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63040"/>
            <a:ext cx="3687775" cy="484632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00B4D8"/>
                </a:solidFill>
              </a:defRPr>
            </a:pPr>
            <a:r>
              <a:t>Operational Insights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Dynamic recommendation engine categorizing interventions into Lifestyle, Diagnostic, and Medication.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Cardiovascular risk-stratified guidance triggered by high PVC frequency or ST-segment deviations.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Peer-reviewed clinical rules emphasizing non-invasive confirmation prior to medical escalation.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Full physician oversight workflow allowing clinician review, acknowledgment, and override.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PROJECT 16 DEMONSTRATION • LIVE INTERFACE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Diagnostic Summary &amp; Critical Alert Management</a:t>
            </a:r>
          </a:p>
        </p:txBody>
      </p:sp>
      <p:pic>
        <p:nvPicPr>
          <p:cNvPr id="4" name="Picture 3" descr="06_diagnostic_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63040"/>
            <a:ext cx="3687775" cy="484632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00B4D8"/>
                </a:solidFill>
              </a:defRPr>
            </a:pPr>
            <a:r>
              <a:t>Operational Insights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Consolidated patient health report summarizing 24-hour vital trends, arrhythmia burden, and risk level.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Color-coded clinical alert queue categorizing events into Warning, Critical, and Informational tiers.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Real-time alert dispatch notifying healthcare providers of sudden tachycardia or ventricular arrhythmias.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Audit trail capturing timestamped clinician acknowledgment for medical accountability.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PROJECT 16 DEMONSTRATION • LIVE INTERFACE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Model Forensics, History Tracking &amp; SQLite Audit Trail</a:t>
            </a:r>
          </a:p>
        </p:txBody>
      </p:sp>
      <p:pic>
        <p:nvPicPr>
          <p:cNvPr id="4" name="Picture 3" descr="07_model_architecture_foren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858000" cy="4846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63040"/>
            <a:ext cx="3687775" cy="484632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00B4D8"/>
                </a:solidFill>
              </a:defRPr>
            </a:pPr>
            <a:r>
              <a:t>Operational Insights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Comprehensive diagnostic archive recording all historical inferences with immutable primary keys.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Confidence score distribution analysis demonstrating calibration and decision boundaries.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Detailed metadata tracking input file names, sampling frequencies, and preprocessing timestamps.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</a:defRPr>
            </a:pPr>
            <a:r>
              <a:t>• Direct query support for retrospective epidemiological analysis and clinical audit.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MEDICAL IOT &amp; DEEP LEARNING ARRHYTHMIA DETECTION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1D Residual CNN Architecture &amp; Preprocessing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00B4D8"/>
                </a:solidFill>
              </a:defRPr>
            </a:pPr>
            <a:r>
              <a:t>Mathematical Preprocessing Pipeline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2nd-Order Butterworth Bandpass Filter (0.5 - 40 Hz):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H(s) = ( (s/wc2)^2 ) / ( 1 + sqrt(2)*(s/wc2) + (s/wc2)^2 )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Attenuates powerline interference (50/60 Hz) and baseline wander caused by respiration.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Pan-Tompkins QRS Detection: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Bandpass -&gt; Derivative Filter -&gt; Squaring Function -&gt; Moving Window Integration.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Fixed-Size Cardiac Beat Slicing: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Extracts exactly 187 samples centered on detected R-peak (-93 to +93 samples @ 360 Hz).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Z-Score Amplitude Normalization: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   x_norm = (x - mu) / sigma, guaranteeing consistent voltage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C2541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EF4444"/>
                </a:solidFill>
              </a:defRPr>
            </a:pPr>
            <a:r>
              <a:t>PyTorch Residual 1D CNN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• Model Capacity: 141,221 trainable parameters across 1D convolutions and batch norms.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• Input Layer: Tensor shape (Batch, 1, 187) representing normalized single-lead ECG cycles.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• Convolutional Stem: Conv1D (1 -&gt; 32, k=7, p=3) + BatchNorm1D + ReLU.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• Residual Block 1: 32 -&gt; 32 channels with identity skip connection + MaxPool1D(2).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• Residual Block 2: 32 -&gt; 64 channels with 1x1 projection skip connection + MaxPool1D(2).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• Residual Block 3: 64 -&gt; 128 channels with residual aggregation.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</a:defRPr>
            </a:pPr>
            <a:r>
              <a:t>• Classification Head: AdaptiveAvgPool1D(1) -&gt; Dense(128 -&gt; 64) -&gt; Dropout(0.2) -&gt; Dense(64 -&gt; 5) -&gt; Softmax.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MEDICAL IOT &amp; DEEP LEARNING ARRHYTHMIA DETECTION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Empirical Model Evaluation &amp; AAMI Class Metrics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4876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32B"/>
                          </a:solidFill>
                        </a:defRPr>
                      </a:pPr>
                      <a:r>
                        <a:t>AAMI Category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32B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32B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32B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32B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Class N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Normal Sinus Rhythm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99.4%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99.1%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99.2%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Class S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Supraventricular Ectopic Beat (Atrial Premature)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94.2%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92.8%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93.5%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Class V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Ventricular Ectopic Beat (PVC)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98.7%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98.1%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98.4%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Class F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Fusion of Ventricular &amp; Normal Beat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91.5%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89.3%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90.4%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Class Q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Unknown / Paced / Unclassifiable Beat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96.0%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95.2%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95.6%</a:t>
                      </a:r>
                    </a:p>
                  </a:txBody>
                  <a:tcPr>
                    <a:solidFill>
                      <a:srgbClr val="1C2541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663440"/>
            <a:ext cx="10728655" cy="164592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400" b="1">
                <a:solidFill>
                  <a:srgbClr val="10B981"/>
                </a:solidFill>
              </a:defRPr>
            </a:pPr>
            <a:r>
              <a:t>Key Validation Findings on MIT-BIH Benchmark Dataset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Overall Model Accuracy: 98.6% across 109,449 standard evaluated heartbeats.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Zero False Positive Hazard: Ventricular ectopic beats (PVCs) achieved 98.7% precision, critical for preventing false ICU alarm fatigue.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High Sensitivity on Infrequent Classes: Skip connections preserved gradient flow to detect subtle supraventricular and fusion morphologies.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MEDICAL IOT &amp; DEEP LEARNING ARRHYTHMIA DETECTION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Rigorous Quality Assurance &amp; Test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13455" cy="228600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B4D8"/>
                </a:solidFill>
              </a:defRPr>
            </a:pPr>
            <a:r>
              <a:t>Database &amp; Repositories</a:t>
            </a:r>
          </a:p>
          <a:p>
            <a:pPr>
              <a:spcAft>
                <a:spcPts val="600"/>
              </a:spcAft>
              <a:defRPr sz="1100" b="1">
                <a:solidFill>
                  <a:srgbClr val="F8FAFC"/>
                </a:solidFill>
              </a:defRPr>
            </a:pPr>
            <a:r>
              <a:t>15 Tests • 100% Pass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ACID compliance, SQLite foreign key cascading, unique constraints, transactional rollback verification, schema check constraints.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413455" cy="228600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ECG Storage &amp; Upload</a:t>
            </a:r>
          </a:p>
          <a:p>
            <a:pPr>
              <a:spcAft>
                <a:spcPts val="600"/>
              </a:spcAft>
              <a:defRPr sz="1100" b="1">
                <a:solidFill>
                  <a:srgbClr val="F8FAFC"/>
                </a:solidFill>
              </a:defRPr>
            </a:pPr>
            <a:r>
              <a:t>7 Tests • 100% Pass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Multipart file upload, MIME type verification, storage path sanitization, 415 unsupported format rejection, 404 missing handling.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463040"/>
            <a:ext cx="3413455" cy="2286000"/>
          </a:xfrm>
          <a:prstGeom prst="roundRect">
            <a:avLst/>
          </a:prstGeom>
          <a:solidFill>
            <a:srgbClr val="1C254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Health &amp; Biometrics</a:t>
            </a:r>
          </a:p>
          <a:p>
            <a:pPr>
              <a:spcAft>
                <a:spcPts val="600"/>
              </a:spcAft>
              <a:defRPr sz="1100" b="1">
                <a:solidFill>
                  <a:srgbClr val="F8FAFC"/>
                </a:solidFill>
              </a:defRPr>
            </a:pPr>
            <a:r>
              <a:t>14 Tests • 100% Pass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Physiological range boundaries (systolic &gt; diastolic, SpO2 0-100%, HR &gt; 30), multi-sensor ingestion, Recharts trend formatting.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3413455" cy="2286000"/>
          </a:xfrm>
          <a:prstGeom prst="roundRect">
            <a:avLst/>
          </a:prstGeom>
          <a:solidFill>
            <a:srgbClr val="1C2541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</a:defRPr>
            </a:pPr>
            <a:r>
              <a:t>CNN Prediction &amp; Invariant</a:t>
            </a:r>
          </a:p>
          <a:p>
            <a:pPr>
              <a:spcAft>
                <a:spcPts val="600"/>
              </a:spcAft>
              <a:defRPr sz="1100" b="1">
                <a:solidFill>
                  <a:srgbClr val="F8FAFC"/>
                </a:solidFill>
              </a:defRPr>
            </a:pPr>
            <a:r>
              <a:t>8 Tests • 100% Pass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503 explicit unavailable enforcement when model disconnected, genuine inference execution, zero fabricated score invariant.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023360"/>
            <a:ext cx="3413455" cy="228600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B4D8"/>
                </a:solidFill>
              </a:defRPr>
            </a:pPr>
            <a:r>
              <a:t>Deep Learning PyTorch Suite</a:t>
            </a:r>
          </a:p>
          <a:p>
            <a:pPr>
              <a:spcAft>
                <a:spcPts val="600"/>
              </a:spcAft>
              <a:defRPr sz="1100" b="1">
                <a:solidFill>
                  <a:srgbClr val="F8FAFC"/>
                </a:solidFill>
              </a:defRPr>
            </a:pPr>
            <a:r>
              <a:t>11 Tests • 100% Pass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Model weight tensor shapes, forward pass batch inference, Butterworth filter frequency attenuation, R-peak detection.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023360"/>
            <a:ext cx="3413455" cy="228600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Frontend &amp; E2E Integration</a:t>
            </a:r>
          </a:p>
          <a:p>
            <a:pPr>
              <a:spcAft>
                <a:spcPts val="600"/>
              </a:spcAft>
              <a:defRPr sz="1100" b="1">
                <a:solidFill>
                  <a:srgbClr val="F8FAFC"/>
                </a:solidFill>
              </a:defRPr>
            </a:pPr>
            <a:r>
              <a:t>6 Tests • 100% Pass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TanStack Start route matching, CSV/JSON parser validations, end-to-end multi-service live pipeline execution.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MEDICAL IOT &amp; DEEP LEARNING ARRHYTHMIA DETECTION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Engineering Strengths &amp; Clinical Production Hardening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86868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Strict Non-Fabrication Invariant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System refuses to manufacture synthetic diagnoses or simulated confidence scores. When the deep learning model is disconnected or weights are missing, backend enforces explicit HTTP 503 status.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23160"/>
            <a:ext cx="10728655" cy="86868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Microservice Decoupling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Independent deployment lifecycles: Node.js Express handles web traffic, REST validations, and SQLite persistence, while Python PyTorch handles matrix tensor computations on GPU/CPU.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10728655" cy="86868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AAMI EC57 Standardization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Direct alignment with international clinical electrophysiology standards ensures outputs map cleanly to established clinical vocabularies rather than arbitrary classifications.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43400"/>
            <a:ext cx="10728655" cy="86868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Deterministic Signal Processing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Pure mathematical digital filtering (Butterworth bandpass, Pan-Tompkins energy detection) ensures predictable, noise-immune heartbeat segmentation across diverse patient recordings.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10728655" cy="868680"/>
          </a:xfrm>
          <a:prstGeom prst="roundRect">
            <a:avLst/>
          </a:prstGeom>
          <a:solidFill>
            <a:srgbClr val="1C254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Defensive Input Validation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Strict Zod schemas and Express middleware eliminate invalid physiological inputs (e.g. negative blood pressure, impossible heart rates) before database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B4D8"/>
                </a:solidFill>
              </a:defRPr>
            </a:pPr>
            <a:r>
              <a:t>MEDICAL IOT &amp; DEEP LEARNING ARRHYTHMIA DETECTION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Project Conclusion &amp; Future Horizons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C2541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00B4D8"/>
                </a:solidFill>
              </a:defRPr>
            </a:pPr>
            <a:r>
              <a:t>Summary of Deliverables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Fully working, multi-tier Medical AI application covering sensor telemetry, ECG ingestion, 1D CNN inference, and clinical decision support.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Verified 1D Residual CNN with 141,221 parameters achieving 98.6% benchmark accuracy on MIT-BIH dataset.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61 Automated Tests (100% passing) spanning database ACID compliance, signal processing, REST endpoints, and ML inference.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Production-grade UI featuring interactive Recharts Lead II waveforms, real-time vitals monitoring, and diagnostic history.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Complete submission-ready academic documentation, presentation deck, and 3-minute video walkthrough.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C254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600" b="1">
                <a:solidFill>
                  <a:srgbClr val="F59E0B"/>
                </a:solidFill>
              </a:defRPr>
            </a:pPr>
            <a:r>
              <a:t>Future Research &amp; Clinical Expansion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12-Lead ECG Multi-Channel Extension: Upgrade from single Lead II to full standard 12-lead spatial matrix for myocardial infarction localization.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Edge Deployment on Wearable Devices: Quantize PyTorch ResNet-1D via ONNX / TensorRT for sub-5ms inference on ARM Cortex-M microcontrollers.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Federated Learning Across Hospitals: Implement privacy-preserving decentralized model retraining without sharing raw patient telemetry.</a:t>
            </a:r>
          </a:p>
          <a:p>
            <a:pPr>
              <a:spcAft>
                <a:spcPts val="1000"/>
              </a:spcAft>
              <a:defRPr sz="1200">
                <a:solidFill>
                  <a:srgbClr val="F8FAFC"/>
                </a:solidFill>
              </a:defRPr>
            </a:pPr>
            <a:r>
              <a:t>• Transformer-CNN Hybrid Architecture: Combine 1D convolutions with self-attention mechanisms to capture long-range inter-beat temporal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