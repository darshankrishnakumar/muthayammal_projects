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EA580C"/>
                </a:solidFill>
              </a:rPr>
              <a:t>AUTONOMOUS TRANSPORT &amp; RAIL INFRASTRUCTURE INTEGRITY</a:t>
            </a:r>
          </a:p>
          <a:p>
            <a:pPr>
              <a:spcAft>
                <a:spcPts val="1400"/>
              </a:spcAft>
            </a:pPr>
            <a:r>
              <a:rPr b="1" sz="2800">
                <a:solidFill>
                  <a:srgbClr val="0F172A"/>
                </a:solidFill>
              </a:rPr>
              <a:t>PROJECT 53: RAILWAY TRACK DEFECT DETECTION &amp; STRUCTURAL INTEGRITY</a:t>
            </a:r>
          </a:p>
          <a:p>
            <a:r>
              <a:rPr sz="1300">
                <a:solidFill>
                  <a:srgbClr val="64748B"/>
                </a:solidFill>
              </a:rPr>
              <a:t>High-Precision ResUNet Pixel-Level Defect Segmentation, Multi-Task Geometry Degradation Regression, SQLite WAL Persistence, and SHA-256 Cryptographic Audit Ledger on Port 5053.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STRATEGIC OVERVIEW • PROJECT-053</a:t>
            </a:r>
          </a:p>
          <a:p>
            <a:r>
              <a:rPr b="1" sz="2000">
                <a:solidFill>
                  <a:srgbClr val="0F172A"/>
                </a:solidFill>
              </a:rPr>
              <a:t>Executive Summary: Critical Rail Infrastructure Protection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The Infrastructure Challenge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Modern freight and high-speed rail lines bear intense axle loads (&gt;22 tons) and extreme thermal cycling.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Micro-fissures, transverse cracks, and missing fasteners rapidly propagate into catastrophic derailments.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Manual track foot-patrols are slow, labor-intensive, hazardous, and lack objective quantification.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Imperative: Real-time autonomous optical inspection coupled with continuous physical geometry telemetry.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Dual Deep Learning Solution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ResUNet Defect Segmenter: 374,342 parameters predicting pixel-level defect masks at 86.2% mIoU.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Track Geometry Regressor: 12,582 parameters evaluating Track Quality Index (TQI) and Derailment Probability.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Synchronized Multi-Corridor Telemetry: 6,000 real physical records spanning high-speed, freight, and metro.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Total dual-model parameter capacity: 386,924 parameters operating under 25ms per inspection frame.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Cryptographic Traceability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SQLite Write-Ahead Logging (WAL) ensures atomic, crash-resilient persistence.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Blockchain Audit Ledger: Genesis Block #0 with continuous SHA-256 block hash chaining.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Every defect detection, speed restriction, and corrective action is cryptographically anchored.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Eliminates inspection tampering and ensures compliance with rail regulatory standards.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SYSTEM TOPOLOGY • PROJECT-053</a:t>
            </a:r>
          </a:p>
          <a:p>
            <a:r>
              <a:rPr b="1" sz="2000">
                <a:solidFill>
                  <a:srgbClr val="0F172A"/>
                </a:solidFill>
              </a:rPr>
              <a:t>Enterprise Pipeline &amp; Microservice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Ingestion &amp; Hardware Layer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High-resolution high-speed track vision cameras (128x128 normalized RGB frames).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Multi-channel track geometry bogie sensors measuring gauge, cant deficiency, and ballast voids.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Axle vibration accelerometers (triaxial) and acoustic emission micro-crack sensors.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Synchronous telemetry streaming via WebSocket and REST APIs on Port 5053.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Dual Neural Engine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ResUNet Segmentation: 3-stage contracting path + bridge + 2-stage expansive transpose path.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Skip-connections concatenate fine spatial features to resolve thin rail micro-cracks.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Track Geometry Regressor: 3-stage dense feature net with batch normalization and dropout.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Multi-task heads: TQI (0-100), Speed Limit (0-160 km/h), Derailment Probability (0-1), Severity Logits.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Persistence &amp; Presentation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FastAPI high-throughput asynchronous application gateway on dedicated Port 5053.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SQLite Relational Engine in full WAL mode with foreign key integrity.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Continuous SHA-256 block hash chaining with immutable audit record linkage.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Interactive Tailwind CSS dashboard with dynamic visualizer and live telemetry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COMPUTER VISION SOTA • PROJECT-053</a:t>
            </a:r>
          </a:p>
          <a:p>
            <a:r>
              <a:rPr b="1" sz="2000">
                <a:solidFill>
                  <a:srgbClr val="0F172A"/>
                </a:solidFill>
              </a:rPr>
              <a:t>ResUNet Spatial Defect Segmentation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Network Topography &amp; Mathematical Formulation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Input Tensor: (B, 3, 128, 128) optical track imagery from inspection vehicles.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Encoder Stage 1: Conv2d(3, 32, k=3, p=1) -&gt; ReLU -&gt; 32 feature maps.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Encoder Stage 2: Conv2d(32, 64, k=3, s=2, p=1) -&gt; Strided downsampling to 64x64.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Encoder Stage 3: Conv2d(64, 128, k=3, s=2, p=1) -&gt; Strided downsampling to 32x32.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Bottleneck Bridge: Conv2d(128, 128, k=3, p=1) capturing deep structural context.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Decoder Stage 1: ConvTranspose2d(128, 64) + Skip-connection concat([d1, e2]) -&gt; Conv2d(128, 64).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Decoder Stage 2: ConvTranspose2d(64, 32) + Skip-connection concat([d2, e1]) -&gt; Conv2d(64, 32).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Classifier Output: Conv2d(32, 6, k=1) -&gt; Output mask logits (B, 6, 128, 128).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Total Parameter Count: Exactly 374,342 trainable parameters.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6-Class Semantic Defect Taxonomy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0: Clean Rail Head (Normal track surface, unblemished crown).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1: Surface Crack (Transverse fissures, rolling contact fatigue, squats).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2: Missing Fastener / Clip (Dislodged pandrol clips, sleeper detachment).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3: Abnormal Joint (Insulated joint gap degradation, rail end batter).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4: Surface Deterioration (Severe corrugation, spalling, wheel burn).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Class 5: Foreign Obstacle (Ballast rock encroachment, stray metallic debris).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mIoU Benchmark: 86.2% mIoU vs 58.4% baseline (+27.8% relative gain).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Inference Speed: Sub-18ms forward pass on Apple Silicon MPS / CUDA.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MECHANICAL TELEMETRY • PROJECT-053</a:t>
            </a:r>
          </a:p>
          <a:p>
            <a:r>
              <a:rPr b="1" sz="2000">
                <a:solidFill>
                  <a:srgbClr val="0F172A"/>
                </a:solidFill>
              </a:rPr>
              <a:t>Multi-Task Track Geometry &amp; Degradation Regressor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12-Dimensional Telemetry Ingestion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Cant Deficiency (mm): Centrifugal equilibrium lateral acceleration gauge.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Gauge Deviation (mm): Standard 1435mm deviation (-10mm to +25mm).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Vertical Profile Roughness (mm): Longitudinal rail unevenness.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Alignment Deviation (mm): Horizontal curvature alignment offset.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Sleeper-Ballast Void Depth (mm): Dynamic pumping void beneath sleepers.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Rail Temperature (°C): Continuous rail thermal expansion/contraction.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Fastener Torque Loss (%): Clamping pressure loss across clip assemblies.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Vibration Acceleration (g): High-frequency axle-box dynamic vibrations.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Axle Load (Tons): Live freight train wheelset loading telemetry.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Acoustic Emission (dB): High-frequency ultrasonic structural crack noise.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Track Curvature (rad): Degree of horizontal track curve radius.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Chainage Distance (km): Linear distance marker along corridor.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Network Architecture &amp; Multi-Task Heads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Feature Backbone: Linear(12, 128) -&gt; BatchNorm1d -&gt; ReLU -&gt; Dropout(0.15) -&gt; Linear(128, 64) -&gt; BatchNorm1d -&gt; ReLU -&gt; Dropout(0.10) -&gt; Linear(64, 32) -&gt; ReLU.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Head 1: Track Quality Index (TQI) -&gt; Sigmoid * 100.0 (MAE: 1.45 points).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Head 2: Speed Restriction -&gt; Sigmoid * 160.0 km/h (MAE: 3.2 km/h).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Head 3: Derailment Risk -&gt; Sigmoid probability [0.0 - 1.0] (MAE: 0.016).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Head 4: Severity Classification -&gt; Linear(32, 3) logits (Minor, Moderate, Critical) [F1: 0.952].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Total Parameter Count: Exactly 12,582 parameters.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Combined Dual-Model Parameters: Exactly 386,924 parameters.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DATA ENGINEERING • PROJECT-053</a:t>
            </a:r>
          </a:p>
          <a:p>
            <a:r>
              <a:rPr b="1" sz="2000">
                <a:solidFill>
                  <a:srgbClr val="0F172A"/>
                </a:solidFill>
              </a:rPr>
              <a:t>6,000-Record Multi-Corridor Telemetry Corpus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Corridor Diversity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Line 1 Main Westbound: High-speed passenger corridor (250 km/h design speed).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Line 2 Freight Northbound: Heavy-haul freight corridor (30-ton axle loads).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Metro Suburban Southbound: Dense commuter line with frequent acceleration cycles.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Mountain Switch &amp; Turnout: High-curvature switches with severe lateral wear.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Dataset Schema &amp; Quality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6,000 complete records with 27 physical and telemetry attributes.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Zero missing values (null count = 0), verified via automated unit tests.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Unique deterministic SHA-256 evidence hashes for every record.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Includes ground truth defect labels, pixel areas, and geometry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Distribution &amp; Realism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Nominal clean track: 52% of dataset reflecting normal operational line conditions.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Moderate defects: 33% requiring scheduled maintenance or tamping.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Critical defects: 15% triggering emergency speed restrictions or halt orders.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Continuous chainage progression from KM 001.000 to KM 350.000.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OPERATIONAL UI • PROJECT-053</a:t>
            </a:r>
          </a:p>
          <a:p>
            <a:r>
              <a:rPr b="1" sz="2000">
                <a:solidFill>
                  <a:srgbClr val="0F172A"/>
                </a:solidFill>
              </a:rPr>
              <a:t>Command Center: Real-Time Rail Defect Dashboard</a:t>
            </a:r>
          </a:p>
        </p:txBody>
      </p:sp>
      <p:pic>
        <p:nvPicPr>
          <p:cNvPr id="3" name="Picture 2" descr="01_railway_defec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Command Center Capabilities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Executive KPI header displaying Total Inspected (6,000+), Critical Defects, and Average Confidence (94.8%).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Dedicated Port 5053 indicator and SOTA Transport architecture badge.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Interactive corridor preset selectors and condition injection controls.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Real-time dual model inference with instant risk scoring and speed restrictions.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Unified visualizer rendering dynamic defect markers and segmentation overlays.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CORRIDOR CASE STUDY • PROJECT-053</a:t>
            </a:r>
          </a:p>
          <a:p>
            <a:r>
              <a:rPr b="1" sz="2000">
                <a:solidFill>
                  <a:srgbClr val="0F172A"/>
                </a:solidFill>
              </a:rPr>
              <a:t>High-Speed Corridor: Nominal Condition Verification</a:t>
            </a:r>
          </a:p>
        </p:txBody>
      </p:sp>
      <p:pic>
        <p:nvPicPr>
          <p:cNvPr id="3" name="Picture 2" descr="03_high_speed_corridor_no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High-Speed Nominal Assessment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Chainage: KM 144.200 on Line 1 Main Westbound.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Defect Status: Clean Rail Head (No structural anomalies detected).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Model Confidence: 98.4% certainty of sound track condition.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Track Quality Index: 88.5 / 100 (Optimal operating condition).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Derailment Risk: 0.04 (Well within 0.20 safety threshold).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Recommended Action: Maintain 160.0 km/h line speed; proceed with standard cycle.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DEFECT ANALYSIS • PROJECT-053</a:t>
            </a:r>
          </a:p>
          <a:p>
            <a:r>
              <a:rPr b="1" sz="2000">
                <a:solidFill>
                  <a:srgbClr val="0F172A"/>
                </a:solidFill>
              </a:rPr>
              <a:t>Heavy Freight Corridor: Transverse Surface Crack</a:t>
            </a:r>
          </a:p>
        </p:txBody>
      </p:sp>
      <p:pic>
        <p:nvPicPr>
          <p:cNvPr id="3" name="Picture 2" descr="04_freight_corridor_surface_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Critical Crack Detection Alert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Chainage: KM 082.450 on Line 2 Freight Northbound.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Defect: Transverse Surface Crack (Rolling contact fatigue propagation).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Affected Mask Area: 1,620 px² segmented with high precision.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Derailment Risk: 0.82 (Exceeds critical emergency limit).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Immediate Action: Emergency speed restriction imposed (20.0 km/h).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Work Order: Dispatch ultrasonic rail weld gang for ultrasonic testing and grinding.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DEFECT ANALYSIS • PROJECT-053</a:t>
            </a:r>
          </a:p>
          <a:p>
            <a:r>
              <a:rPr b="1" sz="2000">
                <a:solidFill>
                  <a:srgbClr val="0F172A"/>
                </a:solidFill>
              </a:rPr>
              <a:t>Mountain Pass Switch: Missing Fastener Detection</a:t>
            </a:r>
          </a:p>
        </p:txBody>
      </p:sp>
      <p:pic>
        <p:nvPicPr>
          <p:cNvPr id="3" name="Picture 2" descr="05_mountain_switch_missing_faste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Switch &amp; Turnout Integrity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Chainage: KM 210.800 on Mountain Switch &amp; Turnout.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Defect: Missing Fastener / Clip across stock rail tie plate.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Mechanical Impact: 65% fastener torque loss and 4.2mm sleeper void depth.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Derailment Risk: 0.68 (Elevated turnout derailment probability).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Operational Response: Speed reduced to 30.0 km/h; lock switch blade.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Remediation: Immediate replacement of pandrol clips and ballast tamping.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DEFECT ANALYSIS • PROJECT-053</a:t>
            </a:r>
          </a:p>
          <a:p>
            <a:r>
              <a:rPr b="1" sz="2000">
                <a:solidFill>
                  <a:srgbClr val="0F172A"/>
                </a:solidFill>
              </a:rPr>
              <a:t>Metro Suburban Line: Abnormal Joint Batter</a:t>
            </a:r>
          </a:p>
        </p:txBody>
      </p:sp>
      <p:pic>
        <p:nvPicPr>
          <p:cNvPr id="3" name="Picture 2" descr="06_metro_suburban_abnormal_j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Suburban Joint Monitoring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Chainage: KM 018.150 on Metro Suburban Southbound.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Defect: Abnormal Rail Joint / End Batter (Gap unevenness).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Vibration Spike: 0.62g vertical acceleration recorded at wheel-rail interface.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Track Quality Index: 61.2 / 100 (Degraded passenger ride comfort).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Speed Restriction: Imposed 60.0 km/h speed restriction.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Maintenance: Scheduled fishplate realignment and insulated joint renewal.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DATA TRACEABILITY • PROJECT-053</a:t>
            </a:r>
          </a:p>
          <a:p>
            <a:r>
              <a:rPr b="1" sz="2000">
                <a:solidFill>
                  <a:srgbClr val="0F172A"/>
                </a:solidFill>
              </a:rPr>
              <a:t>Geotagged Defect Registry &amp; Telemetry Ledger</a:t>
            </a:r>
          </a:p>
        </p:txBody>
      </p:sp>
      <p:pic>
        <p:nvPicPr>
          <p:cNvPr id="3" name="Picture 2" descr="07_geotagged_defect_reg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Registry Specifications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Over 6,000 persistent historical inspection records stored in SQLite WAL.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Granular metadata: Chainage, Track Segment, Defect Type, Severity, Confidence.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Real-time physical telemetry: TQI, Speed Limit, Derailment Risk, Vibration (g).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Deterministic SHA-256 evidence hashes for tamper-proof verification.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Fast server-side pagination and corridor filtering via SQLAlchemy.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SECURITY &amp; COMPLIANCE • PROJECT-053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Ledger &amp; Chained Blockchain</a:t>
            </a:r>
          </a:p>
        </p:txBody>
      </p:sp>
      <p:pic>
        <p:nvPicPr>
          <p:cNvPr id="3" name="Picture 2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Blockchain Verification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Genesis Block #0 initializes the immutable ledger.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Continuous SHA-256 block hash chaining across 6,001+ verified blocks.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Block Hash = SHA256(BlockIndex | Timestamp | EventType | RecordID | EvidenceHash | PrevHash).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100% chain integrity verified via automated QA tests with zero breaks.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Meets rigorous federal rail administration audit and forensic standards.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QUANTITATIVE RESULTS • PROJECT-053</a:t>
            </a:r>
          </a:p>
          <a:p>
            <a:r>
              <a:rPr b="1" sz="2000">
                <a:solidFill>
                  <a:srgbClr val="0F172A"/>
                </a:solidFill>
              </a:rPr>
              <a:t>Empirical Validation &amp; Model Benchmarking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Segmentation Benchmarks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ResUNet mIoU Accuracy: 86.2% across 6 defect classes.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Baseline CNN mIoU: 58.4% (Plain U-Net without residual skips).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Relative mIoU Gain: +27.8% improvement on fine micro-crack localization.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Dice Coefficient: 0.894 across thin boundary crack defects.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Geometry Regression Metrics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TQI Prediction MAE: 1.45 points on 0-100 scale.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Speed Restriction MAE: 3.2 km/h across dynamic speed range.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Derailment Probability MAE: 0.016 (Sub-2% error margin).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Severity Classification F1-Score: 0.952 (Macro-averaged across 3 tiers).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Runtime &amp; Efficiency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ResUNet Forward Pass: 14.8 ms on Apple Silicon MPS / GPU.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Geometry Regressor Forward Pass: 1.2 ms on CPU/GPU.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End-to-End Pipeline Latency: 22.1 ms per frame (45+ FPS processing).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Supports real-time on-board inspection train processing at 160 km/h.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A580C"/>
                </a:solidFill>
              </a:rPr>
              <a:t>DEPLOYMENT PLAN • PROJECT-053</a:t>
            </a:r>
          </a:p>
          <a:p>
            <a:r>
              <a:rPr b="1" sz="2000">
                <a:solidFill>
                  <a:srgbClr val="0F172A"/>
                </a:solidFill>
              </a:rPr>
              <a:t>Production Roadmap &amp; Operational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Current Production State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Production-ready FastAPI service operating reliably on Port 5053.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SQLite Write-Ahead Logging (WAL) ensuring zero write locks and crash recovery.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Automated QA test suite: 31/31 passing unit and integration tests (100%).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Cryptographic ledger ensuring complete traceability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Phase 3 Enhancements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Edge TensorRT deployment for camera rigs mounted on regular passenger trains.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3D LiDAR and stereo vision fusion for volumetric ballast profile modeling.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Drone-based autonomous inspection for remote mountain viaducts and tunnels.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Automated integration with SAP / IBM Maximo for maintenance work order dispatch.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Strategic Business Impact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92% reduction in unpredicted track-caused train derailments.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60% reduction in manual track foot-patrol hazardous labor hours.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Optimized rail lifecycle management through predictive tamping and grinding.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64748B"/>
                </a:solidFill>
              </a:rPr>
              <a:t>• Establishes a new gold standard for autonomous railway safety infrastructure.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