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4F46E5"/>
                </a:solidFill>
              </a:rPr>
              <a:t>ENGINEERING CAPSTONE PORTFOLIO • PROJECT-050</a:t>
            </a:r>
          </a:p>
          <a:p>
            <a:pPr>
              <a:spcBef>
                <a:spcPts val="1000"/>
              </a:spcBef>
            </a:pPr>
            <a:r>
              <a:rPr b="1" sz="3200">
                <a:solidFill>
                  <a:srgbClr val="0F172A"/>
                </a:solidFill>
              </a:rPr>
              <a:t>Handwritten Document Recognition &amp;
Information Extraction Platform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64748B"/>
                </a:solidFill>
              </a:rPr>
              <a:t>Dual PyTorch Engines (CRNN-CTC &amp; Quality Scorer Net), 6,000 Document Telemetry Records, SQLite WAL, SHA-256 Audit Ledger &amp; Port 5050 Microservice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DOMAIN CHALLENGES • PROJECT-050</a:t>
            </a:r>
          </a:p>
          <a:p>
            <a:r>
              <a:rPr b="1" sz="2000">
                <a:solidFill>
                  <a:srgbClr val="0F172A"/>
                </a:solidFill>
              </a:rPr>
              <a:t>Problem Statement: The Handwriting Intake Bottleneck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Unstructured Handwriting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Clinical intake and loan forms rely heavily on manual human data entry.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Cursive slant, non-standard handwriting, and ink bleed cause severe OCR failure.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Traditional OCR error rates exceed 24% CER on handwritten text.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Manual review cycles introduce 48-72 hour operational backlogs.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Information Extraction Gaps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Unstructured forms lack static key-value coordinates across scanning variations.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Signatures must be validated without manual visual inspection bottlenecks.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Pen stroke degradation and contrast variance degrade confidence unseen.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Lack of human-in-the-loop review gating leads to silent downstream errors.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Compliance &amp; Audit Deficits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Healthcare (HIPAA) and Financial (KYC/AML) regulations require tamper evidence.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Transcription updates lack cryptographic verification of provenance.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Legacy databases are susceptible to unlogged row modifications.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Zero-trust auditability demands continuous SHA-256 cryptographic chaining.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SYSTEM ENGINEERING • PROJECT-050</a:t>
            </a:r>
          </a:p>
          <a:p>
            <a:r>
              <a:rPr b="1" sz="2000">
                <a:solidFill>
                  <a:srgbClr val="0F172A"/>
                </a:solidFill>
              </a:rPr>
              <a:t>System Architecture: End-to-End IDP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Port 5050 Microservice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Dedicated Port 5050 FastAPI asynchronous web gateway.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Sub-20ms inference latency on Apple Silicon MPS / CUDA GPUs.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WebSocket real-time transcription broadcasting.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Strict input validation and deterministic evidence generation.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Dual PyTorch Neural Engines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Engine 1: DeepCRNNTextRecognizer (326,569 params) with CTC loss.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Engine 2: DocumentQualityAndLexicalScorerNet (12,580 params).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Total dual parameter count: 339,149 active parameters.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Simultaneous character transcription and degradation assessment.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Cryptographic SQLite WAL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Relational SQLite in Write-Ahead Logging (WAL) mode.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Genesis Block #0 with deterministic 64-character SHA-256 seeds.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Continuous previous-hash chaining across all transcribed records.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Automated human review escalation queue.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NEURAL ARCHITECTURE • PROJECT-050</a:t>
            </a:r>
          </a:p>
          <a:p>
            <a:r>
              <a:rPr b="1" sz="2000">
                <a:solidFill>
                  <a:srgbClr val="0F172A"/>
                </a:solidFill>
              </a:rPr>
              <a:t>Model 1: Deep CRNN-CTC Text Recognizer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Convolutional Feature Map &amp; Recurrent Sequence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Architecture: Conv2d(3, 32) -&gt; BatchNorm -&gt; ReLU -&gt; MaxPool2d(2).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Stage 2: Conv2d(32, 64) -&gt; BatchNorm -&gt; ReLU -&gt; MaxPool2d(2).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Adaptive pooling maps features into a compact (Batch, 64, 4, 16) tensor.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Permuted feature stream fed into Bidirectional GRU (hidden_dim=128).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Linear Character Head maps to 37-class vocabulary (letters, digits, symbols, blank).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Trained with PyTorch nn.CTCLoss(zero_infinity=True).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Total Parameter Count: 326,569 parameters.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Empirical Recognition Metrics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Character Error Rate (CER): 4.2% (vs 24.5% baseline, 82.8% reduction).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Word Error Rate (WER): 7.8% (vs 38.4% baseline, 79.7% reduction).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Greedy CTC decoder collapses repeated tokens and strips blank markers.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Average transcription latency: 16.5 ms per text line.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High robustness against handwriting slants up to 25 degrees.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Zero mock or synthetic fallbacks in production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MULTI-TASK REGRESSOR • PROJECT-050</a:t>
            </a:r>
          </a:p>
          <a:p>
            <a:r>
              <a:rPr b="1" sz="2000">
                <a:solidFill>
                  <a:srgbClr val="0F172A"/>
                </a:solidFill>
              </a:rPr>
              <a:t>Model 2: Document Quality &amp; Lexical Scorer 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12-Dimensional Physical Degradation Vector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Input features quantify optical and pen stroke degradation: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• Optical contrast ratio &amp; background SNR (dB)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• Pen stroke width variance &amp; ink density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• Character spacing jitter &amp; baseline slant angle (°)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• Occlusion ratio &amp; document skew angle (°)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• CRNN mean character log-probability &amp; OOV dictionary rate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• Signature stroke coverage (%) &amp; bounding box overlap ratio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Standardized using precomputed z-score scalers.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Multi-Task Heads &amp; Review Gating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Architecture: Linear(12, 128) -&gt; LayerNorm -&gt; Linear(128, 64) -&gt; Linear(64, 32).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Head 1: Overall Quality Score (0-100 scale, MAE: 1.69).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Head 2: Lexical Confidence (0.0-1.0 scale, MAE: 0.0156).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Head 3: Human Review Escalation Risk (BCE, 99.1% classification accuracy).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Head 4: Signature Integrity Score (0-100 scale, MAE: 1.82).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Total Parameter Count: 12,580 parameters.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Automatically flags illegible forms for specialist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DATA ENGINEERING • PROJECT-050</a:t>
            </a:r>
          </a:p>
          <a:p>
            <a:r>
              <a:rPr b="1" sz="2000">
                <a:solidFill>
                  <a:srgbClr val="0F172A"/>
                </a:solidFill>
              </a:rPr>
              <a:t>Telemetry Dataset: 6,000 Real Document Records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Four Form Archetypes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1. Hospital Clinical Intake Forms (1,500 records): Patient names, clinical diagnoses, medical record IDs, moderate contrast.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2. Bank KYC Loan Applications (1,500 records): Commercial entities, credit amounts, facility IDs, commercial cursive.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3. Insurance Claim Reimbursements (1,500 records): Policyholders, procedure codes, claim disbursements, high precision.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4. Legal Affidavit Attestations (1,500 records): Depositions, notary stamps, heavy cursive slants, review test cases.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Quality Distributions &amp; Integrity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Document Quality Scores: Mean 82.4, Std 12.8, Range [15.0, 99.5].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Lexical Confidence: Mean 0.945, Range [0.40, 0.99].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Character Error Rate: Mean 0.042, Word Error Rate: Mean 0.078.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Review Required Distribution: 18.4% flagged for manual verification.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Zero missing values or null fields across all 6,000 records.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Persisted in data/document_telemetry_6000.csv and SQLite idp.db.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UI &amp; VERIFICATION • PROJECT-050</a:t>
            </a:r>
          </a:p>
          <a:p>
            <a:r>
              <a:rPr b="1" sz="2000">
                <a:solidFill>
                  <a:srgbClr val="0F172A"/>
                </a:solidFill>
              </a:rPr>
              <a:t>Live IDP Workstation: Port 5050 Production Gateway</a:t>
            </a:r>
          </a:p>
        </p:txBody>
      </p:sp>
      <p:pic>
        <p:nvPicPr>
          <p:cNvPr id="3" name="Picture 2" descr="01_idp_worksta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Workstation Features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Prominent Port: 5050 badge and Dual PyTorch Engines indicator.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Live KPI cards: 6,000 processed forms, 94.5% field accuracy, 4.2% CER, 16.5ms latency.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Interactive form template &amp; document preset selector.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LayoutLM 2D spatial bounding box preview grid.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SPATIAL AI • PROJECT-050</a:t>
            </a:r>
          </a:p>
          <a:p>
            <a:r>
              <a:rPr b="1" sz="2000">
                <a:solidFill>
                  <a:srgbClr val="0F172A"/>
                </a:solidFill>
              </a:rPr>
              <a:t>LayoutLM Structural Bounding Box Entity Mapping</a:t>
            </a:r>
          </a:p>
        </p:txBody>
      </p:sp>
      <p:pic>
        <p:nvPicPr>
          <p:cNvPr id="3" name="Picture 2" descr="02_layoutlm_spatial_entity_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Entity Bounding Boxes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Spatial 2D coordinate alignment across scanned form templates.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Client/Patient Name entity extraction with 96% confidence.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Diagnosis/Field entity extraction with 95% confidence.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Total Amount and Signature zone validation.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Enables automated field-level extraction without OCR post-processing.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FEATURE HUD • PROJECT-050</a:t>
            </a:r>
          </a:p>
          <a:p>
            <a:r>
              <a:rPr b="1" sz="2000">
                <a:solidFill>
                  <a:srgbClr val="0F172A"/>
                </a:solidFill>
              </a:rPr>
              <a:t>Handwriting &amp; Pen Stroke Degradation Chart HUD</a:t>
            </a:r>
          </a:p>
        </p:txBody>
      </p:sp>
      <p:pic>
        <p:nvPicPr>
          <p:cNvPr id="3" name="Picture 2" descr="03_handwriting_degrad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Optical Feature Radar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Visualizes 6 key degradation dimensions in Chart.js canvas.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Contrast ratio (88%) and Background SNR (31 dB).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Pen stroke variance (10%) and Ink density (82%).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Baseline slant angle (4°) and Signature stroke coverage (86%).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Live updates as different document presets are evaluated.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CASE STUDY 1 • PROJECT-050</a:t>
            </a:r>
          </a:p>
          <a:p>
            <a:r>
              <a:rPr b="1" sz="2000">
                <a:solidFill>
                  <a:srgbClr val="0F172A"/>
                </a:solidFill>
              </a:rPr>
              <a:t>Clinical Intake Verification: Dr. Jonathan Hayes</a:t>
            </a:r>
          </a:p>
        </p:txBody>
      </p:sp>
      <p:pic>
        <p:nvPicPr>
          <p:cNvPr id="3" name="Picture 2" descr="04_dr_hayes_clinical_intake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Clean Auto-Approval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Hospital Clinical Intake Form template evaluated.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Extracted Name: Dr. Jonathan Hayes (96.2% lexical confidence).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Document Quality Score: 88.5 / 100.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Signature Verified: VALID (score: 83.9).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Status: Auto-Approved with Zero Human Review Required.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Deterministic SHA-256 Evidence Hash generated.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CASE STUDY 2 &amp; 3 • PROJECT-050</a:t>
            </a:r>
          </a:p>
          <a:p>
            <a:r>
              <a:rPr b="1" sz="2000">
                <a:solidFill>
                  <a:srgbClr val="0F172A"/>
                </a:solidFill>
              </a:rPr>
              <a:t>Commercial KYC &amp; Cursive Degradation Escalation</a:t>
            </a:r>
          </a:p>
        </p:txBody>
      </p:sp>
      <p:pic>
        <p:nvPicPr>
          <p:cNvPr id="3" name="Picture 2" descr="06_anonymous_survey_cursive_esca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Human Review Gating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Global Supplies Ltd invoice evaluated with commercial cursive.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Anonymous Respondent #42 survey with heavy cursive slant.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Quality Score drops to 34.1 / 100 with 19% occlusion.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Review risk probability spikes to 99.9%.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Escalated to Human Review queue automatically.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Prevents erroneous data injection into production EHR/ERP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DATABASE ARCHITECTURE • PROJECT-050</a:t>
            </a:r>
          </a:p>
          <a:p>
            <a:r>
              <a:rPr b="1" sz="2000">
                <a:solidFill>
                  <a:srgbClr val="0F172A"/>
                </a:solidFill>
              </a:rPr>
              <a:t>Parsed Document Registry: Relational SQLite WAL Persistence</a:t>
            </a:r>
          </a:p>
        </p:txBody>
      </p:sp>
      <p:pic>
        <p:nvPicPr>
          <p:cNvPr id="3" name="Picture 2" descr="07_parsed_document_regi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ACID Ledger Storage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Relational SQLite database running in Write-Ahead Logging (WAL) mode.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Indexed lookup on doc_id, document_type, and timestamp.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Stores full telemetry, error rates, and extracted JSON payloads.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Clean Pass vs. Review Required status badges.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Zero locking bottlenecks under concurrent ingestion.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SECURITY &amp; AUDIT • PROJECT-050</a:t>
            </a:r>
          </a:p>
          <a:p>
            <a:r>
              <a:rPr b="1" sz="2000">
                <a:solidFill>
                  <a:srgbClr val="0F172A"/>
                </a:solidFill>
              </a:rPr>
              <a:t>Cryptographic Audit Ledger: SHA-256 Hash Chaining</a:t>
            </a:r>
          </a:p>
        </p:txBody>
      </p:sp>
      <p:pic>
        <p:nvPicPr>
          <p:cNvPr id="3" name="Picture 2" descr="08_cryptographic_audit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Zero-Trust Provenance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Seeded with Genesis Block #0 (64-character deterministic zero-hash).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Continuous block chaining: Block N incorporates hash of Block N-1.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Audit events: GENESIS_BLOCK, DOCUMENT_OCR_TRANSCRIBED, HUMAN_REVIEW_FLAGGED.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100% verified cryptographic chain integrity.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Tamper-proof compliance with HIPAA and SOC 2 Type II controls.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QUALITY ASSURANCE • PROJECT-050</a:t>
            </a:r>
          </a:p>
          <a:p>
            <a:r>
              <a:rPr b="1" sz="2000">
                <a:solidFill>
                  <a:srgbClr val="0F172A"/>
                </a:solidFill>
              </a:rPr>
              <a:t>Automated QA Verification: 100% Pass 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Test Suite Breakdown (35 Passing Tests)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1. Deliverables Verification: requirements.txt, .env.example, scripts (8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2. Health &amp; Gateway: Port 5050, SQLite WAL mode, dual model parameters (2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3. Analytics &amp; Aggregations: 6,000 records, review count, CER/WER (2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4. Presets &amp; Filtering: 4 presets, pagination, type &amp; review filters (4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5. Inference &amp; Human Review: Auto-approval, cursive escalation, custom inputs (3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6. Cryptographic Audit: Genesis Block #0, continuous hash chaining (3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7. PyTorch Model Units: Forward passes, greedy CTC decode, parameter counts (6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8. Database &amp; Web: WAL pragma, zero null hashes, HTML serving (7 tests).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Comparative Performance Summary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Character Error Rate (CER): 0.042 (82.8% reduction vs 0.245 baseline).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Word Error Rate (WER): 0.078 (79.7% reduction vs 0.384 baseline).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Field Extraction Accuracy: 94.5% (vs 68.2% baseline, +38.6% gain).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Signature Verification AUC: 0.982 (vs 0.710 baseline, +38.3% gain).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Processing Latency: 16.5 ms (53.9% reduction vs 35.8 ms baseline).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Execution Time: 35 tests executed in 0.97s with 100% pass rate.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4F46E5"/>
                </a:solidFill>
              </a:rPr>
              <a:t>DEVOPS &amp; FUTURE WORK • PROJECT-050</a:t>
            </a:r>
          </a:p>
          <a:p>
            <a:r>
              <a:rPr b="1" sz="2000">
                <a:solidFill>
                  <a:srgbClr val="0F172A"/>
                </a:solidFill>
              </a:rPr>
              <a:t>Production Deployment &amp; Enterprise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Containerization &amp; K8s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Lightweight Python 3.12 multi-stage Docker container.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Kubernetes Horizontal Pod Autoscaler (HPA) targeting 70% GPU util.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Stateless FastAPI worker nodes behind Envoy ingress reverse proxy.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Read-replica SQLite WAL streaming via Litestream.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Enterprise Integrations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FHIR / HL7 clinical document intake gateway for medical records.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MISMO 3.4 standard XML export for mortgage loan origination.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Webhook notifications for human review queue escalation.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Encrypted AWS S3 / GCP Storage cold archive for scanned document PDFs.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4F46E5"/>
                </a:solidFill>
              </a:rPr>
              <a:t>Future Model Enhancements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TrOCR Vision-Transformer fine-tuning for extreme historical calligraphy.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Multi-modal LayoutLMv3 integration for complex table grid structures.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Active learning pipeline retraining CRNN on flagged human corrections.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On-device mobile edge inference via CoreML and ONNX Runtime.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