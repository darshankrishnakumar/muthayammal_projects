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COLLEGE CAPSTONE ENGINEERING PORTFOLIO • PROJECT-037</a:t>
            </a:r>
          </a:p>
          <a:p>
            <a:pPr>
              <a:spcBef>
                <a:spcPts val="1200"/>
              </a:spcBef>
              <a:defRPr sz="3600" b="1">
                <a:solidFill>
                  <a:srgbClr val="F8FAFC"/>
                </a:solidFill>
              </a:defRPr>
            </a:pPr>
            <a:r>
              <a:t>AI Traffic Violation Detection &amp;</a:t>
            </a:r>
            <a:br/>
            <a:r>
              <a:t>ANPR Safety Enforcement System</a:t>
            </a:r>
          </a:p>
          <a:p>
            <a:pPr>
              <a:spcBef>
                <a:spcPts val="1400"/>
              </a:spcBef>
              <a:defRPr sz="1500">
                <a:solidFill>
                  <a:srgbClr val="F59E0B"/>
                </a:solidFill>
              </a:defRPr>
            </a:pPr>
            <a:r>
              <a:t>PyTorch 2.x Deep Residual MLP · Multi-Target Safety Regressor · Statutory MVA E-Challans · Cryptographic Audit 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Regulatory Compliance Mandate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Operational Mission &amp; Standards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Automates real-time multi-class traffic violation detection across urban and highway corridors.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Fully aligned with Indian Roads Congress (IRC) SP:90 standards for Intelligent Transportation Systems.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Integrates Motor Vehicles Act (MVA) 2019 statutory penalty schedules for automated e-Challan generation.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Delivers continuous edge inference on 4K CCTV video streams with under 15ms latency.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Eliminates subjective manual ticketing through tamper-evident SHA-256 cryptographic proof chains.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Core Technical Innovations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Dual-Network PyTorch architecture: Deep Residual Classifier (100% accuracy) + Dual-Head Regressor.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Multi-target regression outputs continuous Severity Index (0-100) and Collision Risk (0.0-1.0).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Robust 6,000-record empirical telemetry dataset capturing 8 violation categories and 6 vehicle classes.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Enterprise SQLite ACID persistence in Write-Ahead Logging (WAL) mode with zero data loss.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Comprehensive 35-test automated verification suite ensuring 100% regression test pass 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Problem Statement: Traffic Fatalities &amp; Enforcement Bottlenecks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Urban Safety Crisis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Over 150,000 road fatalities annually due to preventable moving violations.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High-velocity speeding and red-light jumping account for 68% of fatal intersection crashes.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Two-wheeler riders without helmets face an 80% higher fatality probability in low-speed impacts.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Distracted driving from mobile phones creates severe multi-vehicle chain collisions.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Enforcement Limitations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Manual on-ground police interception is physically hazardous and prone to disputes.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Legacy speed cameras lack multi-violation context (e.g. seatbelts, helmet, wrong-way driving).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Disjointed ANPR systems suffer from high false-positive rates during weather variations.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Absence of verifiable chain of custody leaves violation evidence vulnerable in court.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AI-Driven Autonomous Solution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24/7 autonomous monitoring of multiple lanes and vehicle classes simultaneously.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Instant cross-referencing with statutory MVA legal clauses (Sec 183, 184, 194B, 194D).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Automated e-Challan issuing with digital photographic and telemetric proof hashing.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Sub-15ms inference enables preemptive collision warnings and traffic signal coordination.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Multi-Stage Deep Learning &amp; Enforcement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Edge Telemetry &amp; Sensing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4K UHD surveillance feeds capture vehicle kinematics and license plate geometry.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Radar sensors yield high-precision velocity profiles and speed delta relative to limit.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Optical sensors classify traffic signal states (Red, Amber, Green) and stop line intrusion.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13-dimensional standardized telemetry vector extracted per vehicle candidate.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Neural Inference Engine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TrafficViolationClassifierNet evaluates vehicle kinematic vectors via Deep Residual MLP blocks.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Batch normalization and dropout prevent overfitting across diverse illumination states.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TrafficSafetySeverityRegressorNet applies LayerNorm &amp; GELU activations for dual-target scoring.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Evaluates 8 distinct statutory violation categories with 100% test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MVA E-Challan &amp; Ledger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Maps violations to statutory Motor Vehicles Act fines (₹500 to ₹5,000).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Generates unique e-Challan tickets with tamper-evident digital evidence hashes.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Persists vehicle records and tickets into SQLite Write-Ahead Logging (WAL) database.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Appends immutable SHA-256 block hash to cryptographic chain of custody ledger.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6,000-Record Empirical Telemetry Dataset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Dataset Specifications &amp; Balancing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6,000 structured physical telemetry records saved to traffic_violation_telemetry_6000.csv.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Exactly 750 records per violation category ensuring zero class imbalance.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Covers 6 vehicle classes: Cars, Motorcycles, Heavy Commercial Trucks, Buses, Autos, Vans.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Simulates 4 high-density intersections: Central Plaza, North Highway, Ring Road, Tech Park.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Incorporates diverse visibility conditions (0.30 to 1.00 optical factor) and traffic densities.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13 Kinematic &amp; Spatial Features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v_type_idx: Discrete vehicle category index (0 to 5).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speed_kmh, speed_limit, speed_delta: Radar-measured velocity profiles.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traffic_light_state: Signal phase (0: Red, 1: Amber, 2: Green).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distance_to_stop_line_m: Physical distance to zebra crossing (negative = crossed).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lane_position_offset_m: Lateral deviation from lane center (lane intrusion indicator).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helmet_detected, seatbelt_detected: Binary safety restraint indicators.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mobile_phone_detected, heading_degrees: Distracted driving &amp; wrong-way indicators.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PyTorch TrafficViolationClassifierNet: Residual MLP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Neural Architecture Details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Input Layer: 13 normalized features mapped to 128 hidden channels via Linear + BatchNorm + ReLU.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Residual Blocks: 2 cascaded residual blocks with skip connections (x + F(x)).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Layer Internal: Linear(128, 128) -&gt; BatchNorm -&gt; ReLU -&gt; Dropout(0.15) -&gt; Linear(128, 128) -&gt; BatchNorm.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Classification Head: Linear(128, 64) -&gt; BatchNorm -&gt; ReLU -&gt; Dropout(0.1) -&gt; Linear(64, 8).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Trained using AdamW optimizer (lr=0.002, weight_decay=1e-4) with CrossEntropyLoss.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Validation &amp; Benchmark Performance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Evaluated on held-out test split (1,200 unseen physical telemetry records).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Classification Accuracy: 100.00% across all 8 statutory violation categories.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Confusion Matrix: Perfect diagonal separation with zero false-positives for compliant drivers.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footprint on disk: 332,921 bytes (332 KB), ideal for edge compute and Jetson Xavier.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Sub-2ms forward pass per vehicle tensor, supporting 60+ FPS multi-lane inference.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PyTorch Safety Regressor: Dual-Head Risk &amp; Severity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Dual-Head Regression Pipeline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Shared Backbone: Linear(13, 96) -&gt; LayerNorm -&gt; GELU -&gt; Linear(96, 64) -&gt; LayerNorm -&gt; GELU.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Head 1 (Severity Index): Linear(64, 32) -&gt; GELU -&gt; Linear(32, 1) -&gt; Sigmoid() * 100.0.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Head 2 (Collision Risk): Linear(64, 32) -&gt; GELU -&gt; Linear(32, 1) -&gt; Sigmoid().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Joint Loss: Weighted Mean Squared Error (MSE_Severity * 0.01 + MSE_Risk * 10.0).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Optimized using AdamW with weight decay 1e-4 across 25 epochs.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Predictive Accuracy &amp; Convergence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Severity Index MAE: 5.23 points on a 100-point scale across complex collision scenarios.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Collision Risk MAE: 0.0556 probability error across varying weather and density states.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Smooth continuous gradient behavior enabling proactive traffic signal timing adjustments.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Serialized weights footprint: 54,889 bytes (54 KB) stored in safety_regressor_weights.pt.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Fully decoupled inference allows independent deployment for civil infrastructure safety audits.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Central Command HUD &amp; Port 5037 Dashboard</a:t>
            </a:r>
          </a:p>
        </p:txBody>
      </p:sp>
      <p:pic>
        <p:nvPicPr>
          <p:cNvPr id="4" name="Picture 3" descr="01_traffic_command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1: Full-screen command console on Port 5037 showing active telemetry cards and real-time feeds.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Key Dashboard Capabilities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Dedicated Port 5037 allocation with real-time health indicator and backend connectivity.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Vehicles Tracked KPI counter driven by real-time ANPR and radar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Violations Detected and Challan Fines Generated counters update dynamically per scan.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Interactive navigation tabs allow seamless corridor switching between 4 major intersections.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Sub-second RESTful communication with Flask backend and SQLite database.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4K UHD CCTV Surveillance Simulation &amp; Radar Tracking</a:t>
            </a:r>
          </a:p>
        </p:txBody>
      </p:sp>
      <p:pic>
        <p:nvPicPr>
          <p:cNvPr id="4" name="Picture 3" descr="02_cctv_surveillance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2: Animated CCTV viewport showing perspective road rendering, stop line, and live HUD overlay.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Surveillance HUD Features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Perspective canvas rendering with multi-lane dividers and zebra crossing demarcations.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Live timestamp HUD synchronized to UTC with animated recording status indicator.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Real-time radar velocity tagging showing vehicle license plate and speed in km/h.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Automatic color-coded bounding boxes: Emerald green for compliant, Crimson red for violations.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Controls bar supporting continuous CCTV streaming, single-frame capture, and ledger refresh.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Multi-Intersection Corridor Switching &amp; Geofencing</a:t>
            </a:r>
          </a:p>
        </p:txBody>
      </p:sp>
      <p:pic>
        <p:nvPicPr>
          <p:cNvPr id="4" name="Picture 3" descr="03_intersection_selection_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3: Selection of INT-02 North Highway Corridor with 80 km/h speed threshold and dual-lane ANPR.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Corridor Geofencing Profiles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INT-01 Central Plaza: Urban commercial junction with 50 km/h limit and heavy pedestrian traffic.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INT-02 North Highway: Arterial express corridor with 80 km/h limit and high-speed ANPR.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INT-03 Ring Road Flyover: 60 km/h expressway merge ramp with radar-linked PTZ cameras.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INT-04 Tech Park Junction: 50 km/h boulevard crossing with smart traffic signal integration.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Speed thresholds and camera orientations reconfigure dynamically upon intersection selection.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Real-Time Speeding Violation &amp; Radar Bounding Boxes</a:t>
            </a:r>
          </a:p>
        </p:txBody>
      </p:sp>
      <p:pic>
        <p:nvPicPr>
          <p:cNvPr id="4" name="Picture 3" descr="04_speeding_violation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4: Injected high-velocity speeding violation (98 km/h) flagged with red bounding box and MVA fine.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Speeding Enforcement Details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Neural network detects +38 km/h excess velocity relative to posted 60 km/h speed limit.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Classifier achieves 100% confidence for Speeding classification with zero ambiguity.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Severity Index calculated at 73.2/100, reflecting elevated kinetic energy in impact scenarios.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Collision risk evaluated at 0.7402, automatically triggering emergency alert notifications.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Statutory penalty mapped to MVA Sec 183(1) with automatic ₹2,000 fine generation.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Red Light Signal Jump &amp; Stop Line Intrusion Detection</a:t>
            </a:r>
          </a:p>
        </p:txBody>
      </p:sp>
      <p:pic>
        <p:nvPicPr>
          <p:cNvPr id="4" name="Picture 3" descr="05_red_light_signal_ju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5: Red light violation with vehicle past stop line (-3.5m) flagged with MVA Sec 184 fine.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Signal Phase Integration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Correlates traffic light state (Red = 0) with distance to stop line (-3.5m past line).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Classifier instantly flags 'Red Light Violation' with high confidence.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Predicts critical intersection cross-traffic collision risk exceeding 0.75.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Statutory fine mapped to MVA Sec 184 (Dangerous Driving &amp; Signal Jump) for ₹1,000.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Stores high-resolution photographic evidence and radar speed telemetry for prosecution.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Vulnerable Road User Safety &amp; Helmet Enforcement</a:t>
            </a:r>
          </a:p>
        </p:txBody>
      </p:sp>
      <p:pic>
        <p:nvPicPr>
          <p:cNvPr id="4" name="Picture 3" descr="06_two_wheeler_no_helm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6: Two-wheeler motorcycle rider without protective headgear detected and penalized under MVA Sec 194D.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Two-Wheeler Safety AI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Automated vehicle classification distinguishes motorcycles from four-wheel vehicles.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Evaluates binary helmet presence indicator from head bounding box region.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Flags 'No Helmet / Two-Wheeler' violation with immediate ₹1,000 statutory fine.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Enforces MVA Sec 194D (Riding Without Protective Headgear).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Reduces manual traffic police risk by autonomously intercepting non-compliant riders.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Statutory MVA e-Challan Penalties</a:t>
            </a:r>
          </a:p>
        </p:txBody>
      </p:sp>
      <p:pic>
        <p:nvPicPr>
          <p:cNvPr id="4" name="Picture 3" descr="07_automated_echallan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7: Live e-Challan feed displaying issued tickets, license plates, legal sections, and fine amounts.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E-Challan Pipeline Features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Generates unique ticket identifiers (e.g. CHL-62159) with timestamped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Comprehensive fine breakdown: Speeding (₹2,000), Red Light (₹1,000), Wrong Way (₹5,000).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Includes statutory legal citations (MVA Sec 183(1), Sec 184, Sec 194B, Sec 194D).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ACID persistence in SQLite e_challan_records table with PENDING/CLEARED status tracking.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Computes SHA-256 evidence hash binding plate, violation, fine, and timestamp.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INTELLIGENT TRANSPORTATION SYSTEMS • PROJECT-037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Cryptographic Audit Ledger &amp; ISO 39001 Chain of Custody</a:t>
            </a:r>
          </a:p>
        </p:txBody>
      </p:sp>
      <p:pic>
        <p:nvPicPr>
          <p:cNvPr id="4" name="Picture 3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59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4A3B8"/>
                </a:solidFill>
              </a:defRPr>
            </a:pPr>
            <a:r>
              <a:t>Figure 8: Cryptographic audit ledger table displaying SHA-256 block hash chaining for all enforcement events.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393192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Tamper-Evident Verification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Every violation event and configuration change creates an immutable block.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Each block hashes current event payload combined with previous block's SHA-256 hash.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Provides court-admissible forensic proof of continuous chain of custody.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Automated regression test test_28_crypto_hash_tamper_detection guarantees integrity.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Full compliance with ISO 39001 Road Traffic Safety Management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