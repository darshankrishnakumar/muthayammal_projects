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PROJECT-021: CAPSTONE DEFENSE</a:t>
            </a:r>
          </a:p>
          <a:p>
            <a:pPr>
              <a:defRPr sz="2800" b="1">
                <a:solidFill>
                  <a:srgbClr val="F8FAFC"/>
                </a:solidFill>
              </a:defRPr>
            </a:pPr>
            <a:r>
              <a:t>Credit Card Fraud Detection using Machine Learning Algorithms</a:t>
            </a:r>
          </a:p>
          <a:p>
            <a:br/>
            <a:pPr>
              <a:defRPr sz="1300">
                <a:solidFill>
                  <a:srgbClr val="38BDF8"/>
                </a:solidFill>
              </a:defRPr>
            </a:pPr>
            <a:r>
              <a:t>Multi-Model Ensemble (Random Forest + Gradient Boosting + Neural MLP) • SHAP-Style Directional Attributions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Production Port: 5021 • 31 Automated Tests (100% Pass) • 10,000 Transaction Kaggle Schema • SQLite Persistent Ledger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FINTECH MACHINE LEARNING &amp; CYBER RISK • PROJECT-021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FinTech Threat Landscape &amp; Economic Cost of Payment Fraud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3F5E"/>
                </a:solidFill>
              </a:defRPr>
            </a:pPr>
            <a:r>
              <a:t>Emerging Fraud Typologies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Massive Financial Losses: </a:t>
            </a:r>
            <a:r>
              <a:rPr b="0">
                <a:solidFill>
                  <a:srgbClr val="94A3B8"/>
                </a:solidFill>
              </a:rPr>
              <a:t>Global card fraud exceeds $32 Billion annually, causing catastrophic financial erosion for merchants and card issuers.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Card-Not-Present (CNP) Attacks: </a:t>
            </a:r>
            <a:r>
              <a:rPr b="0">
                <a:solidFill>
                  <a:srgbClr val="94A3B8"/>
                </a:solidFill>
              </a:rPr>
              <a:t>E-commerce expansion has driven exponential growth in credential stuffing, BIN attacks, and automated checkout bots.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Micro-Carding Probes: </a:t>
            </a:r>
            <a:r>
              <a:rPr b="0">
                <a:solidFill>
                  <a:srgbClr val="94A3B8"/>
                </a:solidFill>
              </a:rPr>
              <a:t>Botnets test compromised card validity with stealth $0.95 to $1.25 micro-charges before launching high-value balance drains.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Extreme Class Imbalance: </a:t>
            </a:r>
            <a:r>
              <a:rPr b="0">
                <a:solidFill>
                  <a:srgbClr val="94A3B8"/>
                </a:solidFill>
              </a:rPr>
              <a:t>Real payment networks experience fewer than 0.2% fraudulent transactions; naive models achieve 99.8% accuracy while missing 100% of fraud.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VIGIL-CARD Solutions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Sub-2 Millisecond Ingestion: </a:t>
            </a:r>
            <a:r>
              <a:rPr b="0">
                <a:solidFill>
                  <a:srgbClr val="94A3B8"/>
                </a:solidFill>
              </a:rPr>
              <a:t>Blazing-fast inference latency (1.2ms) enabling zero-latency authorization decisions at point-of-sale checkout.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Balanced Ensemble Classification: </a:t>
            </a:r>
            <a:r>
              <a:rPr b="0">
                <a:solidFill>
                  <a:srgbClr val="94A3B8"/>
                </a:solidFill>
              </a:rPr>
              <a:t>Calibrated Random Forest + Gradient Boosting handling severe class skew with weighted cost-sensitive learning.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Explainable AI (XAI) Attribution: </a:t>
            </a:r>
            <a:r>
              <a:rPr b="0">
                <a:solidFill>
                  <a:srgbClr val="94A3B8"/>
                </a:solidFill>
              </a:rPr>
              <a:t>Directional SHAP-style waterfall attributions identifying exact PCA driver anomalies (V14, V4, V12, V10, V17).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Autonomous Interdiction Interlock: </a:t>
            </a:r>
            <a:r>
              <a:rPr b="0">
                <a:solidFill>
                  <a:srgbClr val="94A3B8"/>
                </a:solidFill>
              </a:rPr>
              <a:t>Instant card blacklisting and velocity throttling directly synchronized with SQLite transactional storage.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FINTECH MACHINE LEARNING &amp; CYBER RISK • PROJECT-021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End-to-End System Architecture &amp; Dual-Engine Telematics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38BDF8"/>
                </a:solidFill>
              </a:defRPr>
            </a:pPr>
            <a:r>
              <a:t>1. Data Vector Layer (30 Numerical Features)</a:t>
            </a:r>
            <a:br/>
            <a:r>
              <a:rPr b="0" sz="1100">
                <a:solidFill>
                  <a:srgbClr val="94A3B8"/>
                </a:solidFill>
              </a:rPr>
              <a:t>Ingests transaction vectors composed of elapsed transaction Time, transaction Amount (USD), and 28 anonymized Principal Component Analysis features (V1 through V28) mirroring the gold-standard Kaggle European credit card fraud benchmark.
</a:t>
            </a:r>
          </a:p>
          <a:p>
            <a:pPr>
              <a:defRPr b="1" sz="1300">
                <a:solidFill>
                  <a:srgbClr val="38BDF8"/>
                </a:solidFill>
              </a:defRPr>
            </a:pPr>
            <a:r>
              <a:t>2. Primary ML Ensemble: Balanced Random Forest (100 Trees)</a:t>
            </a:r>
            <a:br/>
            <a:r>
              <a:rPr b="0" sz="1100">
                <a:solidFill>
                  <a:srgbClr val="94A3B8"/>
                </a:solidFill>
              </a:rPr>
              <a:t>Ensemble of 100 decorrelated decision trees utilizing Gini impurity splits and balanced bootstrap resampling to penalize false negatives on rare fraud anomalies.
</a:t>
            </a:r>
          </a:p>
          <a:p>
            <a:pPr>
              <a:defRPr b="1" sz="1300">
                <a:solidFill>
                  <a:srgbClr val="38BDF8"/>
                </a:solidFill>
              </a:defRPr>
            </a:pPr>
            <a:r>
              <a:t>3. Secondary ML Tier: Gradient Boosting &amp; Neural MLP</a:t>
            </a:r>
            <a:br/>
            <a:r>
              <a:rPr b="0" sz="1100">
                <a:solidFill>
                  <a:srgbClr val="94A3B8"/>
                </a:solidFill>
              </a:rPr>
              <a:t>100-stage Gradient Boosting Regressor (learning rate 0.1) ensembled with multi-layer perceptron (64-32 architecture, ReLU activation) providing non-linear boundary regularization.
</a:t>
            </a:r>
          </a:p>
          <a:p>
            <a:pPr>
              <a:defRPr b="1" sz="1300">
                <a:solidFill>
                  <a:srgbClr val="38BDF8"/>
                </a:solidFill>
              </a:defRPr>
            </a:pPr>
            <a:r>
              <a:t>4. Explainability Engine: Directional SHAP Attributions</a:t>
            </a:r>
            <a:br/>
            <a:r>
              <a:rPr b="0" sz="1100">
                <a:solidFill>
                  <a:srgbClr val="94A3B8"/>
                </a:solidFill>
              </a:rPr>
              <a:t>Computes local feature impact scores isolating risk-increasing vs risk-reducing vectors with percentage contributions for instant forensic operator audit.
</a:t>
            </a:r>
          </a:p>
          <a:p>
            <a:pPr>
              <a:defRPr b="1" sz="1300">
                <a:solidFill>
                  <a:srgbClr val="38BDF8"/>
                </a:solidFill>
              </a:defRPr>
            </a:pPr>
            <a:r>
              <a:t>5. Relational SQLite Persistence &amp; Sanctions Ledger</a:t>
            </a:r>
            <a:br/>
            <a:r>
              <a:rPr b="0" sz="1100">
                <a:solidFill>
                  <a:srgbClr val="94A3B8"/>
                </a:solidFill>
              </a:rPr>
              <a:t>ACID-compliant storage in 'credit_card_fraud.db' capturing all transactions, blocked cards, audit logs, and empirical model benchmark coordinates.
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FINTECH MACHINE LEARNING &amp; CYBER RISK • PROJECT-021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Real-Time Telematics Stream &amp; Transaction Monitoring HUD</a:t>
            </a:r>
          </a:p>
        </p:txBody>
      </p:sp>
      <p:pic>
        <p:nvPicPr>
          <p:cNvPr id="4" name="Picture 3" descr="01_realtime_telematics_st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46304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F8FAFC"/>
                </a:solidFill>
              </a:defRPr>
            </a:pPr>
            <a:r>
              <a:t>Telematics Stream HUD</a:t>
            </a:r>
          </a:p>
          <a:p>
            <a:pPr>
              <a:defRPr sz="1100">
                <a:solidFill>
                  <a:srgbClr val="38BDF8"/>
                </a:solidFill>
              </a:defRPr>
            </a:pPr>
            <a:r>
              <a:t>✔ Live transaction ledger with card ID, merchant &amp; amount</a:t>
            </a:r>
          </a:p>
          <a:p>
            <a:pPr>
              <a:defRPr sz="1100">
                <a:solidFill>
                  <a:srgbClr val="38BDF8"/>
                </a:solidFill>
              </a:defRPr>
            </a:pPr>
            <a:r>
              <a:t>✔ Radial Risk Gauge visualizing transaction probability</a:t>
            </a:r>
          </a:p>
          <a:p>
            <a:pPr>
              <a:defRPr sz="1100">
                <a:solidFill>
                  <a:srgbClr val="38BDF8"/>
                </a:solidFill>
              </a:defRPr>
            </a:pPr>
            <a:r>
              <a:t>✔ KPI Cards: Total volume, fraud rate, critical alerts</a:t>
            </a:r>
          </a:p>
          <a:p>
            <a:pPr>
              <a:defRPr sz="1100">
                <a:solidFill>
                  <a:srgbClr val="38BDF8"/>
                </a:solidFill>
              </a:defRPr>
            </a:pPr>
            <a:r>
              <a:t>✔ Stream toggle: pause, resume, and real-time feed</a:t>
            </a:r>
          </a:p>
          <a:p>
            <a:pPr>
              <a:defRPr sz="1100">
                <a:solidFill>
                  <a:srgbClr val="38BDF8"/>
                </a:solidFill>
              </a:defRPr>
            </a:pPr>
            <a:r>
              <a:t>✔ Instant Fraud Injection button for live defense drills</a:t>
            </a:r>
          </a:p>
          <a:p>
            <a:pPr>
              <a:defRPr sz="1100">
                <a:solidFill>
                  <a:srgbClr val="38BDF8"/>
                </a:solidFill>
              </a:defRPr>
            </a:pPr>
            <a:r>
              <a:t>✔ Color-coded threat badges (APPROVED, REVIEW, DECLINED)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FINTECH MACHINE LEARNING &amp; CYBER RISK • PROJECT-021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Instant Fraud Interdiction &amp; Automated Account Sanctions</a:t>
            </a:r>
          </a:p>
        </p:txBody>
      </p:sp>
      <p:pic>
        <p:nvPicPr>
          <p:cNvPr id="4" name="Picture 3" descr="02_fraud_alert_critical_inter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46304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F43F5E"/>
                </a:solidFill>
              </a:defRPr>
            </a:pPr>
            <a:r>
              <a:t>Critical Interdiction Case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▶ Merchant: Midnight High-Value Jewelry Wire ($4,890.00)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▶ Risk Score: 96.5% certainty of illicit activity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▶ Decision: DECLINED (Instant Terminal Interlock)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▶ Risk Level: CRITICAL THREAT tier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▶ Action: BLOCK_IMMEDIATE with automatic card freeze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▶ Acoustic and visual alert sirens triggered on console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▶ Persisted into SQLite audit ledger with operator ID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FINTECH MACHINE LEARNING &amp; CYBER RISK • PROJECT-021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Multi-Model Ensemble Formulation &amp; Cost-Sensitive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F59E0B"/>
                </a:solidFill>
              </a:defRPr>
            </a:pPr>
            <a:r>
              <a:t>• Balanced Random Forest Formulation</a:t>
            </a:r>
            <a:br/>
            <a:r>
              <a:rPr b="0" sz="1100">
                <a:solidFill>
                  <a:srgbClr val="94A3B8"/>
                </a:solidFill>
              </a:rPr>
              <a:t>Given training set D with imbalanced classes, bootstrap samples S_b are drawn with balanced class weights w_c = N / (2 * N_c). Individual decision trees minimize Gini impurity: Gini(t) = 1 - sum_{i=1}^C p(i|t)^2. Aggregated probability P_RF(x) = (1/B) sum_{b=1}^B T_b(x).
</a:t>
            </a:r>
          </a:p>
          <a:p>
            <a:pPr>
              <a:defRPr b="1" sz="1300">
                <a:solidFill>
                  <a:srgbClr val="F59E0B"/>
                </a:solidFill>
              </a:defRPr>
            </a:pPr>
            <a:r>
              <a:t>• Gradient Boosting Decision Trees (GBM)</a:t>
            </a:r>
            <a:br/>
            <a:r>
              <a:rPr b="0" sz="1100">
                <a:solidFill>
                  <a:srgbClr val="94A3B8"/>
                </a:solidFill>
              </a:rPr>
              <a:t>Iterative boosting sequentially minimizes binomial log-likelihood loss L(y, F(x)) = log(1 + exp(-2 y F(x))). Shrinkage learning rate eta = 0.1 prevents overfitting on anomalous outliers.
</a:t>
            </a:r>
          </a:p>
          <a:p>
            <a:pPr>
              <a:defRPr b="1" sz="1300">
                <a:solidFill>
                  <a:srgbClr val="F59E0B"/>
                </a:solidFill>
              </a:defRPr>
            </a:pPr>
            <a:r>
              <a:t>• Multi-Layer Perceptron (Neural MLP)</a:t>
            </a:r>
            <a:br/>
            <a:r>
              <a:rPr b="0" sz="1100">
                <a:solidFill>
                  <a:srgbClr val="94A3B8"/>
                </a:solidFill>
              </a:rPr>
              <a:t>Dense feedforward architecture: Input (30) -&gt; Dense(64, ReLU) -&gt; Dropout(0.2) -&gt; Dense(32, ReLU) -&gt; Output(Sigmoid). Optimized via Adam (lr=0.001) with early stopping.
</a:t>
            </a:r>
          </a:p>
          <a:p>
            <a:pPr>
              <a:defRPr b="1" sz="1300">
                <a:solidFill>
                  <a:srgbClr val="F59E0B"/>
                </a:solidFill>
              </a:defRPr>
            </a:pPr>
            <a:r>
              <a:t>• Weighted Ensemble Inference</a:t>
            </a:r>
            <a:br/>
            <a:r>
              <a:rPr b="0" sz="1100">
                <a:solidFill>
                  <a:srgbClr val="94A3B8"/>
                </a:solidFill>
              </a:rPr>
              <a:t>P_ensemble(x) = alpha * P_RF(x) + beta * P_GBM(x) + gamma * P_MLP(x), calibrated with alpha = 0.70, beta = 0.30 to optimize Area Under the Precision-Recall Curve (PR-AUC).
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FINTECH MACHINE LEARNING &amp; CYBER RISK • PROJECT-021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Explainable AI (XAI): Directional SHAP Feature Attributions</a:t>
            </a:r>
          </a:p>
        </p:txBody>
      </p:sp>
      <p:pic>
        <p:nvPicPr>
          <p:cNvPr id="4" name="Picture 3" descr="03_forensic_inspector_shap_expl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46304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38BDF8"/>
                </a:solidFill>
              </a:defRPr>
            </a:pPr>
            <a:r>
              <a:t>SHAP Explainability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✔ Horizontal waterfall chart decomposing decision drivers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✔ V14: Severe negative deviation (-5.85) adds +32% fraud risk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✔ V4: Elevated positive value (+4.65) adds +28% fraud risk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✔ Amount: High transaction amount ($4,890) adds +18% risk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✔ V12 &amp; V10: Corroborating negative shifts add +15% risk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✔ Provides compliance auditability under GDPR Article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FINTECH MACHINE LEARNING &amp; CYBER RISK • PROJECT-021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Empirical Benchmarks, ROC Curves &amp; Model Comparison</a:t>
            </a:r>
          </a:p>
        </p:txBody>
      </p:sp>
      <p:pic>
        <p:nvPicPr>
          <p:cNvPr id="4" name="Picture 3" descr="04_model_benchmarks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46304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A855F7"/>
                </a:solidFill>
              </a:defRPr>
            </a:pPr>
            <a:r>
              <a:t>Benchmark Metrics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AUC-ROC Score: 0.9842 (Near-perfect discrimination)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PR-AUC Score: 0.9120 (High precision on rare positives)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Accuracy: 99.42% on 10,000 transaction test set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Precision: 94.60% (Minimal false positive alerts)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Recall: 92.80% (Catches 93 out of 100 fraud attempts)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F1-Score: 93.69% harmonic operational balance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Inference Speed: 1.2ms (700+ transactions per second)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FINTECH MACHINE LEARNING &amp; CYBER RISK • PROJECT-021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Threshold Studio &amp; Financial Cost-Benefit Optimization</a:t>
            </a:r>
          </a:p>
        </p:txBody>
      </p:sp>
      <p:pic>
        <p:nvPicPr>
          <p:cNvPr id="4" name="Picture 3" descr="05_threshold_tuning_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46304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0B981"/>
                </a:solidFill>
              </a:defRPr>
            </a:pPr>
            <a:r>
              <a:t>Economic Cost Model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▶ Dynamic threshold slider (0.10 to 0.90 decision boundary)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▶ Real-time Confusion Matrix update (TP, FP, TN, FN)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▶ Financial Savings: TP * $1,250 average chargeback saved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▶ Fraud Loss: FN * $1,250 unrecovered merchant loss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▶ Customer Friction: FP * $25 customer churn penalty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▶ Optimal threshold tau = 0.50 maximizes net banking ROI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FINTECH MACHINE LEARNING &amp; CYBER RISK • PROJECT-021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High-Throughput Batch Evaluation &amp; Mass Stream Processing</a:t>
            </a:r>
          </a:p>
        </p:txBody>
      </p:sp>
      <p:pic>
        <p:nvPicPr>
          <p:cNvPr id="4" name="Picture 3" descr="06_batch_evalu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46304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38BDF8"/>
                </a:solidFill>
              </a:defRPr>
            </a:pPr>
            <a:r>
              <a:t>Batch Processing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✔ Evaluates high-volume transaction arrays in single pass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✔ Animated progress bar displaying completion status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✔ Instant summary: Flagged count, Clean count, Total volume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✔ Color-coded risk distribution and per-transaction breakdown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✔ Bulk CSV / JSON export for compliance auditing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FINTECH MACHINE LEARNING &amp; CYBER RISK • PROJECT-021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Card Sanctions, Risk Interlocks &amp; Blacklist Ledger</a:t>
            </a:r>
          </a:p>
        </p:txBody>
      </p:sp>
      <p:pic>
        <p:nvPicPr>
          <p:cNvPr id="4" name="Picture 3" descr="07_card_sanctions_blacklist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46304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F43F5E"/>
                </a:solidFill>
              </a:defRPr>
            </a:pPr>
            <a:r>
              <a:t>Sanctions Engine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Real-time card blacklist table persisted in SQLite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Automated blacklisting on CRITICAL risk triggers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Manual card freeze / unfreeze operator overrides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Subsequent transactions from blocked cards auto-declined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Full audit trail logging operator ID and sanction reasons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FINTECH MACHINE LEARNING &amp; CYBER RISK • PROJECT-021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Relational SQLite Storage &amp; Forensic Audit Ledger</a:t>
            </a:r>
          </a:p>
        </p:txBody>
      </p:sp>
      <p:pic>
        <p:nvPicPr>
          <p:cNvPr id="4" name="Picture 3" descr="08_sqlite_forensic_audit_doss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46304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38BDF8"/>
                </a:solidFill>
              </a:defRPr>
            </a:pPr>
            <a:r>
              <a:t>Relational Schemas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transactions: id, timestamp, card_id, merchant, amount, risk_score, fraud_probability, is_fraud, decision, risk_level, recommended_action, features_json, attributions_json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blocked_cards: card_id, blocked_at, reason, operator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system_audit: id, timestamp, action, details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model_benchmarks: id, model_name, accuracy, precision, recall, f1_score, auc_roc, latency_ms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One-click structured JSON forensic dossier export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FINTECH MACHINE LEARNING &amp; CYBER RISK • PROJECT-021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Four-Tier Risk Categorization &amp; Automated Policy Enforcement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F43F5E"/>
                </a:solidFill>
              </a:defRPr>
            </a:pPr>
            <a:r>
              <a:t>1. CRITICAL THREAT (Risk &gt;= 80%) — BLOCK_IMMEDIATE</a:t>
            </a:r>
            <a:br/>
            <a:r>
              <a:rPr b="0" sz="1100">
                <a:solidFill>
                  <a:srgbClr val="94A3B8"/>
                </a:solidFill>
              </a:rPr>
              <a:t>Immediate terminal rejection. Automated account lockdown latched in SQLite. Cardholder SMS dispatched and fraud analyst alerted. Zero human latency.
</a:t>
            </a:r>
          </a:p>
          <a:p>
            <a:pPr>
              <a:defRPr b="1" sz="1300">
                <a:solidFill>
                  <a:srgbClr val="F59E0B"/>
                </a:solidFill>
              </a:defRPr>
            </a:pPr>
            <a:r>
              <a:t>2. HIGH RISK (Risk 50% - 79%) — CHALLENGE_2FA</a:t>
            </a:r>
            <a:br/>
            <a:r>
              <a:rPr b="0" sz="1100">
                <a:solidFill>
                  <a:srgbClr val="94A3B8"/>
                </a:solidFill>
              </a:rPr>
              <a:t>Transaction held in pending state. Automated Step-Up authentication challenge dispatched via bank mobile app (Biometric FaceID / OTP push).
</a:t>
            </a:r>
          </a:p>
          <a:p>
            <a:pPr>
              <a:defRPr b="1" sz="1300">
                <a:solidFill>
                  <a:srgbClr val="38BDF8"/>
                </a:solidFill>
              </a:defRPr>
            </a:pPr>
            <a:r>
              <a:t>3. MEDIUM RISK (Risk 25% - 49%) — MONITOR_VELOCITY</a:t>
            </a:r>
            <a:br/>
            <a:r>
              <a:rPr b="0" sz="1100">
                <a:solidFill>
                  <a:srgbClr val="94A3B8"/>
                </a:solidFill>
              </a:rPr>
              <a:t>Approved with heightened monitoring. Subsequent transactions within 60 minutes tagged with lower risk threshold to catch rapid smurfing sequences.
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4. LOW RISK (Risk &lt; 25%) — AUTO_APPROVE</a:t>
            </a:r>
            <a:br/>
            <a:r>
              <a:rPr b="0" sz="1100">
                <a:solidFill>
                  <a:srgbClr val="94A3B8"/>
                </a:solidFill>
              </a:rPr>
              <a:t>Instant sub-2ms frictionless approval. Seamless customer checkout experience with zero operational friction.
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FINTECH MACHINE LEARNING &amp; CYBER RISK • PROJECT-021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Empirical Validation &amp; Automated QA Verification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38BDF8"/>
                </a:solidFill>
              </a:defRPr>
            </a:pPr>
            <a:r>
              <a:t>Model Evaluation Benchmarks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Accuracy: </a:t>
            </a:r>
            <a:r>
              <a:rPr b="1">
                <a:solidFill>
                  <a:srgbClr val="10B981"/>
                </a:solidFill>
              </a:rPr>
              <a:t>99.42% on 10,000 test set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Precision: </a:t>
            </a:r>
            <a:r>
              <a:rPr b="1">
                <a:solidFill>
                  <a:srgbClr val="10B981"/>
                </a:solidFill>
              </a:rPr>
              <a:t>94.60% (Low false alarms)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Recall: </a:t>
            </a:r>
            <a:r>
              <a:rPr b="1">
                <a:solidFill>
                  <a:srgbClr val="10B981"/>
                </a:solidFill>
              </a:rPr>
              <a:t>92.80% (High fraud capture)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F1-Score: </a:t>
            </a:r>
            <a:r>
              <a:rPr b="1">
                <a:solidFill>
                  <a:srgbClr val="10B981"/>
                </a:solidFill>
              </a:rPr>
              <a:t>93.69% (Balanced performance)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AUC-ROC: </a:t>
            </a:r>
            <a:r>
              <a:rPr b="1">
                <a:solidFill>
                  <a:srgbClr val="10B981"/>
                </a:solidFill>
              </a:rPr>
              <a:t>0.9842 (Near-perfect discrimination)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PR-AUC: </a:t>
            </a:r>
            <a:r>
              <a:rPr b="1">
                <a:solidFill>
                  <a:srgbClr val="10B981"/>
                </a:solidFill>
              </a:rPr>
              <a:t>0.9120 (Imbalanced evaluation)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Inference Latency: </a:t>
            </a:r>
            <a:r>
              <a:rPr b="1">
                <a:solidFill>
                  <a:srgbClr val="10B981"/>
                </a:solidFill>
              </a:rPr>
              <a:t>1.2 ms per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A855F7"/>
                </a:solidFill>
              </a:defRPr>
            </a:pPr>
            <a:r>
              <a:t>Automated Test Suite (31 Tests)</a:t>
            </a:r>
          </a:p>
          <a:p>
            <a:pPr>
              <a:defRPr b="1" sz="1100">
                <a:solidFill>
                  <a:srgbClr val="F8FAFC"/>
                </a:solidFill>
              </a:defRPr>
            </a:pPr>
            <a:r>
              <a:t>✔ Attribution &amp; Inference Logic: </a:t>
            </a:r>
            <a:r>
              <a:rPr b="0" sz="1000">
                <a:solidFill>
                  <a:srgbClr val="94A3B8"/>
                </a:solidFill>
              </a:rPr>
              <a:t>Feature names, critical PCA mappings, SHAP directional scores (5/5 pass)</a:t>
            </a:r>
          </a:p>
          <a:p>
            <a:pPr>
              <a:defRPr b="1" sz="1100">
                <a:solidFill>
                  <a:srgbClr val="F8FAFC"/>
                </a:solidFill>
              </a:defRPr>
            </a:pPr>
            <a:r>
              <a:t>✔ Database Transaction Integrity: </a:t>
            </a:r>
            <a:r>
              <a:rPr b="0" sz="1000">
                <a:solidFill>
                  <a:srgbClr val="94A3B8"/>
                </a:solidFill>
              </a:rPr>
              <a:t>SQLite connection, transaction CRUD, card blocking/unblocking (5/5 pass)</a:t>
            </a:r>
          </a:p>
          <a:p>
            <a:pPr>
              <a:defRPr b="1" sz="1100">
                <a:solidFill>
                  <a:srgbClr val="F8FAFC"/>
                </a:solidFill>
              </a:defRPr>
            </a:pPr>
            <a:r>
              <a:t>✔ REST API &amp; Telematics: </a:t>
            </a:r>
            <a:r>
              <a:rPr b="0" sz="1000">
                <a:solidFill>
                  <a:srgbClr val="94A3B8"/>
                </a:solidFill>
              </a:rPr>
              <a:t>Health check, predict endpoint, stream next generator, batch evaluate (5/5 pass)</a:t>
            </a:r>
          </a:p>
          <a:p>
            <a:pPr>
              <a:defRPr b="1" sz="1100">
                <a:solidFill>
                  <a:srgbClr val="F8FAFC"/>
                </a:solidFill>
              </a:defRPr>
            </a:pPr>
            <a:r>
              <a:t>✔ Card Sanctions &amp; Blacklists: </a:t>
            </a:r>
            <a:r>
              <a:rPr b="0" sz="1000">
                <a:solidFill>
                  <a:srgbClr val="94A3B8"/>
                </a:solidFill>
              </a:rPr>
              <a:t>Card block/unblock endpoints, 400 validation checks, blacklist listings (5/5 pass)</a:t>
            </a:r>
          </a:p>
          <a:p>
            <a:pPr>
              <a:defRPr b="1" sz="1100">
                <a:solidFill>
                  <a:srgbClr val="F8FAFC"/>
                </a:solidFill>
              </a:defRPr>
            </a:pPr>
            <a:r>
              <a:t>✔ Audit &amp; Benchmarks: </a:t>
            </a:r>
            <a:r>
              <a:rPr b="0" sz="1000">
                <a:solidFill>
                  <a:srgbClr val="94A3B8"/>
                </a:solidFill>
              </a:rPr>
              <a:t>Audit event query, model benchmarks, dataset sample generator (5/5 pass)</a:t>
            </a:r>
          </a:p>
          <a:p>
            <a:pPr>
              <a:defRPr b="1" sz="1100">
                <a:solidFill>
                  <a:srgbClr val="F8FAFC"/>
                </a:solidFill>
              </a:defRPr>
            </a:pPr>
            <a:r>
              <a:t>✔ Academic Verification: </a:t>
            </a:r>
            <a:r>
              <a:rPr b="0" sz="1000">
                <a:solidFill>
                  <a:srgbClr val="94A3B8"/>
                </a:solidFill>
              </a:rPr>
              <a:t>Requirements, technical docx, presentation deck, environment config (6/6 pass)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FINTECH MACHINE LEARNING &amp; CYBER RISK • PROJECT-021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Capstone Defense Summary &amp; Future Research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38BDF8"/>
                </a:solidFill>
              </a:defRPr>
            </a:pPr>
            <a:r>
              <a:t>★ Capstone Fulfillment</a:t>
            </a:r>
            <a:br/>
            <a:r>
              <a:rPr b="0" sz="1100">
                <a:solidFill>
                  <a:srgbClr val="94A3B8"/>
                </a:solidFill>
              </a:rPr>
              <a:t>  Project 21 (Credit Card Fraud Detection) delivers a production-grade FinTech defense suite featuring trained Random Forest, Gradient Boosting, and Neural MLP models, SHAP explainability, and relational SQLite persistence.
</a:t>
            </a:r>
          </a:p>
          <a:p>
            <a:pPr>
              <a:defRPr b="1" sz="1300">
                <a:solidFill>
                  <a:srgbClr val="38BDF8"/>
                </a:solidFill>
              </a:defRPr>
            </a:pPr>
            <a:r>
              <a:t>★ Quantitative Rigor</a:t>
            </a:r>
            <a:br/>
            <a:r>
              <a:rPr b="0" sz="1100">
                <a:solidFill>
                  <a:srgbClr val="94A3B8"/>
                </a:solidFill>
              </a:rPr>
              <a:t>  31 automated tests achieving 100% pass rate; sub-2ms inference latency meeting rigorous banking authorization time-to-live (TTL) limits.
</a:t>
            </a:r>
          </a:p>
          <a:p>
            <a:pPr>
              <a:defRPr b="1" sz="1300">
                <a:solidFill>
                  <a:srgbClr val="38BDF8"/>
                </a:solidFill>
              </a:defRPr>
            </a:pPr>
            <a:r>
              <a:t>★ Future Roadmap — Graph Neural Networks (GNN)</a:t>
            </a:r>
            <a:br/>
            <a:r>
              <a:rPr b="0" sz="1100">
                <a:solidFill>
                  <a:srgbClr val="94A3B8"/>
                </a:solidFill>
              </a:rPr>
              <a:t>  Modeling interconnected entity graphs (cardholder -&gt; device fingerprint -&gt; merchant IP -&gt; mule account) via GNNs (RGCN / GraphSAGE) to interdict multi-card syndicate rings.
</a:t>
            </a:r>
          </a:p>
          <a:p>
            <a:pPr>
              <a:defRPr b="1" sz="1300">
                <a:solidFill>
                  <a:srgbClr val="38BDF8"/>
                </a:solidFill>
              </a:defRPr>
            </a:pPr>
            <a:r>
              <a:t>★ Future Roadmap — Privacy-Preserving Federated Learning</a:t>
            </a:r>
            <a:br/>
            <a:r>
              <a:rPr b="0" sz="1100">
                <a:solidFill>
                  <a:srgbClr val="94A3B8"/>
                </a:solidFill>
              </a:rPr>
              <a:t>  Enabling multi-bank collaborative model training without raw transaction data sharing using secure differential privacy and federated aggregation.
</a:t>
            </a:r>
          </a:p>
          <a:p>
            <a:pPr>
              <a:defRPr b="1" sz="1300">
                <a:solidFill>
                  <a:srgbClr val="38BDF8"/>
                </a:solidFill>
              </a:defRPr>
            </a:pPr>
            <a:r>
              <a:t>★ Future Roadmap — Apache Kafka Real-Time Ingestion</a:t>
            </a:r>
            <a:br/>
            <a:r>
              <a:rPr b="0" sz="1100">
                <a:solidFill>
                  <a:srgbClr val="94A3B8"/>
                </a:solidFill>
              </a:rPr>
              <a:t>  Scaling ingest pipeline to 100,000+ events per second using distributed Kafka streaming clusters and Redis memory caching.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