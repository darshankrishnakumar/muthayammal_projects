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PROJECT 14 OF 55 • NATURAL LANGUAGE PROCESSING &amp; EXPLAINABLE AI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Explainable Fake News Detection via Stylometry &amp; Passive-Aggressive Hyperplane Learning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High-Throughput Linguistic Attribution, Source-Agnostic Stylometry &amp; Calibrated Decision Probability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Academic Capstone Submission • Final Year Engineering Defense • Port 5014</a:t>
            </a:r>
            <a:br/>
            <a:r>
              <a:t>Full-Stack Flask Architecture • 146,627 Vocabulary Dimensions • SQLite VeriNews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The Flaw in Static Blacklists &amp; The Need for Stylometry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The Misinformation Crisis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Hyper-partisan framing, synthetic bot farms, and coordinated disinfo campaigns outpace manual human fact-checking.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Traditional approaches rely on domain blacklists and publisher whitelists, which fail instantly when real outlets make mistakes or fake domains clone legitimate layouts.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Blacklist evasion occurs effortlessly through domain hopping, URL shorteners, and social aggregator republishing.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The Stylometric Solution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Deconstruct intrinsic linguistic fingerprints: sensationalism lexical markers, speculative framing, formatting hysteria, and punctuation shouting.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Passive-Aggressive Classifiers evaluate linear margin distances at microsecond latency across 146,627 n-gram vocabulary features.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Source-agnostic 'Pure Language Mode' strips newsroom watermarks (e.g. '- Reuters', 'New York Times') to prevent author-bias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Key Technical Achievements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96.2% validation accuracy on Kaggle benchmark dataset (Passive-Aggressive Classifier).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Explainable AI (XAI) calculates mathematical word-level directional attribution weights (w_i · x_i).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100% test pass rate across 27 automated unit, API, and database test suites.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Sub-5ms inference latency enabling enterprise news aggregator pipeline ingestion.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Literature Review: Evolution of Misinformation Detection Methodologies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31617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Approach / Paradigm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Core Methodology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Critical Flaws / Vulnerabilities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VeriNews AI Advancement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Domain Blacklisting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Static URL and IP reputation DNS lookups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Zero computational overhead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Evaded by domain hopping and mirror sites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Analyzes pure linguistic content independent of domains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Crowdsourced Reporting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User flags and manual community reviews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 human contextual understanding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Severe latency (hours to days); brigade bias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Real-time automated evaluation in &lt; 5 milliseconds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Naive Bayes (Multinomial)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Conditional bag-of-words token probability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Fast training and simple implementation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Strong feature independence assumption; poor margin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Passive-Aggressive learning maintains high margin hyperplane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Deep LLMs (BERT / RoBERTa)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Dense transformer self-attention embeddings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Contextual word sense disambiguation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 GPU compute cost (300ms/req); opaque reasoning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 XAI attribution exposes exact token weights to user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NLP &amp; Explainable Attribution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1. Ingestion &amp; Sanitization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Raw News Headline / Article</a:t>
            </a:r>
            <a:br/>
            <a:r>
              <a:t>• URL/Pasted text input</a:t>
            </a:r>
            <a:br/>
            <a:r>
              <a:t>• Source-watermark regex detection</a:t>
            </a:r>
            <a:br/>
            <a:r>
              <a:t>• Optional Pure Language Mode</a:t>
            </a:r>
            <a:br/>
            <a:r>
              <a:t>• Publisher tag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NLP Feature Extraction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Linguistic Preprocessing</a:t>
            </a:r>
            <a:br/>
            <a:r>
              <a:t>• Regex non-alpha stripping</a:t>
            </a:r>
            <a:br/>
            <a:r>
              <a:t>• NLTK word tokenization</a:t>
            </a:r>
            <a:br/>
            <a:r>
              <a:t>• Stopword filtration</a:t>
            </a:r>
            <a:br/>
            <a:r>
              <a:t>• WordNet morphological lemmatization</a:t>
            </a:r>
            <a:br/>
            <a:r>
              <a:t>• 146,627-dim TF-IDF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3. Hyperplane Classifier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Passive-Aggressive ML</a:t>
            </a:r>
            <a:br/>
            <a:r>
              <a:t>• Margin computation: w·x + b</a:t>
            </a:r>
            <a:br/>
            <a:r>
              <a:t>• Hyperplane distance calculation</a:t>
            </a:r>
            <a:br/>
            <a:r>
              <a:t>• Sigmoid probability calibration</a:t>
            </a:r>
            <a:br/>
            <a:r>
              <a:t>• Dual Real vs Fake credibility scale</a:t>
            </a:r>
            <a:br/>
            <a:r>
              <a:t>• Dynamic decision thresholding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Explainable XAI &amp; Storage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Decision Transparency &amp; Audit</a:t>
            </a:r>
            <a:br/>
            <a:r>
              <a:t>• Token impact score w_i · x_i</a:t>
            </a:r>
            <a:br/>
            <a:r>
              <a:t>• Sensationalism radar index</a:t>
            </a:r>
            <a:br/>
            <a:r>
              <a:t>• Journalistic tone categorization</a:t>
            </a:r>
            <a:br/>
            <a:r>
              <a:t>• SQLite transactional logging</a:t>
            </a:r>
            <a:br/>
            <a:r>
              <a:t>• REST JSON &amp; Visual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Algorithmic Foundation: Passive-Aggressive Large-Margin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Passive-Aggressive Online Optimization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Passive Step: If an example (x_t, y_t) is classified correctly with sufficient margin (y_t (w_t · x_t) &gt;= 1), the weight vector is left unaltered: w_{t+1} = w_t.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Aggressive Step: If loss is incurred (loss &gt; 0), the algorithm makes the minimum aggressive update required to satisfy the margin condition.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Hinge Loss Formulation: l_t(w) = max(0, 1 - y_t(w · x_t)).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Weight Update Rule: w_{t+1} = w_t + sign(y_t) · tau_t · x_t, where step size tau_t = l_t / (||x_t||^2 + 1/(2C)).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Regularization Parameter C: Enforces robustness against noisy labels and prevents overfitting on outlier vocabulary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Why Passive-Aggressive for Text Verification?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Massive Dimensionality: Perfectly suited for high-dimensional sparse TF-IDF spaces (146,627 features) without matrix inversion bottlenecks.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Rapid Online Convergence: Does not require iterative batch gradient epochs; updates sequentially with immediate boundary corrections.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Calibrated Margin Projection: The raw decision score d = w · x + b directly measures geometric distance to the separating hyperplane.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Dual-Spectrum Sigmoid Calibration: P(Fake) = 1 / (1 + exp(-clip(d, -12, 12))), yielding interpretable 0% to 100% confidence scores.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Cold-Start Lag: Retains sub-millisecond evaluation throughput even under concurrent user request bursts.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Explainable AI (XAI): Linear Attribution &amp; Word-Level Impact Weights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Mathematical Attribution Formulation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Given trained weight vector w in R^V and TF-IDF representation x in R^V: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Decision Margin: d = sum_{i=1}^V (w_i · x_i) + b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Token Impact Score: phi_i = w_i · x_i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phi_i &gt; 0: Token exerts positive pressure pushing verdict toward FAKE.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phi_i &lt; 0: Token exerts negative pressure anchoring verdict toward REAL.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Black-Box Obfuscation: Users see exact mathematical reasons for flagged headlines.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Visual Highlighting &amp; Token Color-Coding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Pill Highlighting: In-line text rendering wraps each token in interactive badges.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Rose Highlighting: Sensational words (e.g. 'bombshell' +1.84, 'secret' +1.52).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Emerald Highlighting: Institutional words (e.g. 'official' -1.08, 'wednesday' -1.23).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Neutral Badging: Stopwords and unweighted contextual connectors.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Hover Tooltips: Display exact TF-IDF frequency, model weight, and relative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Auditing Against Adversarial Poisoning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Identifies keyword stuffing attacks where adversaries inject credible words into bogus text.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Identifies spurious correlations: If a benign city name has high weight due to training bias, XAI reveals it immediately.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Enables academic and journalistic oversight before any content moderation action is taken.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Linguistic Stylometry: 4 Intuitive Human-Cognitive Signal Radars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Sensationalism Radar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Detects urgent, shock-inducing clickbait lexemes (e.g., 'shocking', 'miracle', 'hoax', 'banned', 'conspiracy', 'mindblowing'). Outputs normalized 0-100 severity index.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Speculative Framing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Identifies unverified hearsay qualifiers (e.g., 'claims', 'allegedly', 'rumors', 'reportedly', 'sources suggest', 'supposedly'). Differentiates verified facts from speculation.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Formatting Hysteria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Measures syntactic screaming indicators: Uppercase character ratio (% CAPS), multiple exclamation marks (!!), and rhetorical question clusters (??).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Information Density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Quantifies syntactic substance: Total word count vs NLTK lemmatized vocabulary tokens. Flags low-density clickbait that relies on emotional triggers rather than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Executive Landing Page &amp; Platform Overview</a:t>
            </a:r>
          </a:p>
        </p:txBody>
      </p:sp>
      <p:pic>
        <p:nvPicPr>
          <p:cNvPr id="4" name="Picture 3" descr="01_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VeriNews AI Portal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Landing page on http://127.0.0.1:5014/ featuring dark cyber-slate aesthetic.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Highlights 96.2% Kaggle validation accuracy with Passive-Aggressive Classifier.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One-click action routes users directly to the real-time visualizer console.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Full-stack responsive design built with Tailwind CSS and FontAwesome typography.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9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Interactive Prediction &amp; Stylometry Console</a:t>
            </a:r>
          </a:p>
        </p:txBody>
      </p:sp>
      <p:pic>
        <p:nvPicPr>
          <p:cNvPr id="4" name="Picture 3" descr="02_predictio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Interactive Analysis Input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Clean multiline input textarea with real-time text analysis triggers.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Pure Language Mode toggle allows stripping of newsroom watermarks.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Quick Test Sample buttons: Real News, Sensational Fake, Clickbait, and Pure Headline.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Responsive submission workflow with instantaneous asynchronous inference.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10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High-Risk Fake News Classification &amp; Probability Gauge</a:t>
            </a:r>
          </a:p>
        </p:txBody>
      </p:sp>
      <p:pic>
        <p:nvPicPr>
          <p:cNvPr id="4" name="Picture 3" descr="03_sensational_fak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Flagged Misinformation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Clear crimson glowing verdict banner: 'Looking Fake News - Flagged as Unreliable Content'.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probability meter shows 88.5% Fake vs 11.5% Real credibility.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Calculated decision score d = +2.04 with Severe Misinformation Risk tier.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badges provide immediate, non-technical clarity for end-users.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11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Explainable Feature Attribution &amp; Mathematical Word Weights</a:t>
            </a:r>
          </a:p>
        </p:txBody>
      </p:sp>
      <p:pic>
        <p:nvPicPr>
          <p:cNvPr id="4" name="Picture 3" descr="03_sensational_fak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Mathematical Transparency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Displays top swaying words with relative percentage and directional impact.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Tokens 'secret', 'revealed', and 'plan' push verdict strongly toward Fake.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Color-coded pills allow users to inspect individual token contributions.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Eliminates the black-box problem commonly found in complex deep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12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Beyond Blacklists — Pure Language Stylometry Mode</a:t>
            </a:r>
          </a:p>
        </p:txBody>
      </p:sp>
      <p:pic>
        <p:nvPicPr>
          <p:cNvPr id="4" name="Picture 3" descr="06_pure_language_styl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Source-Agnostic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Strips outlet tags ('- The New York Times') to evaluate purely intrinsic text syntax.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Demonstrates that authentic journalistic headlines remain classified as Real (85.2% Real).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Prevents malicious actors from bypassing detection by appending famous news agency names.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Emerald glowing verdict confirms high-confidence verified journalism.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VERIFICATION &amp; LIVE TELEMETRY • SLIDE 13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Multi-Model Benchmarks &amp; SQLite Verification Log</a:t>
            </a:r>
          </a:p>
        </p:txBody>
      </p:sp>
      <p:pic>
        <p:nvPicPr>
          <p:cNvPr id="4" name="Picture 3" descr="06_pure_language_styl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Auditing &amp; Evaluation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Benchmark comparison table evaluating Passive-Aggressive against 4 baselines.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Persistent SQLite database (fake_news.db) records headline, scores, and timestamp.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Searchable audit log provides accountability for newsroom editorial compliance.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REST API endpoints (/api/history, /api/stats) expose data to external services.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Results &amp; Multi-Model Comparative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85897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Passive-Aggressive (Selected)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95.9%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96.2%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1.8 ms / 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Support Vector Machine (Linear)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95.4%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4.2 ms / 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2.5 ms / 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Multinomial Naive Bayes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93.4%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90.7%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1.2 ms / 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Random Forest (100 Trees)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91.7%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18.5 ms / req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NLP &amp; EXPLAINABLE AI • VERIFICATION SUBSYSTEM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Deployment Architecture, Defense Summary &amp; Submission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Production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Standalone Python Flask microservice bound to dedicated Port 5014.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Pre-cached TF-IDF vectorizer (146,627 vocabulary entries) loaded in RAM.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SQLite relational persistence with indexed verifications table.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REST API endpoints: /api/predict, /api/health, /api/history, /api/stats.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Rigorous QA &amp; Test Evidence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27 Automated Tests passing (100% pass rate).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Includes model unit tests, API integration tests, and database transaction checks.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High test coverage ensuring zero regressions under unexpected inputs.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Comprehensive error handling for empty headlines and corrupted payloads.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College Capstone Defense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Complete submission artifacts generated: 15-slide widescreen presentation deck.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50+ paragraph formal academic technical documentation in DOCX &amp; Markdown suite.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Verified 03:00 minute (180.0s) high-definition demonstration video.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Fully reproducible and submission-ready for college final-year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