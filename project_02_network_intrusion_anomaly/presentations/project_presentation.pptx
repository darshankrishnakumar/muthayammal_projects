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PROJECT 02 OF 55 • AUTONOMOUS CYBER DEFENSE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Network Intrusion Detection Using Ensemble Machine Learning and Anomaly Detection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A Dual-Engine Architecture Combining Random Forest, Extra Trees, and Isolation Forest on NSL-KDD Network Traffic</a:t>
            </a:r>
          </a:p>
          <a:p>
            <a:br/>
            <a:pPr>
              <a:defRPr sz="1200">
                <a:solidFill>
                  <a:srgbClr val="38BDF8"/>
                </a:solidFill>
              </a:defRPr>
            </a:pPr>
            <a:r>
              <a:t>Department of Computer Science &amp; Engineering • Final Year Engineering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CYBERSHIELD AI / NETWORK 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500">
                <a:solidFill>
                  <a:srgbClr val="38BDF8"/>
                </a:solidFill>
              </a:defRPr>
            </a:pPr>
            <a:r>
              <a:t>• The Challenge: Escalating Cyber Threats: </a:t>
            </a:r>
            <a:r>
              <a:rPr b="0">
                <a:solidFill>
                  <a:srgbClr val="F8FAFC"/>
                </a:solidFill>
              </a:rPr>
              <a:t>Modern corporate and cloud perimeters face multi-gigabit traffic volumes with automated evasion attacks, sophisticated reconnaissance sweeps, and zero-day intrusion attempts that easily bypass static signature firewalls.</a:t>
            </a: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Core Limitation of Legacy IDS: </a:t>
            </a:r>
            <a:r>
              <a:rPr b="0">
                <a:solidFill>
                  <a:srgbClr val="F8FAFC"/>
                </a:solidFill>
              </a:rPr>
              <a:t>Rule-based Network Intrusion Detection Systems (e.g., Snort) cannot detect novel polymorphic variants and suffer from either catastrophic false-positive rates or slow manual signature update cycles.</a:t>
            </a: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Proposed Solution: Dual-Engine NIDS: </a:t>
            </a:r>
            <a:r>
              <a:rPr b="0">
                <a:solidFill>
                  <a:srgbClr val="F8FAFC"/>
                </a:solidFill>
              </a:rPr>
              <a:t>We design and implement CyberShield AI, a hybrid framework coupling a high-precision supervised ensemble (Random Forest + Extra Trees achieving 98.34% accuracy) with an unsupervised Isolation Forest anomaly detector for zero-day threat discovery.</a:t>
            </a: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Operational SOC Portal: </a:t>
            </a:r>
            <a:r>
              <a:rPr b="0">
                <a:solidFill>
                  <a:srgbClr val="F8FAFC"/>
                </a:solidFill>
              </a:rPr>
              <a:t>Delivered as an end-to-end production application: asynchronous FastAPI REST microservice, transactional SQLite audit database, and responsive dark-mode Security Operations Center (SOC)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CYBERSHIELD AI / NETWORK 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Taxonomy of Network Attacks in Enterprise Perimeters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EF4444"/>
                </a:solidFill>
              </a:defRPr>
            </a:pPr>
            <a:r>
              <a:t>🛡️ DoS (Denial of Service): </a:t>
            </a:r>
            <a:r>
              <a:rPr b="0">
                <a:solidFill>
                  <a:srgbClr val="F8FAFC"/>
                </a:solidFill>
              </a:rPr>
              <a:t>Saturating host resources, memory, or connection state tables. Examples: Neptune (SYN flood), Smurf (ICMP broadcast amplification), Pod, Teardrop, Apache2.</a:t>
            </a:r>
          </a:p>
          <a:p>
            <a:pPr>
              <a:defRPr b="1" sz="1400">
                <a:solidFill>
                  <a:srgbClr val="EF4444"/>
                </a:solidFill>
              </a:defRPr>
            </a:pPr>
            <a:r>
              <a:t>🛡️ Probe (Surveillance &amp; Reconnaissance): </a:t>
            </a:r>
            <a:r>
              <a:rPr b="0">
                <a:solidFill>
                  <a:srgbClr val="F8FAFC"/>
                </a:solidFill>
              </a:rPr>
              <a:t>Probing a network of computers to discover active services, open ports, and operating system fingerprints. Examples: PortSweep, IP Sweep, Nmap, Satan, Mscan, Saint.</a:t>
            </a:r>
          </a:p>
          <a:p>
            <a:pPr>
              <a:defRPr b="1" sz="1400">
                <a:solidFill>
                  <a:srgbClr val="EF4444"/>
                </a:solidFill>
              </a:defRPr>
            </a:pPr>
            <a:r>
              <a:t>🛡️ R2L (Remote to Local): </a:t>
            </a:r>
            <a:r>
              <a:rPr b="0">
                <a:solidFill>
                  <a:srgbClr val="F8FAFC"/>
                </a:solidFill>
              </a:rPr>
              <a:t>An unauthorized remote attacker attempts to exploit vulnerabilities to gain local user privileges. Examples: Guess_Passwd (brute force), FTP_Write, Imap, Phf, WarezMaster.</a:t>
            </a:r>
          </a:p>
          <a:p>
            <a:pPr>
              <a:defRPr b="1" sz="1400">
                <a:solidFill>
                  <a:srgbClr val="EF4444"/>
                </a:solidFill>
              </a:defRPr>
            </a:pPr>
            <a:r>
              <a:t>🛡️ U2R (User to Root): </a:t>
            </a:r>
            <a:r>
              <a:rPr b="0">
                <a:solidFill>
                  <a:srgbClr val="F8FAFC"/>
                </a:solidFill>
              </a:rPr>
              <a:t>A local unprivileged user executes buffer overflows or kernel race conditions to gain superuser / root privileges. Examples: Buffer_Overflow, Rootkit, LoadModule, Perl.</a:t>
            </a:r>
          </a:p>
          <a:p>
            <a:pPr>
              <a:defRPr b="1" sz="1400">
                <a:solidFill>
                  <a:srgbClr val="EF4444"/>
                </a:solidFill>
              </a:defRPr>
            </a:pPr>
            <a:r>
              <a:t>🛡️ Zero-Day &amp; Anomalous Traffic: </a:t>
            </a:r>
            <a:r>
              <a:rPr b="0">
                <a:solidFill>
                  <a:srgbClr val="F8FAFC"/>
                </a:solidFill>
              </a:rPr>
              <a:t>Novel, unseen out-of-distribution traffic patterns lacking historical signatures that require unsupervised isolation tree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CYBERSHIELD AI / NETWORK 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Architecture: 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38BDF8"/>
                </a:solidFill>
              </a:defRPr>
            </a:pPr>
            <a:r>
              <a:t>⚙️ Layer 1 — Traffic Ingestion &amp; Normalization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Raw connection vectors (protocols, connection flags, payload byte counters, sliding-window traffic rates) are ingested via REST API or PCAP feed.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⚙️ Layer 2 — Feature Transformation (111 Dimensions)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Continuous parameters normalized via StandardScaler; categorical headers (protocol_type, service, flag) encoded via OneHotEncoder.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⚙️ Layer 3 — Dual-Inference Machine Learning Engine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1. Supervised Ensemble (Random Forest + Extra Trees, 200 total estimators) calculates multi-class attack probability distribution.</a:t>
            </a:r>
            <a:br/>
            <a:r>
              <a:t>2. Unsupervised Isolation Forest computes path length decision score for out-of-distribution anomaly risk.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⚙️ Layer 4 — Automated Mitigation &amp; SOC Response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System maps classification and anomaly risk to actionable perimeter countermeasures: ALLOW, RATE-LIMIT/THROTTLE, BLACKLIST IP, REVOKE CREDENTIALS, or QUARANTINE HOST.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⚙️ Layer 5 — Transactional Audit &amp; Threat Analytics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All packet telemetry, inference verdicts, and latencies persist atomically to SQLite3 database (`nids.db`).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CYBERSHIELD AI / NETWORK 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NSL-KDD Benchmark Dataset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38BDF8"/>
                </a:solidFill>
              </a:defRPr>
            </a:pPr>
            <a:r>
              <a:t>📊 Dataset Provenance: </a:t>
            </a:r>
            <a:r>
              <a:rPr b="0">
                <a:solidFill>
                  <a:srgbClr val="F8FAFC"/>
                </a:solidFill>
              </a:rPr>
              <a:t>NSL-KDD Network Intrusion Benchmark (University of New Brunswick / DARPA). Resolves redundant records present in legacy KDD'99 to ensure unbiased evaluation.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📊 Dataset Volume: </a:t>
            </a:r>
            <a:r>
              <a:rPr b="0">
                <a:solidFill>
                  <a:srgbClr val="F8FAFC"/>
                </a:solidFill>
              </a:rPr>
              <a:t>22,544 full connection records. Partitioned into 18,035 training samples (80%) and 4,509 held-out testing samples (20%).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📊 Feature Groups: </a:t>
            </a:r>
            <a:r>
              <a:rPr b="0">
                <a:solidFill>
                  <a:srgbClr val="F8FAFC"/>
                </a:solidFill>
              </a:rPr>
              <a:t>• Basic Features: duration, protocol_type, service, flag, src_bytes, dst_bytes
• Content Features: hot, num_failed_logins, logged_in, num_compromised, root_shell, su_attempted
• Time-based Traffic Features: count, srv_count, serror_rate, rerror_rate, same_srv_rate
• Host-based Traffic Features: dst_host_count, dst_host_srv_count, dst_host_diff_srv_rate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📊 Dimensional Transformation: </a:t>
            </a:r>
            <a:r>
              <a:rPr b="0">
                <a:solidFill>
                  <a:srgbClr val="F8FAFC"/>
                </a:solidFill>
              </a:rPr>
              <a:t>One-hot expansion across protocol services (http, private, telnet, ftp, smtp, etc.) and connection flags yields an expanded 111-dimensional feature space.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CYBERSHIELD AI / NETWORK 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Ensemble Machine Learning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0B981"/>
                </a:solidFill>
              </a:defRPr>
            </a:pPr>
            <a:r>
              <a:t>🌳 Ensemble Strategy: Soft-Voting Hybrid: </a:t>
            </a:r>
            <a:r>
              <a:rPr b="0">
                <a:solidFill>
                  <a:srgbClr val="F8FAFC"/>
                </a:solidFill>
              </a:rPr>
              <a:t>Combines bootstrap-aggregated Random Forest with Extremely Randomized Trees (Extra Trees) to minimize both variance and feature correlation.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🌳 Random Forest Classifier (100 Trees): </a:t>
            </a:r>
            <a:r>
              <a:rPr b="0">
                <a:solidFill>
                  <a:srgbClr val="F8FAFC"/>
                </a:solidFill>
              </a:rPr>
              <a:t>Evaluates sub-sampled feature splits with Gini impurity. Achieves 98.34% test accuracy and 0.9833 weighted F1-score across 5 attack classes.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🌳 Extra Trees Classifier (100 Trees): </a:t>
            </a:r>
            <a:r>
              <a:rPr b="0">
                <a:solidFill>
                  <a:srgbClr val="F8FAFC"/>
                </a:solidFill>
              </a:rPr>
              <a:t>Randomizes split cutpoints for faster convergence and enhanced generalization on rare intrusion classes. Achieves 98.03% test accuracy and 0.9800 weighted F1-score.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🌳 Consensus &amp; Soft Probability Weighting: </a:t>
            </a:r>
            <a:r>
              <a:rPr b="0">
                <a:solidFill>
                  <a:srgbClr val="F8FAFC"/>
                </a:solidFill>
              </a:rPr>
              <a:t>Final multi-class probability is synthesized via: P(y=c|x) = 0.55 * P_RF(c|x) + 0.45 * P_ET(c|x). Provides calibrated confidence scoring for SOC operators.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CYBERSHIELD AI / NETWORK 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Unsupervised Anomaly Detection (Isolation Forest)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A855F7"/>
                </a:solidFill>
              </a:defRPr>
            </a:pPr>
            <a:r>
              <a:t>⚡ The Need for Unsupervised Detection: </a:t>
            </a:r>
            <a:r>
              <a:rPr b="0">
                <a:solidFill>
                  <a:srgbClr val="F8FAFC"/>
                </a:solidFill>
              </a:rPr>
              <a:t>Supervised models cannot classify attacks that have never been seen before. Zero-day exploits appear as novel clusters in high-dimensional feature space.</a:t>
            </a:r>
          </a:p>
          <a:p>
            <a:pPr>
              <a:defRPr b="1" sz="1400">
                <a:solidFill>
                  <a:srgbClr val="A855F7"/>
                </a:solidFill>
              </a:defRPr>
            </a:pPr>
            <a:r>
              <a:t>⚡ Isolation Forest Mechanism: </a:t>
            </a:r>
            <a:r>
              <a:rPr b="0">
                <a:solidFill>
                  <a:srgbClr val="F8FAFC"/>
                </a:solidFill>
              </a:rPr>
              <a:t>Isolates anomalies by recursively partitioning feature dimensions. Anomalous points require significantly fewer partitions (shorter path lengths) to isolate: s(x, n) = 2^(-E(h(x)) / c(n)).</a:t>
            </a:r>
          </a:p>
          <a:p>
            <a:pPr>
              <a:defRPr b="1" sz="1400">
                <a:solidFill>
                  <a:srgbClr val="A855F7"/>
                </a:solidFill>
              </a:defRPr>
            </a:pPr>
            <a:r>
              <a:t>⚡ Contamination Tuning: </a:t>
            </a:r>
            <a:r>
              <a:rPr b="0">
                <a:solidFill>
                  <a:srgbClr val="F8FAFC"/>
                </a:solidFill>
              </a:rPr>
              <a:t>Configured with contamination = 0.18 to match realistic perimeter intrusion proportions.</a:t>
            </a:r>
          </a:p>
          <a:p>
            <a:pPr>
              <a:defRPr b="1" sz="1400">
                <a:solidFill>
                  <a:srgbClr val="A855F7"/>
                </a:solidFill>
              </a:defRPr>
            </a:pPr>
            <a:r>
              <a:t>⚡ Dual Alert Threshold: </a:t>
            </a:r>
            <a:r>
              <a:rPr b="0">
                <a:solidFill>
                  <a:srgbClr val="F8FAFC"/>
                </a:solidFill>
              </a:rPr>
              <a:t>When supervised ensemble classifies a packet as 'Normal' but Isolation Forest yields an anomaly risk &gt; 55%, the system elevates threat status to 'SUSPICIOUS_ANOMALY' and routes packet to a secure sandbox.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APPLICATION DEMONSTRATION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SOC Operations Portal &amp; Real-Time Packet Inspector</a:t>
            </a:r>
          </a:p>
        </p:txBody>
      </p:sp>
      <p:pic>
        <p:nvPicPr>
          <p:cNvPr id="4" name="Picture 3" descr="01_soc_landing_insp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ATTACK MITIGATION SCENARIO 1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Denial-of-Service Interception: Neptune SYN Flood</a:t>
            </a:r>
          </a:p>
        </p:txBody>
      </p:sp>
      <p:pic>
        <p:nvPicPr>
          <p:cNvPr id="4" name="Picture 3" descr="02_neptune_syn_fl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ATTACK MITIGATION SCENARIO 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Perimeter Surveillance Interception: Port Sweep Reconnaissance</a:t>
            </a:r>
          </a:p>
        </p:txBody>
      </p:sp>
      <p:pic>
        <p:nvPicPr>
          <p:cNvPr id="4" name="Picture 3" descr="03_portsweep_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UNSUPERVISED ZERO-DAY SCENARIO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Zero-Day Exfiltration: Isolation Forest Anomaly Detection</a:t>
            </a:r>
          </a:p>
        </p:txBody>
      </p:sp>
      <p:pic>
        <p:nvPicPr>
          <p:cNvPr id="4" name="Picture 3" descr="04_zero_day_anoma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PERFORMANCE BENCHMARKS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Empirical Evaluation Benchmarks &amp; Attack Taxonomy</a:t>
            </a:r>
          </a:p>
        </p:txBody>
      </p:sp>
      <p:pic>
        <p:nvPicPr>
          <p:cNvPr id="4" name="Picture 3" descr="05_model_benchmarks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DATABASE &amp; INCIDENT AUDIT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Transactional Security Event Audit Log (SQLite Database)</a:t>
            </a:r>
          </a:p>
        </p:txBody>
      </p:sp>
      <p:pic>
        <p:nvPicPr>
          <p:cNvPr id="4" name="Picture 3" descr="06_security_event_log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ANALYTICS &amp; REPORTING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Threat Intelligence Analytics &amp; Incident Breakdown</a:t>
            </a:r>
          </a:p>
        </p:txBody>
      </p:sp>
      <p:pic>
        <p:nvPicPr>
          <p:cNvPr id="4" name="Picture 3" descr="07_threat_analytics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CYBERSHIELD AI / NETWORK SECURITY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Project Conclusion &amp; Engineering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38BDF8"/>
                </a:solidFill>
              </a:defRPr>
            </a:pPr>
            <a:r>
              <a:t>🏆 Rigorous Empirical Performance: </a:t>
            </a:r>
            <a:r>
              <a:rPr b="0">
                <a:solidFill>
                  <a:srgbClr val="F8FAFC"/>
                </a:solidFill>
              </a:rPr>
              <a:t>Random Forest + Extra Trees ensemble achieved 98.34% test accuracy and 0.9833 weighted F1-score across 4,509 held-out NSL-KDD test packets with sub-60ms inference latency.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🏆 Hybrid Defense Coverage: </a:t>
            </a:r>
            <a:r>
              <a:rPr b="0">
                <a:solidFill>
                  <a:srgbClr val="F8FAFC"/>
                </a:solidFill>
              </a:rPr>
              <a:t>Coupled supervised multi-class attack attribution (DoS, Probe, R2L, U2R) with unsupervised Isolation Forest zero-day anomaly detection.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🏆 Complete End-to-End Delivery: </a:t>
            </a:r>
            <a:r>
              <a:rPr b="0">
                <a:solidFill>
                  <a:srgbClr val="F8FAFC"/>
                </a:solidFill>
              </a:rPr>
              <a:t>Delivered as a production-grade web application: asynchronous FastAPI REST service, transactional SQLite3 audit storage, and intuitive cybersecurity SOC dashboard.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🏆 Full QA &amp; Reproducibility: </a:t>
            </a:r>
            <a:r>
              <a:rPr b="0">
                <a:solidFill>
                  <a:srgbClr val="F8FAFC"/>
                </a:solidFill>
              </a:rPr>
              <a:t>Backed by 19 automated tests (100% passing), verified H.264 demonstration recording, comprehensive academic documentation, and clear deployment instructions.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