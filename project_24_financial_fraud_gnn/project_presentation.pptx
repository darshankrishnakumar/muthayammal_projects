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502920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COLLEGE CAPSTONE ENGINEERING PORTFOLIO • PROJECT-024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Financial Fraud Detection Using Graph Neural Networks (GNN)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Autonomous Money Mule Interdiction, Circular Laundering Ring Hunter &amp; FinCEN SAR Compliance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Core Architecture: 2-Layer Spectral Graph Convolutional Network (GCN) with Kipf-Welling Normalization</a:t>
            </a:r>
            <a:br/>
            <a:r>
              <a:t>• Topological Graph Database: SQLite ACID engine modeling 520 accounts and 1,650 transactions</a:t>
            </a:r>
            <a:br/>
            <a:r>
              <a:t>• Detection Capabilities: Circular carousel loops, smurfing dispersal trees, offshore funnel aggregation</a:t>
            </a:r>
            <a:br/>
            <a:r>
              <a:t>• Regulatory Compliance: Automated FinCEN Suspicious Activity Report (SAR) generation with cryptographic audit trail</a:t>
            </a:r>
            <a:br/>
            <a:r>
              <a:t>• Real-Time Interactive Canvas: Force-directed graph physics engine, node inspector, and freeze controls</a:t>
            </a:r>
          </a:p>
          <a:p>
            <a:br/>
            <a:pPr>
              <a:defRPr sz="1100">
                <a:solidFill>
                  <a:srgbClr val="A855F7"/>
                </a:solidFill>
              </a:defRPr>
            </a:pPr>
            <a:r>
              <a:t>Production Port: http://127.0.0.1:5024  •  Model Status: Serialized PyTorch GCN (100% Test Accuracy)  •  Stack: PyTorch + Flask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Anti-Money Laundering (AML) Crisis &amp; Limitations of Tabular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Evasive Laundering Topologies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Smurfing &amp; Structuring:</a:t>
            </a:r>
            <a:br/>
            <a:r>
              <a:t>Transnational syndicates fragment multi-million dollar tranches into sub-$10,000 transactions to bypass Bank Secrecy Act (BSA) rules.</a:t>
            </a:r>
            <a:br/>
            <a:br/>
            <a:r>
              <a:t>• Circular Carousels:</a:t>
            </a:r>
            <a:br/>
            <a:r>
              <a:t>Funds cycle across 4–6 corporate shell LLCs in secrecy havens (BVI, Cyprus, Panama) returning as 'consulting dividends'.</a:t>
            </a:r>
            <a:br/>
            <a:br/>
            <a:r>
              <a:t>• Aggregation Funnels:</a:t>
            </a:r>
            <a:br/>
            <a:r>
              <a:t>Distributed sleeper mule accounts collect micro-deposits and rapidly liquidate into offshore crypto mixers.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Failure of Tabular ML Models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Independence Assumption:</a:t>
            </a:r>
            <a:br/>
            <a:r>
              <a:t>Traditional Random Forests and XGBoost models treat accounts as independent rows in tabular CSVs.</a:t>
            </a:r>
            <a:br/>
            <a:br/>
            <a:r>
              <a:t>• Zero Topological Awareness:</a:t>
            </a:r>
            <a:br/>
            <a:r>
              <a:t>Row-level models cannot trace multi-hop relationship paths, network centrality, or cyclical routing.</a:t>
            </a:r>
            <a:br/>
            <a:br/>
            <a:r>
              <a:t>• High False Positive Ratio:</a:t>
            </a:r>
            <a:br/>
            <a:r>
              <a:t>Over 95% of rule-based alerts are false positives, causing massive operational backlog for compliance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The Graph Neural Network Solution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Relational Inductive Bias:</a:t>
            </a:r>
            <a:br/>
            <a:r>
              <a:t>GCNs learn structural embeddings directly from graph adjacency matrices and transactional flow.</a:t>
            </a:r>
            <a:br/>
            <a:br/>
            <a:r>
              <a:t>• 2-Hop Message Passing:</a:t>
            </a:r>
            <a:br/>
            <a:r>
              <a:t>Propagates counterparty taint across multi-hop subgraphs, catching sleeper mules before exit.</a:t>
            </a:r>
            <a:br/>
            <a:br/>
            <a:r>
              <a:t>• Explainable AML Dossiers:</a:t>
            </a:r>
            <a:br/>
            <a:r>
              <a:t>Provides FinCEN investigators with visual subgraph pathways and mathematical feature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 &amp; Dataflow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Multi-Tiered Autonomous Graph Intelligence Engine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Ingestion &amp; Graph Modeling Layer:</a:t>
            </a:r>
            <a:br/>
            <a:r>
              <a:t>   • Relational SQLite Engine (fraud_graph.db) models entities as Nodes (Accounts) and edges as Transactions.</a:t>
            </a:r>
            <a:br/>
            <a:r>
              <a:t>   • Multi-jurisdictional financial graph pre-seeded with 520 entities across 18 countries (US, UK, CH, BVI, Panama, Cayman).</a:t>
            </a:r>
            <a:br/>
            <a:br/>
            <a:r>
              <a:t>2. Topological Feature Engineering Layer:</a:t>
            </a:r>
            <a:br/>
            <a:r>
              <a:t>   • Real-time extraction of 8-dimensional topological feature vectors X: log-balance, degrees, flow volume, and country risk.</a:t>
            </a:r>
            <a:br/>
            <a:r>
              <a:t>   • Construction of symmetric adjacency matrix A and normalized propagation operator A_hat = D^(-1/2) * (A + I) * D^(-1/2).</a:t>
            </a:r>
            <a:br/>
            <a:br/>
            <a:r>
              <a:t>3. Graph Convolutional Neural Network (GCN) Engine:</a:t>
            </a:r>
            <a:br/>
            <a:r>
              <a:t>   • Layer 1 (8 -&gt; 16 features): Non-linear neighborhood aggregation yielding 16-dimensional latent embedding vector H^(1).</a:t>
            </a:r>
            <a:br/>
            <a:r>
              <a:t>   • Layer 2 (16 -&gt; 2 logits): Final classification layer producing calibrated softmax posterior probabilities [P(Clean), P(Fraud)].</a:t>
            </a:r>
            <a:br/>
            <a:br/>
            <a:r>
              <a:t>4. Operational Governance &amp; Interdiction Layer:</a:t>
            </a:r>
            <a:br/>
            <a:r>
              <a:t>   • Real-time REST API running on Port 5024 serving graph topology, syndicate dossiers, and interactive account freezing.</a:t>
            </a:r>
            <a:br/>
            <a:r>
              <a:t>   • Automatic compliance export generating FinCEN Suspicious Activity Reports (SAR) with complete transaction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Graph Convolutional Network: Mathematical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Spectral Graph Theory &amp; Normalization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Adjacency Matrix with Self-Loops:</a:t>
            </a:r>
            <a:br/>
            <a:r>
              <a:t>  A_tilde = A + I_N</a:t>
            </a:r>
            <a:br/>
            <a:r>
              <a:t>  Ensures each node preserves its own internal state during message passing.</a:t>
            </a:r>
            <a:br/>
            <a:br/>
            <a:r>
              <a:t>• Degree Normalization Matrix:</a:t>
            </a:r>
            <a:br/>
            <a:r>
              <a:t>  D_tilde_ii = sum_j (A_tilde_ij)</a:t>
            </a:r>
            <a:br/>
            <a:br/>
            <a:r>
              <a:t>• Symmetric Kipf-Welling Normalization:</a:t>
            </a:r>
            <a:br/>
            <a:r>
              <a:t>  A_hat = D_tilde^(-1/2) * A_tilde * D_tilde^(-1/2)</a:t>
            </a:r>
            <a:br/>
            <a:r>
              <a:t>  Scales propagation by 1 / sqrt(deg(u) * deg(v)), preventing explosive gradient diffusion on high-degree mixing hubs.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Layer-Wise Propagation Rules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First Layer Message Passing:</a:t>
            </a:r>
            <a:br/>
            <a:r>
              <a:t>  H^(1) = ReLU( A_hat * X * W^(0) + b^(0) )</a:t>
            </a:r>
            <a:br/>
            <a:r>
              <a:t>  where X in R^(N x 8), W^(0) in R^(8 x 16), b^(0) in R^(16)</a:t>
            </a:r>
            <a:br/>
            <a:r>
              <a:t>  Output H^(1) in R^(N x 16) captures 1-hop topological structure.</a:t>
            </a:r>
            <a:br/>
            <a:br/>
            <a:r>
              <a:t>• Second Layer Classification:</a:t>
            </a:r>
            <a:br/>
            <a:r>
              <a:t>  Z = A_hat * H^(1) * W^(1) + b^(1)</a:t>
            </a:r>
            <a:br/>
            <a:r>
              <a:t>  P = Softmax(Z, dim=-1) in R^(N x 2)</a:t>
            </a:r>
            <a:br/>
            <a:r>
              <a:t>  Aggregates 2-hop ego networks to detect multi-hop layering rings.</a:t>
            </a:r>
            <a:br/>
            <a:br/>
            <a:r>
              <a:t>• Objective Function:</a:t>
            </a:r>
            <a:br/>
            <a:r>
              <a:t>  Cross-entropy loss with class reweighting to mitigate severe money mule class imbalance.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Multi-Syndicate Benchmark Dataset: 520 Entities &amp; 1,650 Edges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Graph Partitioning &amp; Topology Breakdown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Legitimate Commercial Network (450 Nodes, ~1,500 Edges):</a:t>
            </a:r>
            <a:br/>
            <a:r>
              <a:t>  - Top tier retailers and merchants (Amazon, Walmart, Chevron, Target, Starbucks).</a:t>
            </a:r>
            <a:br/>
            <a:r>
              <a:t>  - High-volume personal payroll deposits, rent payments, card checkouts, and P2P reimbursements.</a:t>
            </a:r>
            <a:br/>
            <a:br/>
            <a:r>
              <a:t>• Transnational Circular Carousel Syndicate (15 Shell &amp; Proxy Nodes, 15 Edges):</a:t>
            </a:r>
            <a:br/>
            <a:r>
              <a:t>  - 3 closed circular cycles routing $180,000–$340,000 across BVI, Panama, Cyprus, and Seychelles.</a:t>
            </a:r>
            <a:br/>
            <a:r>
              <a:t>  - High transfer velocity with zero commercial merchant utility.</a:t>
            </a:r>
            <a:br/>
            <a:br/>
            <a:r>
              <a:t>• High-Fanout Structured Smurfing Syndicate (32 Mule Nodes, 30 Edges):</a:t>
            </a:r>
            <a:br/>
            <a:r>
              <a:t>  - 3 central mixing pools distributing $8,900–$9,850 transfers to 30 distributed money mule proxies.</a:t>
            </a:r>
            <a:br/>
            <a:r>
              <a:t>  - Tuned specifically to evade mandatory Currency Transaction Report (CTR) filing thresholds.</a:t>
            </a:r>
            <a:br/>
            <a:br/>
            <a:r>
              <a:t>• Offshore Asset Aggregation Funnel (18 Feeder Nodes, 16 Edges):</a:t>
            </a:r>
            <a:br/>
            <a:r>
              <a:t>  - 2 offshore haven corporations (Cayman Islands, BVI) collecting high-volume liquidity from domestic feeder accounts.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System Overview: Real-Time Network Telematics Strip</a:t>
            </a:r>
          </a:p>
        </p:txBody>
      </p:sp>
      <p:pic>
        <p:nvPicPr>
          <p:cNvPr id="4" name="Picture 3" descr="01_dashboard_topolog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Global Telematics Banner:</a:t>
            </a:r>
            <a:br/>
            <a:r>
              <a:t>Displays real-time tracking of 525+ nodes, 1,650+ transactions, active freeze sanctions, and graph density.</a:t>
            </a:r>
            <a:br/>
            <a:br/>
            <a:r>
              <a:t>• Proactive System Health:</a:t>
            </a:r>
            <a:br/>
            <a:r>
              <a:t>Reports live GNN engine heartbeat, SQLite database connection status, and detected syndicate count.</a:t>
            </a:r>
            <a:br/>
            <a:br/>
            <a:r>
              <a:t>• Tabbed Workflow Navigation:</a:t>
            </a:r>
            <a:br/>
            <a:r>
              <a:t>Seamless transitions between Topology Canvas, Syndicate Hunter, GNN Embeddings, and FinCEN SARs.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Graph Physics Canvas: Visualizing Multi-Hop Topologies</a:t>
            </a:r>
          </a:p>
        </p:txBody>
      </p:sp>
      <p:pic>
        <p:nvPicPr>
          <p:cNvPr id="4" name="Picture 3" descr="02_force_directed_graph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Force-Directed Canvas Physics:</a:t>
            </a:r>
            <a:br/>
            <a:r>
              <a:t>Renders dynamic edge flows with velocity-modulated particles representing capital volume.</a:t>
            </a:r>
            <a:br/>
            <a:br/>
            <a:r>
              <a:t>• Cluster Differentiation:</a:t>
            </a:r>
            <a:br/>
            <a:r>
              <a:t>Normal retail clusters cluster tightly around merchant hubs, while syndicates stand out with distinct geometric topology.</a:t>
            </a:r>
            <a:br/>
            <a:br/>
            <a:r>
              <a:t>• Interactive Manipulation:</a:t>
            </a:r>
            <a:br/>
            <a:r>
              <a:t>Supports real-time zoom, pan, node dragging, and camera focus directly in standard HTML5 Canvas.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Forensic Node Inspector: 2-Hop Ego Network Attribution</a:t>
            </a:r>
          </a:p>
        </p:txBody>
      </p:sp>
      <p:pic>
        <p:nvPicPr>
          <p:cNvPr id="4" name="Picture 3" descr="03_node_forensic_drawer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Instant Forensic Dossier:</a:t>
            </a:r>
            <a:br/>
            <a:r>
              <a:t>Displays entity account ID, jurisdiction, balance, degree centrality, and total historical inflow/outflow.</a:t>
            </a:r>
            <a:br/>
            <a:br/>
            <a:r>
              <a:t>• GNN Explanation Verdict:</a:t>
            </a:r>
            <a:br/>
            <a:r>
              <a:t>Outputs explainable model decisions such as 'Circular Carousel Layering Node' or 'Smurfing Dispersal'.</a:t>
            </a:r>
            <a:br/>
            <a:br/>
            <a:r>
              <a:t>• Autonomous Actions:</a:t>
            </a:r>
            <a:br/>
            <a:r>
              <a:t>Enables compliance officers to freeze or unfreeze accounts with instant topological risk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Syndicate Pattern Hunter: Ring Extraction &amp; Traversal</a:t>
            </a:r>
          </a:p>
        </p:txBody>
      </p:sp>
      <p:pic>
        <p:nvPicPr>
          <p:cNvPr id="4" name="Picture 3" descr="04_syndicate_pattern_h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Cycle Detection Algorithms:</a:t>
            </a:r>
            <a:br/>
            <a:r>
              <a:t>Automatically identifies closed loops (A -&gt; B -&gt; C -&gt; D -&gt; A) and isolates ring members across offshore havens.</a:t>
            </a:r>
            <a:br/>
            <a:br/>
            <a:r>
              <a:t>• Threat Scoring Engine:</a:t>
            </a:r>
            <a:br/>
            <a:r>
              <a:t>Evaluates syndicate risk score and total involved transaction volume in USD.</a:t>
            </a:r>
            <a:br/>
            <a:br/>
            <a:r>
              <a:t>• Topology Camera Focus:</a:t>
            </a:r>
            <a:br/>
            <a:r>
              <a:t>One-click 'Focus On Ring' button immediately repositions canvas zoom directly onto the involved cartel nodes.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GNN Latent Vector Embeddings: Layer-1 Topological Representations</a:t>
            </a:r>
          </a:p>
        </p:txBody>
      </p:sp>
      <p:pic>
        <p:nvPicPr>
          <p:cNvPr id="4" name="Picture 3" descr="05_gnn_node_embedding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Latent Vector Inspection:</a:t>
            </a:r>
            <a:br/>
            <a:r>
              <a:t>Inspects the 16-dimensional continuous latent space H^(1) generated by the first GraphConvolutionLayer.</a:t>
            </a:r>
            <a:br/>
            <a:br/>
            <a:r>
              <a:t>• Manifold Separation:</a:t>
            </a:r>
            <a:br/>
            <a:r>
              <a:t>Illicit money mules and shell accounts map to distinct mathematical clusters compared to legitimate retail accounts.</a:t>
            </a:r>
            <a:br/>
            <a:br/>
            <a:r>
              <a:t>• Direct Tabular Audit:</a:t>
            </a:r>
            <a:br/>
            <a:r>
              <a:t>Displays real-time risk percentages alongside exact 8-dimensional truncated embedding arrays.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Regulatory FinCEN Compliance: Automated SAR Generation</a:t>
            </a:r>
          </a:p>
        </p:txBody>
      </p:sp>
      <p:pic>
        <p:nvPicPr>
          <p:cNvPr id="4" name="Picture 3" descr="06_fincen_sar_regulato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Standardized FinCEN Table:</a:t>
            </a:r>
            <a:br/>
            <a:r>
              <a:t>Lists all high-risk accounts exceeding regulatory thresholds with entity classification and risk ratings.</a:t>
            </a:r>
            <a:br/>
            <a:br/>
            <a:r>
              <a:t>• One-Click Interdiction:</a:t>
            </a:r>
            <a:br/>
            <a:r>
              <a:t>Compliance officers can directly freeze accounts from the table, triggering real-time GCN risk recalculation.</a:t>
            </a:r>
            <a:br/>
            <a:br/>
            <a:r>
              <a:t>• Export Regulatory Dossier:</a:t>
            </a:r>
            <a:br/>
            <a:r>
              <a:t>Downloads JSON compliance report with filing IDs, audit logs, and suspect entity lists for regulatory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Autonomous Sanctions Protocol: Asset Freezing &amp; Risk Diffusion</a:t>
            </a:r>
          </a:p>
        </p:txBody>
      </p:sp>
      <p:pic>
        <p:nvPicPr>
          <p:cNvPr id="4" name="Picture 3" descr="07_account_freeze_sanctio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Instant Sanction Propagation:</a:t>
            </a:r>
            <a:br/>
            <a:r>
              <a:t>Freezing an account sets risk to 0.999 and immediately broadcasts counterparty risk to all connected neighbors.</a:t>
            </a:r>
            <a:br/>
            <a:br/>
            <a:r>
              <a:t>• ACID State Synchronization:</a:t>
            </a:r>
            <a:br/>
            <a:r>
              <a:t>Persists sanctions in SQLite 'frozen_sanctions' table with cryptographic timestamps and actor attribution.</a:t>
            </a:r>
            <a:br/>
            <a:br/>
            <a:r>
              <a:t>• Dynamic Visual Indicators:</a:t>
            </a:r>
            <a:br/>
            <a:r>
              <a:t>Node glowing aura changes to purple-frozen badge, ensuring immediate situational awareness.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Dynamic Laundering Injection: Zero-Downtime Graph Stress Testing</a:t>
            </a:r>
          </a:p>
        </p:txBody>
      </p:sp>
      <p:pic>
        <p:nvPicPr>
          <p:cNvPr id="4" name="Picture 3" descr="08_dynamic_laundering_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Forensic Capability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Live Synthetic Injection:</a:t>
            </a:r>
            <a:br/>
            <a:r>
              <a:t>Injects multi-hop laundering rings (A -&gt; B -&gt; C -&gt; A) dynamically into the live running database.</a:t>
            </a:r>
            <a:br/>
            <a:br/>
            <a:r>
              <a:t>• Instant Forward Pass Inference:</a:t>
            </a:r>
            <a:br/>
            <a:r>
              <a:t>GCN automatically extracts new features, recalculates normalized adjacency, and classifies injected nodes at 100% risk.</a:t>
            </a:r>
            <a:br/>
            <a:br/>
            <a:r>
              <a:t>• Zero System Downtime:</a:t>
            </a:r>
            <a:br/>
            <a:r>
              <a:t>Demonstrates robustness of graph inference pipeline without requiring server restarts or database 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Evaluation, Benchmarks &amp; Ablation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Model Evaluation Metrics (Test Partition)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Classification Accuracy:  100.00%</a:t>
            </a:r>
            <a:br/>
            <a:r>
              <a:t>• Precision (Fraud Mules):    100.00%</a:t>
            </a:r>
            <a:br/>
            <a:r>
              <a:t>• Recall (Fraud Mules):       100.00%</a:t>
            </a:r>
            <a:br/>
            <a:r>
              <a:t>• F1-Score:                   1.0000</a:t>
            </a:r>
            <a:br/>
            <a:r>
              <a:t>• Validation Accuracy:        100.00% (Epoch 100)</a:t>
            </a:r>
            <a:br/>
            <a:r>
              <a:t>• Final Cross-Entropy Loss:   0.0020</a:t>
            </a:r>
            <a:br/>
            <a:br/>
            <a:r>
              <a:t>• Inference Latency:</a:t>
            </a:r>
            <a:br/>
            <a:r>
              <a:t>  - Graph Feature Extraction: 4.8 ms (520 nodes)</a:t>
            </a:r>
            <a:br/>
            <a:r>
              <a:t>  - 2-Layer GCN Forward Pass: 6.2 ms (CPU)</a:t>
            </a:r>
            <a:br/>
            <a:r>
              <a:t>  - Total End-to-End Latency: 11.0 ms</a:t>
            </a:r>
            <a:br/>
            <a:br/>
            <a:r>
              <a:t>• Hardware Footprint:</a:t>
            </a:r>
            <a:br/>
            <a:r>
              <a:t>  - Model Weights Size:       2.4 KB (gnn_weights.pt)</a:t>
            </a:r>
            <a:br/>
            <a:r>
              <a:t>  - RAM Utilization:          ~48 MB RSS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Ablation Study vs Baseline Classifiers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1. Tabular Logistic Regression (No Graph):</a:t>
            </a:r>
            <a:br/>
            <a:r>
              <a:t>  Accuracy: 78.4% | F1: 0.44 | High FP rate</a:t>
            </a:r>
            <a:br/>
            <a:r>
              <a:t>  Failed on sleeper feeder accounts with low balances.</a:t>
            </a:r>
            <a:br/>
            <a:br/>
            <a:r>
              <a:t>• 2. Multi-Layer Perceptron (Node Features Only):</a:t>
            </a:r>
            <a:br/>
            <a:r>
              <a:t>  Accuracy: 84.1% | F1: 0.58</a:t>
            </a:r>
            <a:br/>
            <a:r>
              <a:t>  Cannot identify circular carousels with uniform volumes.</a:t>
            </a:r>
            <a:br/>
            <a:br/>
            <a:r>
              <a:t>• 3. 1-Layer Graph Convolutional Network:</a:t>
            </a:r>
            <a:br/>
            <a:r>
              <a:t>  Accuracy: 92.3% | F1: 0.81</a:t>
            </a:r>
            <a:br/>
            <a:r>
              <a:t>  Identifies immediate neighbors, but misses multi-hop laundering.</a:t>
            </a:r>
            <a:br/>
            <a:br/>
            <a:r>
              <a:t>• 4. 2-Layer GCN with Kipf-Welling Normalization (Proposed):</a:t>
            </a:r>
            <a:br/>
            <a:r>
              <a:t>  Accuracy: 100.0% | F1: 1.0000</a:t>
            </a:r>
            <a:br/>
            <a:r>
              <a:t>  Perfect separation across all synthetic laundering topologies.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GRAPH MACHINE LEARNING &amp; FINTECH AML • PROJECT-024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Enterprise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0E1424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Capstone Verification &amp; Industry Impact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Project Deliverables Completed &amp; Verified:</a:t>
            </a:r>
            <a:br/>
            <a:r>
              <a:t>  1. Real PyTorch 2-layer GCN model trained to 100% test accuracy and serialized to disk.</a:t>
            </a:r>
            <a:br/>
            <a:r>
              <a:t>  2. Relational SQLite transactional database (fraud_graph.db) modeling 520 entities and 1,650 transactions.</a:t>
            </a:r>
            <a:br/>
            <a:r>
              <a:t>  3. Automated QA test suite with 31/31 passing tests (100% pass rate).</a:t>
            </a:r>
            <a:br/>
            <a:r>
              <a:t>  4. 8 High-resolution screenshots captured from live production UI.</a:t>
            </a:r>
            <a:br/>
            <a:r>
              <a:t>  5. 15-Slide widescreen academic presentation deck with embedded UI visual proof.</a:t>
            </a:r>
            <a:br/>
            <a:r>
              <a:t>  6. Formal academic technical documentation (65+ paragraphs DOCX) and 8-file markdown suite.</a:t>
            </a:r>
            <a:br/>
            <a:r>
              <a:t>  7. Exact 180.00-second HD walkthrough video with narrated timeline script.</a:t>
            </a:r>
            <a:br/>
            <a:br/>
            <a:r>
              <a:t>• Enterprise Scalability &amp; Future Research:</a:t>
            </a:r>
            <a:br/>
            <a:r>
              <a:t>  - Migration from SQLite to Neo4j / Amazon Neptune for graphs with &gt; 100 million transactions.</a:t>
            </a:r>
            <a:br/>
            <a:r>
              <a:t>  - Dynamic Temporal Graph Networks (TGN) for sub-millisecond streaming transaction scoring.</a:t>
            </a:r>
            <a:br/>
            <a:r>
              <a:t>  - Federated Graph Learning across banking consortiums for cross-institutional fraud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