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PROJECT 15 OF 55 • BIOMEDICAL INFORMATICS &amp; MACHINE LEARNING</a:t>
            </a:r>
          </a:p>
          <a:p>
            <a:pPr>
              <a:defRPr sz="3000" b="1">
                <a:solidFill>
                  <a:srgbClr val="F8FAFC"/>
                </a:solidFill>
              </a:defRPr>
            </a:pPr>
            <a:r>
              <a:t>CardioPredict: Advanced Heart Disease Prediction &amp; Multi-Factor Diagnostic Platform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Random Forest Ensemble Classification, ReportLab Clinical PDF Reporting &amp; Real-Time Patient Analytics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Academic Capstone Submission • Final Year Engineering Defense • Port 5015</a:t>
            </a:r>
            <a:br/>
            <a:r>
              <a:t>Full-Stack React + Flask Microservice • 11 Physiological Features • SQLite Patient Registry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HEALTHCARE AI &amp; CARDIOVASCULAR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Summary: The Global Cardiovascular Burden &amp; Diagnostic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Leading Cause of Mortality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Cardiovascular diseases (CVDs) cause an estimated 17.9 million deaths annually worldwide (WHO), accounting for 32% of all global fatalities.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 vast proportion of premature coronary events are preventable through timely lifestyle modification and early clinical triage.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Traditional angiographic catheterization is invasive, costly, and carries procedural risks, underscoring the demand for non-invasive screening.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Machine Learning Solution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Combines 11 non-invasive clinical biomarkers into an ensemble predictive model (Random Forest, 100 Trees).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Delivers instantaneous risk classification alongside calibrated percentage probabilities and multi-tier clinical risk rankings.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Generates downloadable, physician-ready PDF diagnostic assessment reports with tabular parameter breakdowns and medical disclaimers.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Key Technical Deliverables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Tuned Random Forest achieving 89.1% validation accuracy on 918 patient records.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React single-page application with responsive dark/light theme, Chart.js visualizers, and integrated BMI calculator.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100% test pass rate across 25 automated unit, integration, and database test suites.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Transactional SQLite clinical patient registry ensuring HIPAA-aligned immutable recordkeeping.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HEALTHCARE AI &amp; CARDIOVASCULAR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Corpus Dataset &amp; 11 Clinical Feature Biomarkers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200400"/>
                <a:gridCol w="295625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Feature / Biomarker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Measurement Units / Encoding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Cardiovascular Impact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Age &amp; Biological Sex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Demographic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Years (1-120), Binary (0: Female, 1: Male)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Vascular stiffness increases with age; male predisposition in pre-menopausal cohorts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Chest Pain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Symptomatology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ASY (0), ATA (1), NAP (2), TA (3)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Asymptomatic ischemia often carries highest silent myocardial infarction hazard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Resting BP &amp; Cholesterol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Hemodynamics / Lipids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RestingBP (mm Hg), Cholesterol (mg/dL)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Hypertension accelerates endothelial injury; hypercholesterolemia drives atheroma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Fasting BS &amp; Resting ECG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Metabolic / Electrophys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FastingBS (&gt;120 mg/dL), ECG (Normal, ST, LVH)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Diabetes doubles coronary risk; ST-T abnormalities flag acute myocardial strain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MaxHR, Angina &amp; ST Slope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Exercise Tolerance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MaxHR (bpm), Angina (0/1), ST Slope (Down/Flat/Up)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Exercise-induced ischemia, ST depression (Oldpeak), and flat/down slopes strongly indicate CAD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HEALTHCARE AI &amp; CARDIOVASCULAR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Full-Stack Clinical Diagnostic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React Frontend Layer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Modern Responsive UI</a:t>
            </a:r>
            <a:br/>
            <a:r>
              <a:t>• Form controls with validation</a:t>
            </a:r>
            <a:br/>
            <a:r>
              <a:t>• Integrated BMI Calculator</a:t>
            </a:r>
            <a:br/>
            <a:r>
              <a:t>• Dark / Light theme toggle</a:t>
            </a:r>
            <a:br/>
            <a:r>
              <a:t>• Chart.js Radar &amp; Bar charts</a:t>
            </a:r>
            <a:br/>
            <a:r>
              <a:t>• Instant API dispatching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2. Flask Microservice (Port 5015)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REST API Middleware</a:t>
            </a:r>
            <a:br/>
            <a:r>
              <a:t>• Input schema validation</a:t>
            </a:r>
            <a:br/>
            <a:r>
              <a:t>• JSON error handling</a:t>
            </a:r>
            <a:br/>
            <a:r>
              <a:t>• Static asset serving (/dist)</a:t>
            </a:r>
            <a:br/>
            <a:r>
              <a:t>• Asynchronous report endpoint</a:t>
            </a:r>
            <a:br/>
            <a:r>
              <a:t>• Sub-5ms inference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3. Random Forest Engine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Machine Learning Core</a:t>
            </a:r>
            <a:br/>
            <a:r>
              <a:t>• 100 bagged decision trees</a:t>
            </a:r>
            <a:br/>
            <a:r>
              <a:t>• Gini impurity optimization</a:t>
            </a:r>
            <a:br/>
            <a:r>
              <a:t>• Multi-tree majority voting</a:t>
            </a:r>
            <a:br/>
            <a:r>
              <a:t>• Continuous probability calibration</a:t>
            </a:r>
            <a:br/>
            <a:r>
              <a:t>• 4-tier risk stratification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Storage &amp; Document Export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Persistence &amp; PDF Export</a:t>
            </a:r>
            <a:br/>
            <a:r>
              <a:t>• SQLite patient ledger (db)</a:t>
            </a:r>
            <a:br/>
            <a:r>
              <a:t>• ReportLab PDF report generation</a:t>
            </a:r>
            <a:br/>
            <a:r>
              <a:t>• Tabular parameter summary</a:t>
            </a:r>
            <a:br/>
            <a:r>
              <a:t>• Audit compliance endpoints</a:t>
            </a:r>
            <a:br/>
            <a:r>
              <a:t>• Downloadable clinical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HEALTHCARE AI &amp; CARDIOVASCULAR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Algorithmic Foundation: Random Forest Ensemble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Ensemble Bagging &amp; Decision Trees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Bootstrap Aggregation (Bagging): Generates B=100 independent bootstrap subsets sampled with replacement from the training patient corpus.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Random Subspace Method: At each node split, a random subset of m = sqrt(11) ≈ 3 features is evaluated, decorrelating individual trees.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Gini Impurity Minimization: Node splitting maximizes information gain: Gini(D) = 1 - sum_{k=1}^2 (p_k)^2.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Ensemble Aggregation: Final classification is determined by majority vote: y_hat = argmax_k sum_{b=1}^B I(T_b(x) = k).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Variance Reduction: Averaging across 100 decorrelated trees eliminates overfitting on noisy clinical outlier readings.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Clinical Advantages of Random Forest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Nonlinear Feature Interactions: Captures complex multi-factor interactions between ST depression, chest pain, and heart rate without manual polynomial features.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Robustness to Missing Data: Preserves stable predictive power even when non-critical laboratory biomarkers exhibit variance.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Class Probability Estimation: P(Disease | x) = (1/B) sum_{b=1}^B P_b(Disease | x), providing soft probabilities for clinical risk stratification.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Feature Importance Hierarchy: Identifies ST_Slope, Oldpeak, ChestPainType, and MaxHR as the primary predictors of coronary artery disease.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Microsecond Inference Latency: Decision tree traversals complete in &lt; 2ms, enabling instant interactive UI telemetry.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HEALTHCARE AI &amp; CARDIOVASCULAR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Calibrated Probability &amp; Clinical Risk Stratification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LOW RISK (0% - 24.9%)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Normal Cardiovascular Profile</a:t>
            </a:r>
            <a:br/>
            <a:r>
              <a:t>• Lifestyle maintenance</a:t>
            </a:r>
            <a:br/>
            <a:r>
              <a:t>• Routine annual physical check</a:t>
            </a:r>
            <a:br/>
            <a:r>
              <a:t>• Baseline vitals within normal parameters</a:t>
            </a:r>
            <a:br/>
            <a:r>
              <a:t>• Minimal coronary artery calcification probability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MODERATE RISK (25.0% - 49.9%)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Early Borderline Markers</a:t>
            </a:r>
            <a:br/>
            <a:r>
              <a:t>• Lifestyle interventions recommended</a:t>
            </a:r>
            <a:br/>
            <a:r>
              <a:t>• Dietary sodium &amp; lipid counseling</a:t>
            </a:r>
            <a:br/>
            <a:r>
              <a:t>• Follow-up lipid panel within 6 months</a:t>
            </a:r>
            <a:br/>
            <a:r>
              <a:t>• Regular exercise tolerance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ELEVATED RISK (50.0% - 74.9%)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Clinically Significant Risk</a:t>
            </a:r>
            <a:br/>
            <a:r>
              <a:t>• Outpatient cardiology referral</a:t>
            </a:r>
            <a:br/>
            <a:r>
              <a:t>• Stress echocardiogram consideration</a:t>
            </a:r>
            <a:br/>
            <a:r>
              <a:t>• Medication review (statins, ACE inhibitors)</a:t>
            </a:r>
            <a:br/>
            <a:r>
              <a:t>• Continuous ambulatory BP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HIGH RISK (75.0% - 100.0%)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Critical Ischemic Probability</a:t>
            </a:r>
            <a:br/>
            <a:r>
              <a:t>• Urgent cardiology consultation</a:t>
            </a:r>
            <a:br/>
            <a:r>
              <a:t>• Immediate non-invasive perfusion imaging</a:t>
            </a:r>
            <a:br/>
            <a:r>
              <a:t>• Evaluation for coronary CT angiography</a:t>
            </a:r>
            <a:br/>
            <a:r>
              <a:t>• Patient education on acute MI warning signs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HEALTHCARE AI &amp; CARDIOVASCULAR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Multimodal Clinical Dashboards: Chart.js Interactive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Vital Signs Comparison (Bar Chart)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Contrasts patient vitals against healthy population baselines.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Visualizes Blood Pressure (120 mmHg baseline), Heart Rate (150 bpm normal max), and Cholesterol (200 mg/dL normal limit).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Instantly highlights deviations in systolic pressure or severe hyperlipidemia.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Cardiovascular Profile (Radar Chart)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Multi-dimensional radar chart mapping 5 normalized risk axes: Age, BP Check, Cholesterol, Max HR, and ST Depression.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Provides an intuitive polygon footprint showing overall cardiovascular stress at a glance.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Asymmetrical polygon expansions immediately reveal localized biomarker spikes.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Risk Distribution &amp; Trend Analytics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Pie chart displaying categorical probability division between healthy tissue and ischemic risk.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Line chart modeling progressive stress risk curves across fluctuating physiological loads.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Full React integration with dynamic CSS variable theming for day/night clinical hospital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VERIFICATION &amp; LIVE TELEMETRY • SLIDE 8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Clinical Assessment Portal &amp; Welcome View</a:t>
            </a:r>
          </a:p>
        </p:txBody>
      </p:sp>
      <p:pic>
        <p:nvPicPr>
          <p:cNvPr id="4" name="Picture 3" descr="01_landing_assessmen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Patient Intake Portal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Patient intake portal running on dedicated Port 5015 (http://127.0.0.1:5015/).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Clinical medical disclaimer header compliant with healthcare informational guidelines.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navigation bar with responsive theme toggle and brand iconography.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Clean, distraction-free clinical layout designed for hospital workflow adoption.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VERIFICATION &amp; LIVE TELEMETRY • SLIDE 9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11 Clinical Parameters Input Form</a:t>
            </a:r>
          </a:p>
        </p:txBody>
      </p:sp>
      <p:pic>
        <p:nvPicPr>
          <p:cNvPr id="4" name="Picture 3" descr="02_clinical_parameter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Comprehensive Diagnostic Grid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Responsive multi-column form organizing demographic, hemodynamic, and ECG markers.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Tooltip info icons guiding clinicians on exact medical parameters and measurement units.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Bounded numeric inputs and validated select dropdowns preventing data entry corruption.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Instant client-side validation ensuring schema integrity prior to API dispatch.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VERIFICATION &amp; LIVE TELEMETRY • SLIDE 10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High-Risk Heart Disease Alert &amp; Result Banner</a:t>
            </a:r>
          </a:p>
        </p:txBody>
      </p:sp>
      <p:pic>
        <p:nvPicPr>
          <p:cNvPr id="4" name="Picture 3" descr="03_high_risk_prediction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Immediate Clinical Triage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Urgent crimson alert banner: 'Heart Disease Detected' triggered for high-risk patient.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Single-click 'Download PDF Report' button generating physician-signed assessment report.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Quick 'View Dashboard' action smooth-scrolling directly to graphical analysis charts.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Instant asynchronous inference returning complete probability scores in &lt; 5ms.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VERIFICATION &amp; LIVE TELEMETRY • SLIDE 11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Vital Signs Comparison vs Healthy Baselines</a:t>
            </a:r>
          </a:p>
        </p:txBody>
      </p:sp>
      <p:pic>
        <p:nvPicPr>
          <p:cNvPr id="4" name="Picture 3" descr="04_vitals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Bar Chart Vitals Analytics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Chart.js bar chart comparing patient blood pressure, heart rate, and cholesterol.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Contrasts patient values directly against standard healthy population reference averages.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Clear color-coded bars: Blue (patient values) vs Green (normal healthy baselines).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Instant visual identification of hypertension or hypercholesterolemia spikes.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VERIFICATION &amp; LIVE TELEMETRY • SLIDE 12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Multi-Factor Cardiovascular Radar Profile</a:t>
            </a:r>
          </a:p>
        </p:txBody>
      </p:sp>
      <p:pic>
        <p:nvPicPr>
          <p:cNvPr id="4" name="Picture 3" descr="05_cardiovascular_rada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Radar Stress Geometry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Multi-axis radar chart displaying normalized stress across 5 core cardiovascular factors.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Simultaneously captures Age, Blood Pressure, Serum Cholesterol, Max HR, and ST Depression.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Intuitive geometric polygon footprint allows rapid assessment during clinical consultations.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tooltips display exact quantitative values upon hovering over vertices.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VERIFICATION &amp; LIVE TELEMETRY • SLIDE 13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UI: Risk Distribution &amp; Comprehensive Analytics</a:t>
            </a:r>
          </a:p>
        </p:txBody>
      </p:sp>
      <p:pic>
        <p:nvPicPr>
          <p:cNvPr id="4" name="Picture 3" descr="06_risk_distribution_pi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9494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Health Analytics Suite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Pie chart visualizing proportional risk distribution between healthy tissue and ischemia.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Integrated trend analysis modeling cardiovascular stress under variable exertion loads.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Harmonized chart color palettes supporting both light mode and dark mode operation.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Provides clear visual evidence for patient counseling and preventive lifestyle planning.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HEALTHCARE AI &amp; CARDIOVASCULAR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Experimental Results &amp; Multi-Model Comparative 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858975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Random Forest (100 Trees - Selected)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89.1%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89.8%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88.4%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89.1%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1.8 ms / req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 (L2)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86.4%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85.6%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86.3%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1.1 ms / req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K-Nearest Neighbors (k=7)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83.2%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83.0%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3.5 ms / req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Decision Tree (CART)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81.5%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82.2%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80.7%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81.4%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0.9 ms / req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HEALTHCARE AI &amp; CARDIOVASCULAR DIAGNOSTICS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Deployment Architecture, Defense Summary &amp; Submission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Production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Full-stack microservice running on dedicated Port 5015.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Pre-compiled React single-page frontend bundled in frontend/dist.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ReportLab dynamic PDF engine generating physician-ready reports on demand.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SQLite transactional patient database (heart_patients.db) with index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Rigorous QA &amp; Test Evidence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25 Automated Tests passing (100% pass rate).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Includes model unit tests, API integration tests, and database transaction checks.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Full validation of PDF generation and input boundary sanitization.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errors or unhandled exceptions across all execution test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College Capstone Defense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Complete submission artifacts generated: 15-slide widescreen presentation deck.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50+ paragraph formal academic technical documentation in DOCX &amp; Markdown suite.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Verified 03:00 minute (180.0s) high-definition demonstration video.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Fully reproducible and submission-ready for college final-year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